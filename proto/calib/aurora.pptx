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0752"/>
          <c:y val="0.08197"/>
          <c:w val="0.98496"/>
          <c:h val="0.827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Документы</c:v>
                </c:pt>
              </c:strCache>
            </c:strRef>
          </c:tx>
          <c:spPr>
            <a:solidFill>
              <a:schemeClr val="accent1">
                <a:alpha val="45000"/>
              </a:schemeClr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chemeClr val="accent1">
                  <a:alpha val="35000"/>
                </a:schemeClr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0">
                    <a:solidFill>
                      <a:srgbClr val="FFFFFF">
                        <a:alpha val="70000"/>
                      </a:srgbClr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19</c:v>
                </c:pt>
                <c:pt idx="2">
                  <c:v>27</c:v>
                </c:pt>
                <c:pt idx="3">
                  <c:v>41</c:v>
                </c:pt>
                <c:pt idx="4">
                  <c:v>58</c:v>
                </c:pt>
                <c:pt idx="5">
                  <c:v>79</c:v>
                </c:pt>
                <c:pt idx="6">
                  <c:v>104</c:v>
                </c:pt>
                <c:pt idx="7">
                  <c:v>138</c:v>
                </c:pt>
                <c:pt idx="8">
                  <c:v>176</c:v>
                </c:pt>
              </c:numCache>
            </c:numRef>
          </c:val>
        </c:ser>
        <c:gapWidth val="60"/>
        <c:overlap val="-1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FFFFFF">
                <a:alpha val="30000"/>
              </a:srgbClr>
            </a:solidFill>
          </a:ln>
        </c:spPr>
        <c:txPr>
          <a:bodyPr/>
          <a:lstStyle/>
          <a:p>
            <a:pPr>
              <a:defRPr sz="1000" b="0">
                <a:solidFill>
                  <a:srgbClr val="FFFFFF">
                    <a:alpha val="70000"/>
                  </a:srgb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FFFFFF">
                    <a:alpha val="70000"/>
                  </a:srgb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FFFFFF">
              <a:alpha val="70000"/>
            </a:srgb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2222"/>
          <c:y val="0.02222"/>
          <c:w val="0.95556"/>
          <c:h val="0.95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Доли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19E3D6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rgbClr val="FFFFFF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rgbClr val="14B8C4"/>
              </a:solidFill>
              <a:ln w="1905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rgbClr val="8A4DFF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Разработка</c:v>
                </c:pt>
                <c:pt idx="1">
                  <c:v>Продажи</c:v>
                </c:pt>
                <c:pt idx="2">
                  <c:v>Инфраструктура</c:v>
                </c:pt>
                <c:pt idx="3">
                  <c:v>Резерв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2032000" y="-3810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5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-3302000" y="508000"/>
            <a:ext cx="9652000" cy="10414000"/>
          </a:xfrm>
          <a:prstGeom prst="ellipse">
            <a:avLst/>
          </a:prstGeom>
          <a:gradFill rotWithShape="1">
            <a:gsLst>
              <a:gs pos="0">
                <a:srgbClr val="19C9E0">
                  <a:alpha val="55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4572000" y="3810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5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7112000" y="-508000"/>
            <a:ext cx="6604000" cy="7874000"/>
          </a:xfrm>
          <a:prstGeom prst="ellipse">
            <a:avLst/>
          </a:prstGeom>
          <a:gradFill rotWithShape="1">
            <a:gsLst>
              <a:gs pos="0">
                <a:srgbClr val="8A4DFF">
                  <a:alpha val="8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cover-kicker"/>
          <p:cNvSpPr txBox="1"/>
          <p:nvPr/>
        </p:nvSpPr>
        <p:spPr>
          <a:xfrm>
            <a:off x="889000" y="1066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spc="200" cap="all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rPr>
              <a:t>Pre-Series A · Москва, 2026</a:t>
            </a:r>
            <a:endParaRPr lang="ru-RU" sz="1100" spc="200" cap="all" dirty="0">
              <a:solidFill>
                <a:srgbClr val="FFFFFF">
                  <a:alpha val="75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7" name="cover-title"/>
          <p:cNvSpPr txBox="1"/>
          <p:nvPr/>
        </p:nvSpPr>
        <p:spPr>
          <a:xfrm>
            <a:off x="812800" y="1320800"/>
            <a:ext cx="787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600" dirty="0">
                <a:solidFill>
                  <a:srgbClr val="FFFFFF"/>
                </a:solidFill>
                <a:latin typeface="+mj-lt"/>
                <a:cs typeface="+mj-lt"/>
              </a:rPr>
              <a:t>Нейрон</a:t>
            </a:r>
            <a:endParaRPr lang="ru-RU" sz="96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8" name="cover-sub"/>
          <p:cNvSpPr txBox="1"/>
          <p:nvPr/>
        </p:nvSpPr>
        <p:spPr>
          <a:xfrm>
            <a:off x="5969000" y="4826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ru-RU" sz="2000" dirty="0">
                <a:solidFill>
                  <a:srgbClr val="FFFFFF"/>
                </a:solidFill>
                <a:latin typeface="+mn-lt"/>
                <a:cs typeface="+mn-lt"/>
              </a:rPr>
              <a:t>ИИ проверяет документы для банков</a:t>
            </a:r>
            <a:br>
              <a:rPr lang="ru-RU" sz="2000" dirty="0">
                <a:solidFill>
                  <a:srgbClr val="FFFFFF"/>
                </a:solidFill>
                <a:latin typeface="+mn-lt"/>
                <a:cs typeface="+mn-lt"/>
              </a:rPr>
            </a:br>
            <a:r>
              <a:rPr lang="ru-RU" sz="2000" dirty="0">
                <a:solidFill>
                  <a:srgbClr val="FFFFFF"/>
                </a:solidFill>
                <a:latin typeface="+mn-lt"/>
                <a:cs typeface="+mn-lt"/>
              </a:rPr>
              <a:t>за 90 секунд вместо 40 минут</a:t>
            </a:r>
            <a:endParaRPr lang="ru-RU" sz="2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cxnSp>
        <p:nvCxnSpPr>
          <p:cNvPr id="9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10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11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01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9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3302000" y="-3302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0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-1524000" y="1778000"/>
            <a:ext cx="9652000" cy="9906000"/>
          </a:xfrm>
          <a:prstGeom prst="ellipse">
            <a:avLst/>
          </a:prstGeom>
          <a:gradFill rotWithShape="1">
            <a:gsLst>
              <a:gs pos="0">
                <a:srgbClr val="19C9E0">
                  <a:alpha val="45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6096000" y="3810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0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7874000" y="508000"/>
            <a:ext cx="8890000" cy="10414000"/>
          </a:xfrm>
          <a:prstGeom prst="ellipse">
            <a:avLst/>
          </a:prstGeom>
          <a:gradFill rotWithShape="1">
            <a:gsLst>
              <a:gs pos="0">
                <a:srgbClr val="8A4DFF">
                  <a:alpha val="6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p-title"/>
          <p:cNvSpPr txBox="1"/>
          <p:nvPr/>
        </p:nvSpPr>
        <p:spPr>
          <a:xfrm>
            <a:off x="889000" y="635000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FFFFFF"/>
                </a:solidFill>
                <a:latin typeface="+mj-lt"/>
                <a:cs typeface="+mj-lt"/>
              </a:rPr>
              <a:t>Проблема</a:t>
            </a:r>
            <a:endParaRPr lang="ru-RU" sz="4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7" name="p-sub"/>
          <p:cNvSpPr txBox="1"/>
          <p:nvPr/>
        </p:nvSpPr>
        <p:spPr>
          <a:xfrm>
            <a:off x="889000" y="14986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5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  <a:t>Банки проверяют кредитные досье вручную. Это медленно, дорого и пропускает подделки.</a:t>
            </a:r>
            <a:endParaRPr lang="ru-RU" sz="1500" dirty="0">
              <a:solidFill>
                <a:srgbClr val="FFFFFF">
                  <a:alpha val="80000"/>
                </a:srgbClr>
              </a:solidFill>
              <a:latin typeface="+mn-lt"/>
              <a:cs typeface="+mn-lt"/>
            </a:endParaRPr>
          </a:p>
        </p:txBody>
      </p:sp>
      <p:grpSp>
        <p:nvGrpSpPr>
          <p:cNvPr id="8" name="s1"/>
          <p:cNvGrpSpPr/>
          <p:nvPr/>
        </p:nvGrpSpPr>
        <p:grpSpPr>
          <a:xfrm>
            <a:off x="889000" y="2413000"/>
            <a:ext cx="3302000" cy="1905000"/>
            <a:chOff x="889000" y="2413000"/>
            <a:chExt cx="3302000" cy="1905000"/>
          </a:xfrm>
        </p:grpSpPr>
        <p:cxnSp>
          <p:nvCxnSpPr>
            <p:cNvPr id="9" name="line 9"/>
            <p:cNvCxnSpPr/>
            <p:nvPr/>
          </p:nvCxnSpPr>
          <p:spPr>
            <a:xfrm>
              <a:off x="889000" y="2413000"/>
              <a:ext cx="3175000" cy="0"/>
            </a:xfrm>
            <a:prstGeom prst="line">
              <a:avLst/>
            </a:prstGeom>
            <a:ln w="9525" cap="rnd">
              <a:solidFill>
                <a:srgbClr val="FFFFFF">
                  <a:alpha val="60000"/>
                </a:srgbClr>
              </a:solidFill>
              <a:round/>
            </a:ln>
          </p:spPr>
        </p:cxnSp>
        <p:sp>
          <p:nvSpPr>
            <p:cNvPr id="10" name="text 10"/>
            <p:cNvSpPr txBox="1"/>
            <p:nvPr/>
          </p:nvSpPr>
          <p:spPr>
            <a:xfrm>
              <a:off x="889000" y="2616200"/>
              <a:ext cx="3302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400" dirty="0">
                  <a:solidFill>
                    <a:srgbClr val="FFFFFF"/>
                  </a:solidFill>
                  <a:latin typeface="+mj-lt"/>
                  <a:cs typeface="+mj-lt"/>
                </a:rPr>
                <a:t>40 </a:t>
              </a:r>
              <a:r>
                <a:rPr lang="ru-RU" sz="2600" dirty="0">
                  <a:solidFill>
                    <a:schemeClr val="accent1"/>
                  </a:solidFill>
                  <a:latin typeface="+mj-lt"/>
                  <a:cs typeface="+mj-lt"/>
                </a:rPr>
                <a:t>мин</a:t>
              </a:r>
              <a:endParaRPr lang="ru-RU" sz="4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889000" y="3505200"/>
              <a:ext cx="3048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30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тратит сотрудник на ручную проверку одного пакета документов</a:t>
              </a:r>
              <a:endParaRPr lang="ru-RU" sz="13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2" name="s2"/>
          <p:cNvGrpSpPr/>
          <p:nvPr/>
        </p:nvGrpSpPr>
        <p:grpSpPr>
          <a:xfrm>
            <a:off x="4572000" y="2413000"/>
            <a:ext cx="3302000" cy="1905000"/>
            <a:chOff x="4572000" y="2413000"/>
            <a:chExt cx="3302000" cy="1905000"/>
          </a:xfrm>
        </p:grpSpPr>
        <p:cxnSp>
          <p:nvCxnSpPr>
            <p:cNvPr id="13" name="line 13"/>
            <p:cNvCxnSpPr/>
            <p:nvPr/>
          </p:nvCxnSpPr>
          <p:spPr>
            <a:xfrm>
              <a:off x="4572000" y="2413000"/>
              <a:ext cx="3175000" cy="0"/>
            </a:xfrm>
            <a:prstGeom prst="line">
              <a:avLst/>
            </a:prstGeom>
            <a:ln w="9525" cap="rnd">
              <a:solidFill>
                <a:srgbClr val="FFFFFF">
                  <a:alpha val="60000"/>
                </a:srgbClr>
              </a:solidFill>
              <a:round/>
            </a:ln>
          </p:spPr>
        </p:cxnSp>
        <p:sp>
          <p:nvSpPr>
            <p:cNvPr id="14" name="text 14"/>
            <p:cNvSpPr txBox="1"/>
            <p:nvPr/>
          </p:nvSpPr>
          <p:spPr>
            <a:xfrm>
              <a:off x="4572000" y="2616200"/>
              <a:ext cx="3302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400" dirty="0">
                  <a:solidFill>
                    <a:srgbClr val="FFFFFF"/>
                  </a:solidFill>
                  <a:latin typeface="+mj-lt"/>
                  <a:cs typeface="+mj-lt"/>
                </a:rPr>
                <a:t>8 </a:t>
              </a:r>
              <a:r>
                <a:rPr lang="ru-RU" sz="2600" dirty="0">
                  <a:solidFill>
                    <a:schemeClr val="accent1"/>
                  </a:solidFill>
                  <a:latin typeface="+mj-lt"/>
                  <a:cs typeface="+mj-lt"/>
                </a:rPr>
                <a:t>%</a:t>
              </a:r>
              <a:endParaRPr lang="ru-RU" sz="4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4572000" y="3505200"/>
              <a:ext cx="3048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30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досье (1 из 12) содержит ошибку, расхождение или подделку</a:t>
              </a:r>
              <a:endParaRPr lang="ru-RU" sz="13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6" name="s3"/>
          <p:cNvGrpSpPr/>
          <p:nvPr/>
        </p:nvGrpSpPr>
        <p:grpSpPr>
          <a:xfrm>
            <a:off x="8255000" y="2413000"/>
            <a:ext cx="3302000" cy="1905000"/>
            <a:chOff x="8255000" y="2413000"/>
            <a:chExt cx="3302000" cy="1905000"/>
          </a:xfrm>
        </p:grpSpPr>
        <p:cxnSp>
          <p:nvCxnSpPr>
            <p:cNvPr id="17" name="line 17"/>
            <p:cNvCxnSpPr/>
            <p:nvPr/>
          </p:nvCxnSpPr>
          <p:spPr>
            <a:xfrm>
              <a:off x="8255000" y="2413000"/>
              <a:ext cx="3048000" cy="0"/>
            </a:xfrm>
            <a:prstGeom prst="line">
              <a:avLst/>
            </a:prstGeom>
            <a:ln w="9525" cap="rnd">
              <a:solidFill>
                <a:srgbClr val="FFFFFF">
                  <a:alpha val="60000"/>
                </a:srgbClr>
              </a:solidFill>
              <a:round/>
            </a:ln>
          </p:spPr>
        </p:cxnSp>
        <p:sp>
          <p:nvSpPr>
            <p:cNvPr id="18" name="text 18"/>
            <p:cNvSpPr txBox="1"/>
            <p:nvPr/>
          </p:nvSpPr>
          <p:spPr>
            <a:xfrm>
              <a:off x="8255000" y="2616200"/>
              <a:ext cx="3302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400" dirty="0">
                  <a:solidFill>
                    <a:srgbClr val="FFFFFF"/>
                  </a:solidFill>
                  <a:latin typeface="+mj-lt"/>
                  <a:cs typeface="+mj-lt"/>
                </a:rPr>
                <a:t>2,3 </a:t>
              </a:r>
              <a:r>
                <a:rPr lang="ru-RU" sz="2600" dirty="0">
                  <a:solidFill>
                    <a:schemeClr val="accent1"/>
                  </a:solidFill>
                  <a:latin typeface="+mj-lt"/>
                  <a:cs typeface="+mj-lt"/>
                </a:rPr>
                <a:t>млрд </a:t>
              </a:r>
              <a:r>
                <a:rPr lang="ru-RU" sz="2600" dirty="0">
                  <a:solidFill>
                    <a:schemeClr val="accent1"/>
                  </a:solidFill>
                  <a:latin typeface="Segoe UI"/>
                  <a:cs typeface="Segoe UI"/>
                </a:rPr>
                <a:t>₽</a:t>
              </a:r>
              <a:endParaRPr lang="ru-RU" sz="4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8255000" y="3505200"/>
              <a:ext cx="30480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30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в год теряет крупный банк на мошенничестве с документами</a:t>
              </a:r>
              <a:endParaRPr lang="ru-RU" sz="13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</p:grpSp>
      <p:sp>
        <p:nvSpPr>
          <p:cNvPr id="20" name="p-note"/>
          <p:cNvSpPr txBox="1"/>
          <p:nvPr/>
        </p:nvSpPr>
        <p:spPr>
          <a:xfrm>
            <a:off x="889000" y="47244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800" dirty="0">
                <a:solidFill>
                  <a:srgbClr val="FFFFFF"/>
                </a:solidFill>
                <a:latin typeface="+mj-lt"/>
                <a:cs typeface="+mj-lt"/>
              </a:rPr>
              <a:t>Итог: кредиты стоят в очереди на проверку,</a:t>
            </a:r>
            <a:br>
              <a:rPr lang="ru-RU" sz="1800" dirty="0">
                <a:solidFill>
                  <a:srgbClr val="FFFFFF"/>
                </a:solidFill>
                <a:latin typeface="+mj-lt"/>
                <a:cs typeface="+mj-lt"/>
              </a:rPr>
            </a:br>
            <a:r>
              <a:rPr lang="ru-RU" sz="1800" dirty="0">
                <a:solidFill>
                  <a:srgbClr val="FFFFFF"/>
                </a:solidFill>
                <a:latin typeface="+mj-lt"/>
                <a:cs typeface="+mj-lt"/>
              </a:rPr>
              <a:t>а подделки всё равно проходят мимо</a:t>
            </a:r>
            <a:endParaRPr lang="ru-RU" sz="18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cxnSp>
        <p:nvCxnSpPr>
          <p:cNvPr id="21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22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23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02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24" name="p-src"/>
          <p:cNvSpPr txBox="1"/>
          <p:nvPr/>
        </p:nvSpPr>
        <p:spPr>
          <a:xfrm>
            <a:off x="5080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rgbClr val="FFFFFF">
                    <a:alpha val="55000"/>
                  </a:srgbClr>
                </a:solidFill>
                <a:latin typeface="+mn-lt"/>
                <a:cs typeface="+mn-lt"/>
              </a:rPr>
              <a:t>Цифры иллюстративные: оценка команды по интервью с 14 банками</a:t>
            </a:r>
            <a:endParaRPr lang="ru-RU" sz="900" dirty="0">
              <a:solidFill>
                <a:srgbClr val="FFFFFF">
                  <a:alpha val="55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1524000" y="-3556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0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508000" y="2794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19C9E0">
                  <a:alpha val="45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3810000" y="4064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0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6604000" y="1524000"/>
            <a:ext cx="8890000" cy="10414000"/>
          </a:xfrm>
          <a:prstGeom prst="ellipse">
            <a:avLst/>
          </a:prstGeom>
          <a:gradFill rotWithShape="1">
            <a:gsLst>
              <a:gs pos="0">
                <a:srgbClr val="8A4DFF">
                  <a:alpha val="6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pr-title"/>
          <p:cNvSpPr txBox="1"/>
          <p:nvPr/>
        </p:nvSpPr>
        <p:spPr>
          <a:xfrm>
            <a:off x="889000" y="635000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FFFFFF"/>
                </a:solidFill>
                <a:latin typeface="+mj-lt"/>
                <a:cs typeface="+mj-lt"/>
              </a:rPr>
              <a:t>Как работает Нейрон</a:t>
            </a:r>
            <a:endParaRPr lang="ru-RU" sz="4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7" name="pr-sub"/>
          <p:cNvSpPr txBox="1"/>
          <p:nvPr/>
        </p:nvSpPr>
        <p:spPr>
          <a:xfrm>
            <a:off x="889000" y="14986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5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  <a:t>Загрузите кредитное досье. Модель сверит документы и вернёт отчёт с риск-скором.</a:t>
            </a:r>
            <a:endParaRPr lang="ru-RU" sz="1500" dirty="0">
              <a:solidFill>
                <a:srgbClr val="FFFFFF">
                  <a:alpha val="80000"/>
                </a:srgbClr>
              </a:solidFill>
              <a:latin typeface="+mn-lt"/>
              <a:cs typeface="+mn-lt"/>
            </a:endParaRPr>
          </a:p>
        </p:txBody>
      </p:sp>
      <p:cxnSp>
        <p:nvCxnSpPr>
          <p:cNvPr id="8" name="track"/>
          <p:cNvCxnSpPr/>
          <p:nvPr/>
        </p:nvCxnSpPr>
        <p:spPr>
          <a:xfrm>
            <a:off x="1168400" y="2286000"/>
            <a:ext cx="8001000" cy="0"/>
          </a:xfrm>
          <a:prstGeom prst="line">
            <a:avLst/>
          </a:prstGeom>
          <a:ln w="9525" cap="rnd">
            <a:solidFill>
              <a:srgbClr val="FFFFFF">
                <a:alpha val="25000"/>
              </a:srgbClr>
            </a:solidFill>
            <a:round/>
          </a:ln>
        </p:spPr>
      </p:cxnSp>
      <p:grpSp>
        <p:nvGrpSpPr>
          <p:cNvPr id="9" name="f1"/>
          <p:cNvGrpSpPr/>
          <p:nvPr/>
        </p:nvGrpSpPr>
        <p:grpSpPr>
          <a:xfrm>
            <a:off x="889000" y="2222500"/>
            <a:ext cx="2413000" cy="3187700"/>
            <a:chOff x="889000" y="2222500"/>
            <a:chExt cx="2413000" cy="3187700"/>
          </a:xfrm>
        </p:grpSpPr>
        <p:sp>
          <p:nvSpPr>
            <p:cNvPr id="10" name="shape 10"/>
            <p:cNvSpPr/>
            <p:nvPr/>
          </p:nvSpPr>
          <p:spPr>
            <a:xfrm>
              <a:off x="1104900" y="22225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" name="shape 11"/>
            <p:cNvSpPr/>
            <p:nvPr/>
          </p:nvSpPr>
          <p:spPr>
            <a:xfrm>
              <a:off x="889000" y="2540000"/>
              <a:ext cx="2413000" cy="2870200"/>
            </a:xfrm>
            <a:prstGeom prst="roundRect">
              <a:avLst>
                <a:gd name="adj" fmla="val 736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" name="shape 12"/>
            <p:cNvSpPr/>
            <p:nvPr/>
          </p:nvSpPr>
          <p:spPr>
            <a:xfrm>
              <a:off x="1117600" y="2768600"/>
              <a:ext cx="558800" cy="5588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" name="icon 13"/>
            <p:cNvSpPr/>
            <p:nvPr/>
          </p:nvSpPr>
          <p:spPr>
            <a:xfrm>
              <a:off x="1244600" y="28956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3895"/>
                    <a:pt x="3895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20105" y="3000"/>
                    <a:pt x="21000" y="3895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7000" y="8000"/>
                  </a:moveTo>
                  <a:lnTo>
                    <a:pt x="15000" y="8000"/>
                  </a:lnTo>
                </a:path>
                <a:path w="24000" h="24000" fill="none">
                  <a:moveTo>
                    <a:pt x="7000" y="12000"/>
                  </a:moveTo>
                  <a:lnTo>
                    <a:pt x="17000" y="12000"/>
                  </a:lnTo>
                </a:path>
                <a:path w="24000" h="24000" fill="none">
                  <a:moveTo>
                    <a:pt x="7000" y="16000"/>
                  </a:moveTo>
                  <a:lnTo>
                    <a:pt x="13000" y="16000"/>
                  </a:lnTo>
                </a:path>
              </a:pathLst>
            </a:custGeom>
            <a:noFill/>
            <a:ln w="25400" cap="rnd">
              <a:solidFill>
                <a:srgbClr val="0A0F5C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2540000" y="28194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000" dirty="0">
                  <a:solidFill>
                    <a:srgbClr val="FFFFFF">
                      <a:alpha val="50000"/>
                    </a:srgbClr>
                  </a:solidFill>
                  <a:latin typeface="+mn-lt"/>
                  <a:cs typeface="+mn-lt"/>
                </a:rPr>
                <a:t>01</a:t>
              </a:r>
              <a:endParaRPr lang="ru-RU" sz="1000" dirty="0">
                <a:solidFill>
                  <a:srgbClr val="FFFFFF">
                    <a:alpha val="5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1117600" y="3530600"/>
              <a:ext cx="2082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700" dirty="0">
                  <a:solidFill>
                    <a:srgbClr val="FFFFFF"/>
                  </a:solidFill>
                  <a:latin typeface="+mj-lt"/>
                  <a:cs typeface="+mj-lt"/>
                </a:rPr>
                <a:t>Распознаёт</a:t>
              </a:r>
              <a:endParaRPr lang="ru-RU" sz="17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117600" y="3962400"/>
              <a:ext cx="20066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Читает паспорта, 2-НДФЛ, выписки и фото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17" name="line 17"/>
            <p:cNvCxnSpPr/>
            <p:nvPr/>
          </p:nvCxnSpPr>
          <p:spPr>
            <a:xfrm>
              <a:off x="1117600" y="4597400"/>
              <a:ext cx="1955800" cy="0"/>
            </a:xfrm>
            <a:prstGeom prst="line">
              <a:avLst/>
            </a:prstGeom>
            <a:ln w="9525" cap="rnd">
              <a:solidFill>
                <a:srgbClr val="FFFFFF">
                  <a:alpha val="20000"/>
                </a:srgbClr>
              </a:solidFill>
              <a:round/>
            </a:ln>
          </p:spPr>
        </p:cxnSp>
        <p:sp>
          <p:nvSpPr>
            <p:cNvPr id="18" name="text 18"/>
            <p:cNvSpPr txBox="1"/>
            <p:nvPr/>
          </p:nvSpPr>
          <p:spPr>
            <a:xfrm>
              <a:off x="1117600" y="4699000"/>
              <a:ext cx="2032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120</a:t>
              </a:r>
              <a:r>
                <a:rPr lang="ru-RU" sz="2000" dirty="0">
                  <a:solidFill>
                    <a:schemeClr val="accent1"/>
                  </a:solidFill>
                  <a:latin typeface="+mj-lt"/>
                  <a:cs typeface="+mj-lt"/>
                </a:rPr>
                <a:t>+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1117600" y="5054600"/>
              <a:ext cx="203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типов документов</a:t>
              </a:r>
              <a:endParaRPr lang="ru-RU" sz="110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0" name="f2"/>
          <p:cNvGrpSpPr/>
          <p:nvPr/>
        </p:nvGrpSpPr>
        <p:grpSpPr>
          <a:xfrm>
            <a:off x="3556000" y="2222500"/>
            <a:ext cx="2413000" cy="3187700"/>
            <a:chOff x="3556000" y="2222500"/>
            <a:chExt cx="2413000" cy="3187700"/>
          </a:xfrm>
        </p:grpSpPr>
        <p:sp>
          <p:nvSpPr>
            <p:cNvPr id="21" name="shape 21"/>
            <p:cNvSpPr/>
            <p:nvPr/>
          </p:nvSpPr>
          <p:spPr>
            <a:xfrm>
              <a:off x="3771900" y="22225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2" name="shape 22"/>
            <p:cNvSpPr/>
            <p:nvPr/>
          </p:nvSpPr>
          <p:spPr>
            <a:xfrm>
              <a:off x="3556000" y="2540000"/>
              <a:ext cx="2413000" cy="2870200"/>
            </a:xfrm>
            <a:prstGeom prst="roundRect">
              <a:avLst>
                <a:gd name="adj" fmla="val 736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3" name="shape 23"/>
            <p:cNvSpPr/>
            <p:nvPr/>
          </p:nvSpPr>
          <p:spPr>
            <a:xfrm>
              <a:off x="3784600" y="2768600"/>
              <a:ext cx="558800" cy="5588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4" name="icon 24"/>
            <p:cNvSpPr/>
            <p:nvPr/>
          </p:nvSpPr>
          <p:spPr>
            <a:xfrm>
              <a:off x="3911600" y="28956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1000" y="18000"/>
                  </a:moveTo>
                  <a:cubicBezTo>
                    <a:pt x="21000" y="19657"/>
                    <a:pt x="19657" y="21000"/>
                    <a:pt x="18000" y="21000"/>
                  </a:cubicBezTo>
                  <a:cubicBezTo>
                    <a:pt x="16343" y="21000"/>
                    <a:pt x="15000" y="19657"/>
                    <a:pt x="15000" y="18000"/>
                  </a:cubicBezTo>
                  <a:cubicBezTo>
                    <a:pt x="15000" y="16343"/>
                    <a:pt x="16343" y="15000"/>
                    <a:pt x="18000" y="15000"/>
                  </a:cubicBezTo>
                  <a:cubicBezTo>
                    <a:pt x="19657" y="15000"/>
                    <a:pt x="21000" y="16343"/>
                    <a:pt x="21000" y="18000"/>
                  </a:cubicBezTo>
                  <a:close/>
                </a:path>
                <a:path w="24000" h="24000" fill="none">
                  <a:moveTo>
                    <a:pt x="9000" y="6000"/>
                  </a:moveTo>
                  <a:cubicBezTo>
                    <a:pt x="9000" y="7657"/>
                    <a:pt x="7657" y="9000"/>
                    <a:pt x="6000" y="9000"/>
                  </a:cubicBezTo>
                  <a:cubicBezTo>
                    <a:pt x="4343" y="9000"/>
                    <a:pt x="3000" y="7657"/>
                    <a:pt x="3000" y="6000"/>
                  </a:cubicBezTo>
                  <a:cubicBezTo>
                    <a:pt x="3000" y="4343"/>
                    <a:pt x="4343" y="3000"/>
                    <a:pt x="6000" y="3000"/>
                  </a:cubicBezTo>
                  <a:cubicBezTo>
                    <a:pt x="7657" y="3000"/>
                    <a:pt x="9000" y="4343"/>
                    <a:pt x="9000" y="6000"/>
                  </a:cubicBezTo>
                  <a:close/>
                </a:path>
                <a:path w="24000" h="24000" fill="none">
                  <a:moveTo>
                    <a:pt x="13000" y="6000"/>
                  </a:moveTo>
                  <a:lnTo>
                    <a:pt x="16000" y="6000"/>
                  </a:lnTo>
                  <a:cubicBezTo>
                    <a:pt x="17105" y="6000"/>
                    <a:pt x="18000" y="6895"/>
                    <a:pt x="18000" y="8000"/>
                  </a:cubicBezTo>
                  <a:lnTo>
                    <a:pt x="18000" y="15000"/>
                  </a:lnTo>
                </a:path>
                <a:path w="24000" h="24000" fill="none">
                  <a:moveTo>
                    <a:pt x="11000" y="18000"/>
                  </a:moveTo>
                  <a:lnTo>
                    <a:pt x="8000" y="18000"/>
                  </a:lnTo>
                  <a:cubicBezTo>
                    <a:pt x="6895" y="18000"/>
                    <a:pt x="6000" y="17105"/>
                    <a:pt x="6000" y="16000"/>
                  </a:cubicBezTo>
                  <a:lnTo>
                    <a:pt x="6000" y="9000"/>
                  </a:lnTo>
                </a:path>
              </a:pathLst>
            </a:custGeom>
            <a:noFill/>
            <a:ln w="25400" cap="rnd">
              <a:solidFill>
                <a:srgbClr val="0A0F5C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5207000" y="28194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000" dirty="0">
                  <a:solidFill>
                    <a:srgbClr val="FFFFFF">
                      <a:alpha val="50000"/>
                    </a:srgbClr>
                  </a:solidFill>
                  <a:latin typeface="+mn-lt"/>
                  <a:cs typeface="+mn-lt"/>
                </a:rPr>
                <a:t>02</a:t>
              </a:r>
              <a:endParaRPr lang="ru-RU" sz="1000" dirty="0">
                <a:solidFill>
                  <a:srgbClr val="FFFFFF">
                    <a:alpha val="5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6" name="text 26"/>
            <p:cNvSpPr txBox="1"/>
            <p:nvPr/>
          </p:nvSpPr>
          <p:spPr>
            <a:xfrm>
              <a:off x="3784600" y="3530600"/>
              <a:ext cx="2082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700" dirty="0">
                  <a:solidFill>
                    <a:srgbClr val="FFFFFF"/>
                  </a:solidFill>
                  <a:latin typeface="+mj-lt"/>
                  <a:cs typeface="+mj-lt"/>
                </a:rPr>
                <a:t>Сверяет</a:t>
              </a:r>
              <a:endParaRPr lang="ru-RU" sz="17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27" name="text 27"/>
            <p:cNvSpPr txBox="1"/>
            <p:nvPr/>
          </p:nvSpPr>
          <p:spPr>
            <a:xfrm>
              <a:off x="3784600" y="3962400"/>
              <a:ext cx="20066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ФИО, суммы, даты и реквизиты между файлами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28" name="line 28"/>
            <p:cNvCxnSpPr/>
            <p:nvPr/>
          </p:nvCxnSpPr>
          <p:spPr>
            <a:xfrm>
              <a:off x="3784600" y="4597400"/>
              <a:ext cx="1955800" cy="0"/>
            </a:xfrm>
            <a:prstGeom prst="line">
              <a:avLst/>
            </a:prstGeom>
            <a:ln w="9525" cap="rnd">
              <a:solidFill>
                <a:srgbClr val="FFFFFF">
                  <a:alpha val="20000"/>
                </a:srgbClr>
              </a:solidFill>
              <a:round/>
            </a:ln>
          </p:spPr>
        </p:cxnSp>
        <p:sp>
          <p:nvSpPr>
            <p:cNvPr id="29" name="text 29"/>
            <p:cNvSpPr txBox="1"/>
            <p:nvPr/>
          </p:nvSpPr>
          <p:spPr>
            <a:xfrm>
              <a:off x="3784600" y="4699000"/>
              <a:ext cx="2032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300</a:t>
              </a:r>
              <a:r>
                <a:rPr lang="ru-RU" sz="2000" dirty="0">
                  <a:solidFill>
                    <a:schemeClr val="accent1"/>
                  </a:solidFill>
                  <a:latin typeface="+mj-lt"/>
                  <a:cs typeface="+mj-lt"/>
                </a:rPr>
                <a:t>+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3784600" y="5054600"/>
              <a:ext cx="203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правил сверки</a:t>
              </a:r>
              <a:endParaRPr lang="ru-RU" sz="110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1" name="f3"/>
          <p:cNvGrpSpPr/>
          <p:nvPr/>
        </p:nvGrpSpPr>
        <p:grpSpPr>
          <a:xfrm>
            <a:off x="6223000" y="2222500"/>
            <a:ext cx="2413000" cy="3187700"/>
            <a:chOff x="6223000" y="2222500"/>
            <a:chExt cx="2413000" cy="3187700"/>
          </a:xfrm>
        </p:grpSpPr>
        <p:sp>
          <p:nvSpPr>
            <p:cNvPr id="32" name="shape 32"/>
            <p:cNvSpPr/>
            <p:nvPr/>
          </p:nvSpPr>
          <p:spPr>
            <a:xfrm>
              <a:off x="6438900" y="22225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3" name="shape 33"/>
            <p:cNvSpPr/>
            <p:nvPr/>
          </p:nvSpPr>
          <p:spPr>
            <a:xfrm>
              <a:off x="6223000" y="2540000"/>
              <a:ext cx="2413000" cy="2870200"/>
            </a:xfrm>
            <a:prstGeom prst="roundRect">
              <a:avLst>
                <a:gd name="adj" fmla="val 736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4" name="shape 34"/>
            <p:cNvSpPr/>
            <p:nvPr/>
          </p:nvSpPr>
          <p:spPr>
            <a:xfrm>
              <a:off x="6451600" y="2768600"/>
              <a:ext cx="558800" cy="5588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icon 35"/>
            <p:cNvSpPr/>
            <p:nvPr/>
          </p:nvSpPr>
          <p:spPr>
            <a:xfrm>
              <a:off x="6578600" y="28956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12000" y="8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2000" y="16000"/>
                  </a:moveTo>
                  <a:lnTo>
                    <a:pt x="12010" y="16000"/>
                  </a:lnTo>
                </a:path>
              </a:pathLst>
            </a:custGeom>
            <a:noFill/>
            <a:ln w="25400" cap="rnd">
              <a:solidFill>
                <a:srgbClr val="0A0F5C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7874000" y="28194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000" dirty="0">
                  <a:solidFill>
                    <a:srgbClr val="FFFFFF">
                      <a:alpha val="50000"/>
                    </a:srgbClr>
                  </a:solidFill>
                  <a:latin typeface="+mn-lt"/>
                  <a:cs typeface="+mn-lt"/>
                </a:rPr>
                <a:t>03</a:t>
              </a:r>
              <a:endParaRPr lang="ru-RU" sz="1000" dirty="0">
                <a:solidFill>
                  <a:srgbClr val="FFFFFF">
                    <a:alpha val="5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6451600" y="3530600"/>
              <a:ext cx="2082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700" dirty="0">
                  <a:solidFill>
                    <a:srgbClr val="FFFFFF"/>
                  </a:solidFill>
                  <a:latin typeface="+mj-lt"/>
                  <a:cs typeface="+mj-lt"/>
                </a:rPr>
                <a:t>Антифрод</a:t>
              </a:r>
              <a:endParaRPr lang="ru-RU" sz="17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38" name="text 38"/>
            <p:cNvSpPr txBox="1"/>
            <p:nvPr/>
          </p:nvSpPr>
          <p:spPr>
            <a:xfrm>
              <a:off x="6451600" y="3962400"/>
              <a:ext cx="20066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Видит правку шрифтов, печатей и PDF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39" name="line 39"/>
            <p:cNvCxnSpPr/>
            <p:nvPr/>
          </p:nvCxnSpPr>
          <p:spPr>
            <a:xfrm>
              <a:off x="6451600" y="4597400"/>
              <a:ext cx="1955800" cy="0"/>
            </a:xfrm>
            <a:prstGeom prst="line">
              <a:avLst/>
            </a:prstGeom>
            <a:ln w="9525" cap="rnd">
              <a:solidFill>
                <a:srgbClr val="FFFFFF">
                  <a:alpha val="20000"/>
                </a:srgbClr>
              </a:solidFill>
              <a:round/>
            </a:ln>
          </p:spPr>
        </p:cxnSp>
        <p:sp>
          <p:nvSpPr>
            <p:cNvPr id="40" name="text 40"/>
            <p:cNvSpPr txBox="1"/>
            <p:nvPr/>
          </p:nvSpPr>
          <p:spPr>
            <a:xfrm>
              <a:off x="6451600" y="4699000"/>
              <a:ext cx="2032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98 </a:t>
              </a:r>
              <a:r>
                <a:rPr lang="ru-RU" sz="2000" dirty="0">
                  <a:solidFill>
                    <a:schemeClr val="accent1"/>
                  </a:solidFill>
                  <a:latin typeface="+mj-lt"/>
                  <a:cs typeface="+mj-lt"/>
                </a:rPr>
                <a:t>%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41" name="text 41"/>
            <p:cNvSpPr txBox="1"/>
            <p:nvPr/>
          </p:nvSpPr>
          <p:spPr>
            <a:xfrm>
              <a:off x="6451600" y="5054600"/>
              <a:ext cx="203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подделок находит</a:t>
              </a:r>
              <a:endParaRPr lang="ru-RU" sz="110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42" name="f4"/>
          <p:cNvGrpSpPr/>
          <p:nvPr/>
        </p:nvGrpSpPr>
        <p:grpSpPr>
          <a:xfrm>
            <a:off x="8890000" y="2222500"/>
            <a:ext cx="2413000" cy="3187700"/>
            <a:chOff x="8890000" y="2222500"/>
            <a:chExt cx="2413000" cy="3187700"/>
          </a:xfrm>
        </p:grpSpPr>
        <p:sp>
          <p:nvSpPr>
            <p:cNvPr id="43" name="shape 43"/>
            <p:cNvSpPr/>
            <p:nvPr/>
          </p:nvSpPr>
          <p:spPr>
            <a:xfrm>
              <a:off x="9105900" y="22225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4" name="shape 44"/>
            <p:cNvSpPr/>
            <p:nvPr/>
          </p:nvSpPr>
          <p:spPr>
            <a:xfrm>
              <a:off x="8890000" y="2540000"/>
              <a:ext cx="2413000" cy="2870200"/>
            </a:xfrm>
            <a:prstGeom prst="roundRect">
              <a:avLst>
                <a:gd name="adj" fmla="val 7368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5" name="shape 45"/>
            <p:cNvSpPr/>
            <p:nvPr/>
          </p:nvSpPr>
          <p:spPr>
            <a:xfrm>
              <a:off x="9118600" y="2768600"/>
              <a:ext cx="558800" cy="5588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6" name="icon 46"/>
            <p:cNvSpPr/>
            <p:nvPr/>
          </p:nvSpPr>
          <p:spPr>
            <a:xfrm>
              <a:off x="9245600" y="28956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3850" y="8620"/>
                  </a:moveTo>
                  <a:cubicBezTo>
                    <a:pt x="3553" y="7284"/>
                    <a:pt x="3961" y="5889"/>
                    <a:pt x="4929" y="4922"/>
                  </a:cubicBezTo>
                  <a:cubicBezTo>
                    <a:pt x="5898" y="3955"/>
                    <a:pt x="7294" y="3551"/>
                    <a:pt x="8630" y="3850"/>
                  </a:cubicBezTo>
                  <a:cubicBezTo>
                    <a:pt x="9365" y="2700"/>
                    <a:pt x="10635" y="2005"/>
                    <a:pt x="12000" y="2005"/>
                  </a:cubicBezTo>
                  <a:cubicBezTo>
                    <a:pt x="13365" y="2005"/>
                    <a:pt x="14635" y="2700"/>
                    <a:pt x="15370" y="3850"/>
                  </a:cubicBezTo>
                  <a:cubicBezTo>
                    <a:pt x="16708" y="3549"/>
                    <a:pt x="18106" y="3955"/>
                    <a:pt x="19076" y="4924"/>
                  </a:cubicBezTo>
                  <a:cubicBezTo>
                    <a:pt x="20045" y="5894"/>
                    <a:pt x="20451" y="7292"/>
                    <a:pt x="20150" y="8630"/>
                  </a:cubicBezTo>
                  <a:cubicBezTo>
                    <a:pt x="21300" y="9365"/>
                    <a:pt x="21995" y="10635"/>
                    <a:pt x="21995" y="12000"/>
                  </a:cubicBezTo>
                  <a:cubicBezTo>
                    <a:pt x="21995" y="13365"/>
                    <a:pt x="21300" y="14635"/>
                    <a:pt x="20150" y="15370"/>
                  </a:cubicBezTo>
                  <a:cubicBezTo>
                    <a:pt x="20449" y="16706"/>
                    <a:pt x="20045" y="18102"/>
                    <a:pt x="19078" y="19071"/>
                  </a:cubicBezTo>
                  <a:cubicBezTo>
                    <a:pt x="18111" y="20039"/>
                    <a:pt x="16716" y="20447"/>
                    <a:pt x="15380" y="20150"/>
                  </a:cubicBezTo>
                  <a:cubicBezTo>
                    <a:pt x="14646" y="21304"/>
                    <a:pt x="13373" y="22003"/>
                    <a:pt x="12005" y="22003"/>
                  </a:cubicBezTo>
                  <a:cubicBezTo>
                    <a:pt x="10637" y="22003"/>
                    <a:pt x="9364" y="21304"/>
                    <a:pt x="8630" y="20150"/>
                  </a:cubicBezTo>
                  <a:cubicBezTo>
                    <a:pt x="7294" y="20449"/>
                    <a:pt x="5898" y="20045"/>
                    <a:pt x="4929" y="19078"/>
                  </a:cubicBezTo>
                  <a:cubicBezTo>
                    <a:pt x="3961" y="18111"/>
                    <a:pt x="3553" y="16716"/>
                    <a:pt x="3850" y="15380"/>
                  </a:cubicBezTo>
                  <a:cubicBezTo>
                    <a:pt x="2691" y="14647"/>
                    <a:pt x="1989" y="13371"/>
                    <a:pt x="1989" y="12000"/>
                  </a:cubicBezTo>
                  <a:cubicBezTo>
                    <a:pt x="1989" y="10629"/>
                    <a:pt x="2691" y="9353"/>
                    <a:pt x="3850" y="8620"/>
                  </a:cubicBezTo>
                  <a:close/>
                </a:path>
                <a:path w="24000" h="24000" fill="none">
                  <a:moveTo>
                    <a:pt x="16000" y="9000"/>
                  </a:moveTo>
                  <a:lnTo>
                    <a:pt x="10500" y="14500"/>
                  </a:lnTo>
                  <a:lnTo>
                    <a:pt x="8000" y="12000"/>
                  </a:lnTo>
                </a:path>
              </a:pathLst>
            </a:custGeom>
            <a:noFill/>
            <a:ln w="25400" cap="rnd">
              <a:solidFill>
                <a:srgbClr val="0A0F5C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text 47"/>
            <p:cNvSpPr txBox="1"/>
            <p:nvPr/>
          </p:nvSpPr>
          <p:spPr>
            <a:xfrm>
              <a:off x="10541000" y="2819400"/>
              <a:ext cx="558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1000" dirty="0">
                  <a:solidFill>
                    <a:srgbClr val="FFFFFF">
                      <a:alpha val="50000"/>
                    </a:srgbClr>
                  </a:solidFill>
                  <a:latin typeface="+mn-lt"/>
                  <a:cs typeface="+mn-lt"/>
                </a:rPr>
                <a:t>04</a:t>
              </a:r>
              <a:endParaRPr lang="ru-RU" sz="1000" dirty="0">
                <a:solidFill>
                  <a:srgbClr val="FFFFFF">
                    <a:alpha val="5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48" name="text 48"/>
            <p:cNvSpPr txBox="1"/>
            <p:nvPr/>
          </p:nvSpPr>
          <p:spPr>
            <a:xfrm>
              <a:off x="9118600" y="3530600"/>
              <a:ext cx="20828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700" dirty="0">
                  <a:solidFill>
                    <a:srgbClr val="FFFFFF"/>
                  </a:solidFill>
                  <a:latin typeface="+mj-lt"/>
                  <a:cs typeface="+mj-lt"/>
                </a:rPr>
                <a:t>Решает</a:t>
              </a:r>
              <a:endParaRPr lang="ru-RU" sz="17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49" name="text 49"/>
            <p:cNvSpPr txBox="1"/>
            <p:nvPr/>
          </p:nvSpPr>
          <p:spPr>
            <a:xfrm>
              <a:off x="9118600" y="3962400"/>
              <a:ext cx="20066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Риск-скор и отчёт андеррайтеру через API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50" name="line 50"/>
            <p:cNvCxnSpPr/>
            <p:nvPr/>
          </p:nvCxnSpPr>
          <p:spPr>
            <a:xfrm>
              <a:off x="9118600" y="4597400"/>
              <a:ext cx="1955800" cy="0"/>
            </a:xfrm>
            <a:prstGeom prst="line">
              <a:avLst/>
            </a:prstGeom>
            <a:ln w="9525" cap="rnd">
              <a:solidFill>
                <a:srgbClr val="FFFFFF">
                  <a:alpha val="20000"/>
                </a:srgbClr>
              </a:solidFill>
              <a:round/>
            </a:ln>
          </p:spPr>
        </p:cxnSp>
        <p:sp>
          <p:nvSpPr>
            <p:cNvPr id="51" name="text 51"/>
            <p:cNvSpPr txBox="1"/>
            <p:nvPr/>
          </p:nvSpPr>
          <p:spPr>
            <a:xfrm>
              <a:off x="9118600" y="4699000"/>
              <a:ext cx="2032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90 </a:t>
              </a:r>
              <a:r>
                <a:rPr lang="ru-RU" sz="2000" dirty="0">
                  <a:solidFill>
                    <a:schemeClr val="accent1"/>
                  </a:solidFill>
                  <a:latin typeface="+mj-lt"/>
                  <a:cs typeface="+mj-lt"/>
                </a:rPr>
                <a:t>сек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52" name="text 52"/>
            <p:cNvSpPr txBox="1"/>
            <p:nvPr/>
          </p:nvSpPr>
          <p:spPr>
            <a:xfrm>
              <a:off x="9118600" y="5054600"/>
              <a:ext cx="2032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на одно досье</a:t>
              </a:r>
              <a:endParaRPr lang="ru-RU" sz="110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53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54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55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03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5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-508000" y="-3810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0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2794000" y="2286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19C9E0">
                  <a:alpha val="45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6350000" y="4064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0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7620000" y="-254000"/>
            <a:ext cx="8890000" cy="10414000"/>
          </a:xfrm>
          <a:prstGeom prst="ellipse">
            <a:avLst/>
          </a:prstGeom>
          <a:gradFill rotWithShape="1">
            <a:gsLst>
              <a:gs pos="0">
                <a:srgbClr val="8A4DFF">
                  <a:alpha val="6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m-title"/>
          <p:cNvSpPr txBox="1"/>
          <p:nvPr/>
        </p:nvSpPr>
        <p:spPr>
          <a:xfrm>
            <a:off x="889000" y="635000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FFFFFF"/>
                </a:solidFill>
                <a:latin typeface="+mj-lt"/>
                <a:cs typeface="+mj-lt"/>
              </a:rPr>
              <a:t>Объём рынка</a:t>
            </a:r>
            <a:endParaRPr lang="ru-RU" sz="4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7" name="tam"/>
          <p:cNvSpPr/>
          <p:nvPr/>
        </p:nvSpPr>
        <p:spPr>
          <a:xfrm>
            <a:off x="1016000" y="1778000"/>
            <a:ext cx="4064000" cy="4064000"/>
          </a:xfrm>
          <a:prstGeom prst="ellipse">
            <a:avLst/>
          </a:prstGeom>
          <a:solidFill>
            <a:srgbClr val="14B8C4"/>
          </a:solidFill>
          <a:ln>
            <a:noFill/>
          </a:ln>
        </p:spPr>
        <p:txBody>
          <a:bodyPr wrap="none" lIns="0" tIns="330200" rIns="0" bIns="0" anchor="t" rtlCol="0">
            <a:noAutofit/>
          </a:bodyPr>
          <a:lstStyle/>
          <a:p>
            <a:pPr algn="ctr">
              <a:buNone/>
            </a:pPr>
            <a:r>
              <a:rPr lang="ru-RU" sz="2000" dirty="0">
                <a:solidFill>
                  <a:srgbClr val="0A0F5C"/>
                </a:solidFill>
                <a:latin typeface="+mj-lt"/>
                <a:cs typeface="+mj-lt"/>
              </a:rPr>
              <a:t>48 млрд </a:t>
            </a:r>
            <a:r>
              <a:rPr lang="ru-RU" sz="2000" dirty="0">
                <a:solidFill>
                  <a:srgbClr val="0A0F5C"/>
                </a:solidFill>
                <a:latin typeface="Segoe UI"/>
                <a:cs typeface="Segoe UI"/>
              </a:rPr>
              <a:t>₽</a:t>
            </a:r>
            <a:endParaRPr lang="ru-RU" sz="2000" dirty="0">
              <a:solidFill>
                <a:srgbClr val="0A0F5C"/>
              </a:solidFill>
              <a:latin typeface="+mj-lt"/>
              <a:cs typeface="+mj-lt"/>
            </a:endParaRPr>
          </a:p>
        </p:txBody>
      </p:sp>
      <p:sp>
        <p:nvSpPr>
          <p:cNvPr id="8" name="sam"/>
          <p:cNvSpPr/>
          <p:nvPr/>
        </p:nvSpPr>
        <p:spPr>
          <a:xfrm>
            <a:off x="1714500" y="3175000"/>
            <a:ext cx="2667000" cy="2667000"/>
          </a:xfrm>
          <a:prstGeom prst="ellipse">
            <a:avLst/>
          </a:prstGeom>
          <a:solidFill>
            <a:srgbClr val="19E3D6"/>
          </a:solidFill>
          <a:ln>
            <a:noFill/>
          </a:ln>
        </p:spPr>
        <p:txBody>
          <a:bodyPr wrap="none" lIns="0" tIns="279400" rIns="0" bIns="0" anchor="t" rtlCol="0">
            <a:noAutofit/>
          </a:bodyPr>
          <a:lstStyle/>
          <a:p>
            <a:pPr algn="ctr">
              <a:buNone/>
            </a:pPr>
            <a:r>
              <a:rPr lang="ru-RU" sz="1700" dirty="0">
                <a:solidFill>
                  <a:srgbClr val="0A0F5C"/>
                </a:solidFill>
                <a:latin typeface="+mj-lt"/>
                <a:cs typeface="+mj-lt"/>
              </a:rPr>
              <a:t>12 млрд </a:t>
            </a:r>
            <a:r>
              <a:rPr lang="ru-RU" sz="1700" dirty="0">
                <a:solidFill>
                  <a:srgbClr val="0A0F5C"/>
                </a:solidFill>
                <a:latin typeface="Segoe UI"/>
                <a:cs typeface="Segoe UI"/>
              </a:rPr>
              <a:t>₽</a:t>
            </a:r>
            <a:endParaRPr lang="ru-RU" sz="1700" dirty="0">
              <a:solidFill>
                <a:srgbClr val="0A0F5C"/>
              </a:solidFill>
              <a:latin typeface="+mj-lt"/>
              <a:cs typeface="+mj-lt"/>
            </a:endParaRPr>
          </a:p>
        </p:txBody>
      </p:sp>
      <p:sp>
        <p:nvSpPr>
          <p:cNvPr id="9" name="som"/>
          <p:cNvSpPr/>
          <p:nvPr/>
        </p:nvSpPr>
        <p:spPr>
          <a:xfrm>
            <a:off x="2286000" y="4318000"/>
            <a:ext cx="1524000" cy="152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buNone/>
            </a:pPr>
            <a:r>
              <a:rPr lang="ru-RU" sz="1300" dirty="0">
                <a:solidFill>
                  <a:srgbClr val="0A0F5C"/>
                </a:solidFill>
                <a:latin typeface="+mj-lt"/>
                <a:cs typeface="+mj-lt"/>
              </a:rPr>
              <a:t>1,5 млрд </a:t>
            </a:r>
            <a:r>
              <a:rPr lang="ru-RU" sz="1300" dirty="0">
                <a:solidFill>
                  <a:srgbClr val="0A0F5C"/>
                </a:solidFill>
                <a:latin typeface="Segoe UI"/>
                <a:cs typeface="Segoe UI"/>
              </a:rPr>
              <a:t>₽</a:t>
            </a:r>
            <a:endParaRPr lang="ru-RU" sz="1300" dirty="0">
              <a:solidFill>
                <a:srgbClr val="0A0F5C"/>
              </a:solidFill>
              <a:latin typeface="+mj-lt"/>
              <a:cs typeface="+mj-lt"/>
            </a:endParaRPr>
          </a:p>
        </p:txBody>
      </p:sp>
      <p:grpSp>
        <p:nvGrpSpPr>
          <p:cNvPr id="10" name="l1"/>
          <p:cNvGrpSpPr/>
          <p:nvPr/>
        </p:nvGrpSpPr>
        <p:grpSpPr>
          <a:xfrm>
            <a:off x="6096000" y="1905000"/>
            <a:ext cx="5410200" cy="914400"/>
            <a:chOff x="6096000" y="1905000"/>
            <a:chExt cx="5410200" cy="914400"/>
          </a:xfrm>
        </p:grpSpPr>
        <p:sp>
          <p:nvSpPr>
            <p:cNvPr id="11" name="shape 11"/>
            <p:cNvSpPr/>
            <p:nvPr/>
          </p:nvSpPr>
          <p:spPr>
            <a:xfrm>
              <a:off x="6096000" y="1930400"/>
              <a:ext cx="330200" cy="330200"/>
            </a:xfrm>
            <a:prstGeom prst="roundRect">
              <a:avLst>
                <a:gd name="adj" fmla="val 15385"/>
              </a:avLst>
            </a:prstGeom>
            <a:solidFill>
              <a:srgbClr val="14B8C4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6680200" y="1905000"/>
              <a:ext cx="482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rgbClr val="FFFFFF"/>
                  </a:solidFill>
                  <a:latin typeface="+mj-lt"/>
                  <a:cs typeface="+mj-lt"/>
                </a:rPr>
                <a:t>TAM · 48 млрд </a:t>
              </a:r>
              <a:r>
                <a:rPr lang="ru-RU" sz="1800" dirty="0">
                  <a:solidFill>
                    <a:srgbClr val="FFFFFF"/>
                  </a:solidFill>
                  <a:latin typeface="Segoe UI"/>
                  <a:cs typeface="Segoe UI"/>
                </a:rPr>
                <a:t>₽</a:t>
              </a:r>
              <a:endParaRPr lang="ru-RU" sz="1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6680200" y="2311400"/>
              <a:ext cx="4826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Все расходы банков РФ на проверку</a:t>
              </a:r>
              <a:b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</a:b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документов: кредиты, KYC, комплаенс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4" name="l2"/>
          <p:cNvGrpSpPr/>
          <p:nvPr/>
        </p:nvGrpSpPr>
        <p:grpSpPr>
          <a:xfrm>
            <a:off x="6096000" y="3302000"/>
            <a:ext cx="5410200" cy="914400"/>
            <a:chOff x="6096000" y="3302000"/>
            <a:chExt cx="5410200" cy="914400"/>
          </a:xfrm>
        </p:grpSpPr>
        <p:sp>
          <p:nvSpPr>
            <p:cNvPr id="15" name="shape 15"/>
            <p:cNvSpPr/>
            <p:nvPr/>
          </p:nvSpPr>
          <p:spPr>
            <a:xfrm>
              <a:off x="6096000" y="3327400"/>
              <a:ext cx="330200" cy="330200"/>
            </a:xfrm>
            <a:prstGeom prst="roundRect">
              <a:avLst>
                <a:gd name="adj" fmla="val 15385"/>
              </a:avLst>
            </a:prstGeom>
            <a:solidFill>
              <a:srgbClr val="19E3D6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6680200" y="3302000"/>
              <a:ext cx="482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rgbClr val="FFFFFF"/>
                  </a:solidFill>
                  <a:latin typeface="+mj-lt"/>
                  <a:cs typeface="+mj-lt"/>
                </a:rPr>
                <a:t>SAM · 12 млрд </a:t>
              </a:r>
              <a:r>
                <a:rPr lang="ru-RU" sz="1800" dirty="0">
                  <a:solidFill>
                    <a:srgbClr val="FFFFFF"/>
                  </a:solidFill>
                  <a:latin typeface="Segoe UI"/>
                  <a:cs typeface="Segoe UI"/>
                </a:rPr>
                <a:t>₽</a:t>
              </a:r>
              <a:endParaRPr lang="ru-RU" sz="1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6680200" y="3708400"/>
              <a:ext cx="4826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Топ-100 банков: розничные кредиты</a:t>
              </a:r>
              <a:b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</a:b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и займы малому бизнесу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8" name="l3"/>
          <p:cNvGrpSpPr/>
          <p:nvPr/>
        </p:nvGrpSpPr>
        <p:grpSpPr>
          <a:xfrm>
            <a:off x="6096000" y="4699000"/>
            <a:ext cx="5410200" cy="914400"/>
            <a:chOff x="6096000" y="4699000"/>
            <a:chExt cx="5410200" cy="914400"/>
          </a:xfrm>
        </p:grpSpPr>
        <p:sp>
          <p:nvSpPr>
            <p:cNvPr id="19" name="shape 19"/>
            <p:cNvSpPr/>
            <p:nvPr/>
          </p:nvSpPr>
          <p:spPr>
            <a:xfrm>
              <a:off x="6096000" y="4724400"/>
              <a:ext cx="330200" cy="3302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6680200" y="4699000"/>
              <a:ext cx="482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800" dirty="0">
                  <a:solidFill>
                    <a:srgbClr val="FFFFFF"/>
                  </a:solidFill>
                  <a:latin typeface="+mj-lt"/>
                  <a:cs typeface="+mj-lt"/>
                </a:rPr>
                <a:t>SOM · 1,5 млрд </a:t>
              </a:r>
              <a:r>
                <a:rPr lang="ru-RU" sz="1800" dirty="0">
                  <a:solidFill>
                    <a:srgbClr val="FFFFFF"/>
                  </a:solidFill>
                  <a:latin typeface="Segoe UI"/>
                  <a:cs typeface="Segoe UI"/>
                </a:rPr>
                <a:t>₽</a:t>
              </a:r>
              <a:endParaRPr lang="ru-RU" sz="1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21" name="text 21"/>
            <p:cNvSpPr txBox="1"/>
            <p:nvPr/>
          </p:nvSpPr>
          <p:spPr>
            <a:xfrm>
              <a:off x="6680200" y="5105400"/>
              <a:ext cx="4826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15 банков к 2028 году</a:t>
              </a:r>
              <a:b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</a:b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при подписке 100 млн </a:t>
              </a: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Segoe UI"/>
                  <a:cs typeface="Segoe UI"/>
                </a:rPr>
                <a:t>₽</a:t>
              </a: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 в год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22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23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24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04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25" name="m-src"/>
          <p:cNvSpPr txBox="1"/>
          <p:nvPr/>
        </p:nvSpPr>
        <p:spPr>
          <a:xfrm>
            <a:off x="5080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rgbClr val="FFFFFF">
                    <a:alpha val="55000"/>
                  </a:srgbClr>
                </a:solidFill>
                <a:latin typeface="+mn-lt"/>
                <a:cs typeface="+mn-lt"/>
              </a:rPr>
              <a:t>Цифры иллюстративные: оценка команды на основе отчётности ЦБ РФ за 2025 год</a:t>
            </a:r>
            <a:endParaRPr lang="ru-RU" sz="900" dirty="0">
              <a:solidFill>
                <a:srgbClr val="FFFFFF">
                  <a:alpha val="55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1270000" y="-3556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0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1016000" y="508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19C9E0">
                  <a:alpha val="40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4318000" y="4064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0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8382000" y="-1524000"/>
            <a:ext cx="8890000" cy="10414000"/>
          </a:xfrm>
          <a:prstGeom prst="ellipse">
            <a:avLst/>
          </a:prstGeom>
          <a:gradFill rotWithShape="1">
            <a:gsLst>
              <a:gs pos="0">
                <a:srgbClr val="8A4DFF">
                  <a:alpha val="6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t-title"/>
          <p:cNvSpPr txBox="1"/>
          <p:nvPr/>
        </p:nvSpPr>
        <p:spPr>
          <a:xfrm>
            <a:off x="889000" y="635000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FFFFFF"/>
                </a:solidFill>
                <a:latin typeface="+mj-lt"/>
                <a:cs typeface="+mj-lt"/>
              </a:rPr>
              <a:t>Рост ×14,7 за 8 месяцев</a:t>
            </a:r>
            <a:endParaRPr lang="ru-RU" sz="4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grpSp>
        <p:nvGrpSpPr>
          <p:cNvPr id="7" name="k1"/>
          <p:cNvGrpSpPr/>
          <p:nvPr/>
        </p:nvGrpSpPr>
        <p:grpSpPr>
          <a:xfrm>
            <a:off x="889000" y="1778000"/>
            <a:ext cx="2921000" cy="965200"/>
            <a:chOff x="889000" y="1778000"/>
            <a:chExt cx="2921000" cy="965200"/>
          </a:xfrm>
        </p:grpSpPr>
        <p:sp>
          <p:nvSpPr>
            <p:cNvPr id="8" name="text 8"/>
            <p:cNvSpPr txBox="1"/>
            <p:nvPr/>
          </p:nvSpPr>
          <p:spPr>
            <a:xfrm>
              <a:off x="889000" y="17780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rgbClr val="FFFFFF"/>
                  </a:solidFill>
                  <a:latin typeface="+mj-lt"/>
                  <a:cs typeface="+mj-lt"/>
                </a:rPr>
                <a:t>9 </a:t>
              </a:r>
              <a:r>
                <a:rPr lang="ru-RU" sz="2800" dirty="0">
                  <a:solidFill>
                    <a:schemeClr val="accent1"/>
                  </a:solidFill>
                  <a:latin typeface="+mj-lt"/>
                  <a:cs typeface="+mj-lt"/>
                </a:rPr>
                <a:t>банков</a:t>
              </a:r>
              <a:endParaRPr lang="ru-RU" sz="2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889000" y="2336800"/>
              <a:ext cx="29210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платят за подписку, ещё 6 в пилоте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10" name="kd1"/>
          <p:cNvCxnSpPr/>
          <p:nvPr/>
        </p:nvCxnSpPr>
        <p:spPr>
          <a:xfrm>
            <a:off x="889000" y="2921000"/>
            <a:ext cx="2794000" cy="0"/>
          </a:xfrm>
          <a:prstGeom prst="line">
            <a:avLst/>
          </a:prstGeom>
          <a:ln w="9525" cap="rnd">
            <a:solidFill>
              <a:srgbClr val="FFFFFF">
                <a:alpha val="30000"/>
              </a:srgbClr>
            </a:solidFill>
            <a:round/>
          </a:ln>
        </p:spPr>
      </p:cxnSp>
      <p:grpSp>
        <p:nvGrpSpPr>
          <p:cNvPr id="11" name="k2"/>
          <p:cNvGrpSpPr/>
          <p:nvPr/>
        </p:nvGrpSpPr>
        <p:grpSpPr>
          <a:xfrm>
            <a:off x="889000" y="3098800"/>
            <a:ext cx="2921000" cy="965200"/>
            <a:chOff x="889000" y="3098800"/>
            <a:chExt cx="2921000" cy="965200"/>
          </a:xfrm>
        </p:grpSpPr>
        <p:sp>
          <p:nvSpPr>
            <p:cNvPr id="12" name="text 12"/>
            <p:cNvSpPr txBox="1"/>
            <p:nvPr/>
          </p:nvSpPr>
          <p:spPr>
            <a:xfrm>
              <a:off x="889000" y="30988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rgbClr val="FFFFFF"/>
                  </a:solidFill>
                  <a:latin typeface="+mj-lt"/>
                  <a:cs typeface="+mj-lt"/>
                </a:rPr>
                <a:t>38 </a:t>
              </a:r>
              <a:r>
                <a:rPr lang="ru-RU" sz="2800" dirty="0">
                  <a:solidFill>
                    <a:schemeClr val="accent1"/>
                  </a:solidFill>
                  <a:latin typeface="+mj-lt"/>
                  <a:cs typeface="+mj-lt"/>
                </a:rPr>
                <a:t>млн </a:t>
              </a:r>
              <a:r>
                <a:rPr lang="ru-RU" sz="2800" dirty="0">
                  <a:solidFill>
                    <a:schemeClr val="accent1"/>
                  </a:solidFill>
                  <a:latin typeface="Segoe UI"/>
                  <a:cs typeface="Segoe UI"/>
                </a:rPr>
                <a:t>₽</a:t>
              </a:r>
              <a:endParaRPr lang="ru-RU" sz="2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889000" y="3657600"/>
              <a:ext cx="29210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годовая выручка по контрактам (ARR)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14" name="kd2"/>
          <p:cNvCxnSpPr/>
          <p:nvPr/>
        </p:nvCxnSpPr>
        <p:spPr>
          <a:xfrm>
            <a:off x="889000" y="4241800"/>
            <a:ext cx="2794000" cy="0"/>
          </a:xfrm>
          <a:prstGeom prst="line">
            <a:avLst/>
          </a:prstGeom>
          <a:ln w="9525" cap="rnd">
            <a:solidFill>
              <a:srgbClr val="FFFFFF">
                <a:alpha val="30000"/>
              </a:srgbClr>
            </a:solidFill>
            <a:round/>
          </a:ln>
        </p:spPr>
      </p:cxnSp>
      <p:grpSp>
        <p:nvGrpSpPr>
          <p:cNvPr id="15" name="k3"/>
          <p:cNvGrpSpPr/>
          <p:nvPr/>
        </p:nvGrpSpPr>
        <p:grpSpPr>
          <a:xfrm>
            <a:off x="889000" y="4419600"/>
            <a:ext cx="2921000" cy="965200"/>
            <a:chOff x="889000" y="4419600"/>
            <a:chExt cx="2921000" cy="965200"/>
          </a:xfrm>
        </p:grpSpPr>
        <p:sp>
          <p:nvSpPr>
            <p:cNvPr id="16" name="text 16"/>
            <p:cNvSpPr txBox="1"/>
            <p:nvPr/>
          </p:nvSpPr>
          <p:spPr>
            <a:xfrm>
              <a:off x="889000" y="4419600"/>
              <a:ext cx="29210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800" dirty="0">
                  <a:solidFill>
                    <a:srgbClr val="FFFFFF"/>
                  </a:solidFill>
                  <a:latin typeface="+mj-lt"/>
                  <a:cs typeface="+mj-lt"/>
                </a:rPr>
                <a:t>99,2 </a:t>
              </a:r>
              <a:r>
                <a:rPr lang="ru-RU" sz="2800" dirty="0">
                  <a:solidFill>
                    <a:schemeClr val="accent1"/>
                  </a:solidFill>
                  <a:latin typeface="+mj-lt"/>
                  <a:cs typeface="+mj-lt"/>
                </a:rPr>
                <a:t>%</a:t>
              </a:r>
              <a:endParaRPr lang="ru-RU" sz="28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889000" y="4978400"/>
              <a:ext cx="2921000" cy="40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200" dirty="0">
                  <a:solidFill>
                    <a:srgbClr val="FFFFFF">
                      <a:alpha val="75000"/>
                    </a:srgbClr>
                  </a:solidFill>
                  <a:latin typeface="+mn-lt"/>
                  <a:cs typeface="+mn-lt"/>
                </a:rPr>
                <a:t>точность сверки на 1,2 млн документов</a:t>
              </a:r>
              <a:endParaRPr lang="ru-RU" sz="1200" dirty="0">
                <a:solidFill>
                  <a:srgbClr val="FFFFFF">
                    <a:alpha val="75000"/>
                  </a:srgbClr>
                </a:solidFill>
                <a:latin typeface="+mn-lt"/>
                <a:cs typeface="+mn-lt"/>
              </a:endParaRPr>
            </a:p>
          </p:txBody>
        </p:sp>
      </p:grpSp>
      <p:sp>
        <p:nvSpPr>
          <p:cNvPr id="18" name="t-card"/>
          <p:cNvSpPr/>
          <p:nvPr/>
        </p:nvSpPr>
        <p:spPr>
          <a:xfrm>
            <a:off x="4191000" y="1727200"/>
            <a:ext cx="7112000" cy="38608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19" name="t-ctitle"/>
          <p:cNvSpPr txBox="1"/>
          <p:nvPr/>
        </p:nvSpPr>
        <p:spPr>
          <a:xfrm>
            <a:off x="4470400" y="1955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300" dirty="0">
                <a:solidFill>
                  <a:srgbClr val="FFFFFF"/>
                </a:solidFill>
                <a:latin typeface="+mj-lt"/>
                <a:cs typeface="+mj-lt"/>
              </a:rPr>
              <a:t>Проверено документов, тыс. в месяц</a:t>
            </a:r>
            <a:endParaRPr lang="ru-RU" sz="13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graphicFrame>
        <p:nvGraphicFramePr>
          <p:cNvPr id="20" name="t-chart"/>
          <p:cNvGraphicFramePr>
            <a:graphicFrameLocks noGrp="1"/>
          </p:cNvGraphicFramePr>
          <p:nvPr/>
        </p:nvGraphicFramePr>
        <p:xfrm>
          <a:off x="4368800" y="2336800"/>
          <a:ext cx="6756400" cy="309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1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22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23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05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24" name="t-src"/>
          <p:cNvSpPr txBox="1"/>
          <p:nvPr/>
        </p:nvSpPr>
        <p:spPr>
          <a:xfrm>
            <a:off x="5080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rgbClr val="FFFFFF">
                    <a:alpha val="55000"/>
                  </a:srgbClr>
                </a:solidFill>
                <a:latin typeface="+mn-lt"/>
                <a:cs typeface="+mn-lt"/>
              </a:rPr>
              <a:t>Цифры иллюстративные: данные за январь–сентябрь 2026 года</a:t>
            </a:r>
            <a:endParaRPr lang="ru-RU" sz="900" dirty="0">
              <a:solidFill>
                <a:srgbClr val="FFFFFF">
                  <a:alpha val="55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2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gradFill rotWithShape="1">
          <a:gsLst>
            <a:gs pos="0">
              <a:srgbClr val="0B1A8C"/>
            </a:gs>
            <a:gs pos="55000">
              <a:srgbClr val="0C1270"/>
            </a:gs>
            <a:gs pos="100000">
              <a:srgbClr val="0D0A5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b"/>
          <p:cNvSpPr/>
          <p:nvPr/>
        </p:nvSpPr>
        <p:spPr>
          <a:xfrm>
            <a:off x="3048000" y="-3302000"/>
            <a:ext cx="10414000" cy="7112000"/>
          </a:xfrm>
          <a:prstGeom prst="ellipse">
            <a:avLst/>
          </a:prstGeom>
          <a:gradFill rotWithShape="1">
            <a:gsLst>
              <a:gs pos="0">
                <a:srgbClr val="2E4BFF">
                  <a:alpha val="70000"/>
                </a:srgbClr>
              </a:gs>
              <a:gs pos="70000">
                <a:srgbClr val="2E4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blob-c"/>
          <p:cNvSpPr/>
          <p:nvPr/>
        </p:nvSpPr>
        <p:spPr>
          <a:xfrm>
            <a:off x="-1270000" y="1524000"/>
            <a:ext cx="9652000" cy="9906000"/>
          </a:xfrm>
          <a:prstGeom prst="ellipse">
            <a:avLst/>
          </a:prstGeom>
          <a:gradFill rotWithShape="1">
            <a:gsLst>
              <a:gs pos="0">
                <a:srgbClr val="19C9E0">
                  <a:alpha val="45000"/>
                </a:srgbClr>
              </a:gs>
              <a:gs pos="70000">
                <a:srgbClr val="19C9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4" name="blob-p"/>
          <p:cNvSpPr/>
          <p:nvPr/>
        </p:nvSpPr>
        <p:spPr>
          <a:xfrm>
            <a:off x="2540000" y="3810000"/>
            <a:ext cx="8128000" cy="5334000"/>
          </a:xfrm>
          <a:prstGeom prst="ellipse">
            <a:avLst/>
          </a:prstGeom>
          <a:gradFill rotWithShape="1">
            <a:gsLst>
              <a:gs pos="0">
                <a:srgbClr val="B24DFF">
                  <a:alpha val="40000"/>
                </a:srgbClr>
              </a:gs>
              <a:gs pos="70000">
                <a:srgbClr val="B2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5" name="blob-v"/>
          <p:cNvSpPr/>
          <p:nvPr/>
        </p:nvSpPr>
        <p:spPr>
          <a:xfrm>
            <a:off x="6604000" y="-508000"/>
            <a:ext cx="8890000" cy="10414000"/>
          </a:xfrm>
          <a:prstGeom prst="ellipse">
            <a:avLst/>
          </a:prstGeom>
          <a:gradFill rotWithShape="1">
            <a:gsLst>
              <a:gs pos="0">
                <a:srgbClr val="8A4DFF">
                  <a:alpha val="60000"/>
                </a:srgbClr>
              </a:gs>
              <a:gs pos="70000">
                <a:srgbClr val="8A4D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778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6" name="a-kicker"/>
          <p:cNvSpPr txBox="1"/>
          <p:nvPr/>
        </p:nvSpPr>
        <p:spPr>
          <a:xfrm>
            <a:off x="889000" y="63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spc="200" cap="all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rPr>
              <a:t>Pre-Series A · раунд открыт</a:t>
            </a:r>
            <a:endParaRPr lang="ru-RU" sz="1100" spc="200" cap="all" dirty="0">
              <a:solidFill>
                <a:srgbClr val="FFFFFF">
                  <a:alpha val="60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7" name="a-title"/>
          <p:cNvSpPr txBox="1"/>
          <p:nvPr/>
        </p:nvSpPr>
        <p:spPr>
          <a:xfrm>
            <a:off x="838200" y="9144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5000" dirty="0">
                <a:solidFill>
                  <a:srgbClr val="FFFFFF"/>
                </a:solidFill>
                <a:latin typeface="+mj-lt"/>
                <a:cs typeface="+mj-lt"/>
              </a:rPr>
              <a:t>300 </a:t>
            </a:r>
            <a:r>
              <a:rPr lang="ru-RU" sz="5000" dirty="0">
                <a:solidFill>
                  <a:schemeClr val="accent1"/>
                </a:solidFill>
                <a:latin typeface="+mj-lt"/>
                <a:cs typeface="+mj-lt"/>
              </a:rPr>
              <a:t>млн </a:t>
            </a:r>
            <a:r>
              <a:rPr lang="ru-RU" sz="5000" dirty="0">
                <a:solidFill>
                  <a:schemeClr val="accent1"/>
                </a:solidFill>
                <a:latin typeface="Segoe UI"/>
                <a:cs typeface="Segoe UI"/>
              </a:rPr>
              <a:t>₽</a:t>
            </a:r>
            <a:endParaRPr lang="ru-RU" sz="50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8" name="a-sub"/>
          <p:cNvSpPr txBox="1"/>
          <p:nvPr/>
        </p:nvSpPr>
        <p:spPr>
          <a:xfrm>
            <a:off x="889000" y="190500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ru-RU" sz="14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  <a:t>Цель на 18 месяцев: 25 банков-клиентов,</a:t>
            </a:r>
            <a:br>
              <a:rPr lang="ru-RU" sz="14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</a:br>
            <a:r>
              <a:rPr lang="ru-RU" sz="14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  <a:t>ARR 250 млн </a:t>
            </a:r>
            <a:r>
              <a:rPr lang="ru-RU" sz="1400" dirty="0">
                <a:solidFill>
                  <a:srgbClr val="FFFFFF">
                    <a:alpha val="80000"/>
                  </a:srgbClr>
                </a:solidFill>
                <a:latin typeface="Segoe UI"/>
                <a:cs typeface="Segoe UI"/>
              </a:rPr>
              <a:t>₽</a:t>
            </a:r>
            <a:r>
              <a:rPr lang="ru-RU" sz="14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rPr>
              <a:t> и выход в Казахстан</a:t>
            </a:r>
            <a:endParaRPr lang="ru-RU" sz="1400" dirty="0">
              <a:solidFill>
                <a:srgbClr val="FFFFFF">
                  <a:alpha val="80000"/>
                </a:srgbClr>
              </a:solidFill>
              <a:latin typeface="+mn-lt"/>
              <a:cs typeface="+mn-lt"/>
            </a:endParaRPr>
          </a:p>
        </p:txBody>
      </p:sp>
      <p:grpSp>
        <p:nvGrpSpPr>
          <p:cNvPr id="9" name="funds"/>
          <p:cNvGrpSpPr/>
          <p:nvPr/>
        </p:nvGrpSpPr>
        <p:grpSpPr>
          <a:xfrm>
            <a:off x="6858000" y="711200"/>
            <a:ext cx="4673600" cy="2286000"/>
            <a:chOff x="6858000" y="711200"/>
            <a:chExt cx="4673600" cy="2286000"/>
          </a:xfrm>
        </p:grpSpPr>
        <p:graphicFrame>
          <p:nvGraphicFramePr>
            <p:cNvPr id="10" name="chart 10"/>
            <p:cNvGraphicFramePr>
              <a:graphicFrameLocks noGrp="1"/>
            </p:cNvGraphicFramePr>
            <p:nvPr/>
          </p:nvGraphicFramePr>
          <p:xfrm>
            <a:off x="6858000" y="711200"/>
            <a:ext cx="2286000" cy="2286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1" name="shape 11"/>
            <p:cNvSpPr/>
            <p:nvPr/>
          </p:nvSpPr>
          <p:spPr>
            <a:xfrm>
              <a:off x="9398000" y="1219200"/>
              <a:ext cx="127000" cy="127000"/>
            </a:xfrm>
            <a:prstGeom prst="ellipse">
              <a:avLst/>
            </a:prstGeom>
            <a:solidFill>
              <a:srgbClr val="19E3D6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9626600" y="116840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Разработка 45 %</a:t>
              </a:r>
              <a:endParaRPr lang="ru-RU" sz="12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13" name="shape 13"/>
            <p:cNvSpPr/>
            <p:nvPr/>
          </p:nvSpPr>
          <p:spPr>
            <a:xfrm>
              <a:off x="9398000" y="1498600"/>
              <a:ext cx="127000" cy="12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9626600" y="144780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Продажи 30 %</a:t>
              </a:r>
              <a:endParaRPr lang="ru-RU" sz="12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15" name="shape 15"/>
            <p:cNvSpPr/>
            <p:nvPr/>
          </p:nvSpPr>
          <p:spPr>
            <a:xfrm>
              <a:off x="9398000" y="1778000"/>
              <a:ext cx="127000" cy="127000"/>
            </a:xfrm>
            <a:prstGeom prst="ellipse">
              <a:avLst/>
            </a:prstGeom>
            <a:solidFill>
              <a:srgbClr val="14B8C4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9626600" y="172720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Инфраструктура 15 %</a:t>
              </a:r>
              <a:endParaRPr lang="ru-RU" sz="12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17" name="shape 17"/>
            <p:cNvSpPr/>
            <p:nvPr/>
          </p:nvSpPr>
          <p:spPr>
            <a:xfrm>
              <a:off x="9398000" y="2057400"/>
              <a:ext cx="127000" cy="127000"/>
            </a:xfrm>
            <a:prstGeom prst="ellipse">
              <a:avLst/>
            </a:prstGeom>
            <a:solidFill>
              <a:srgbClr val="8A4DFF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9626600" y="200660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2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Резерв 10 %</a:t>
              </a:r>
              <a:endParaRPr lang="ru-RU" sz="12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19" name="a-div"/>
          <p:cNvCxnSpPr/>
          <p:nvPr/>
        </p:nvCxnSpPr>
        <p:spPr>
          <a:xfrm>
            <a:off x="889000" y="3327400"/>
            <a:ext cx="10414000" cy="0"/>
          </a:xfrm>
          <a:prstGeom prst="line">
            <a:avLst/>
          </a:prstGeom>
          <a:ln w="9525" cap="rnd">
            <a:solidFill>
              <a:srgbClr val="FFFFFF">
                <a:alpha val="30000"/>
              </a:srgbClr>
            </a:solidFill>
            <a:round/>
          </a:ln>
        </p:spPr>
      </p:cxnSp>
      <p:sp>
        <p:nvSpPr>
          <p:cNvPr id="20" name="a-team"/>
          <p:cNvSpPr txBox="1"/>
          <p:nvPr/>
        </p:nvSpPr>
        <p:spPr>
          <a:xfrm>
            <a:off x="889000" y="3505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100" spc="200" cap="all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rPr>
              <a:t>Команда</a:t>
            </a:r>
            <a:endParaRPr lang="ru-RU" sz="1100" spc="200" cap="all" dirty="0">
              <a:solidFill>
                <a:srgbClr val="FFFFFF">
                  <a:alpha val="60000"/>
                </a:srgbClr>
              </a:solidFill>
              <a:latin typeface="+mn-lt"/>
              <a:cs typeface="+mn-lt"/>
            </a:endParaRPr>
          </a:p>
        </p:txBody>
      </p:sp>
      <p:grpSp>
        <p:nvGrpSpPr>
          <p:cNvPr id="21" name="m1"/>
          <p:cNvGrpSpPr/>
          <p:nvPr/>
        </p:nvGrpSpPr>
        <p:grpSpPr>
          <a:xfrm>
            <a:off x="889000" y="3937000"/>
            <a:ext cx="3251200" cy="736600"/>
            <a:chOff x="889000" y="3937000"/>
            <a:chExt cx="3251200" cy="736600"/>
          </a:xfrm>
        </p:grpSpPr>
        <p:sp>
          <p:nvSpPr>
            <p:cNvPr id="22" name="shape 22"/>
            <p:cNvSpPr/>
            <p:nvPr/>
          </p:nvSpPr>
          <p:spPr>
            <a:xfrm>
              <a:off x="889000" y="3937000"/>
              <a:ext cx="660400" cy="66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400" dirty="0">
                  <a:solidFill>
                    <a:srgbClr val="0A0F5C"/>
                  </a:solidFill>
                  <a:latin typeface="+mj-lt"/>
                  <a:cs typeface="+mj-lt"/>
                </a:rPr>
                <a:t>АК</a:t>
              </a:r>
              <a:endParaRPr lang="ru-RU" sz="1400" dirty="0">
                <a:solidFill>
                  <a:srgbClr val="0A0F5C"/>
                </a:solidFill>
                <a:latin typeface="+mj-lt"/>
                <a:cs typeface="+mj-lt"/>
              </a:endParaRPr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1727200" y="3962400"/>
              <a:ext cx="2413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b="1" dirty="0">
                  <a:solidFill>
                    <a:srgbClr val="FFFFFF"/>
                  </a:solidFill>
                  <a:latin typeface="+mn-lt"/>
                  <a:cs typeface="+mn-lt"/>
                </a:rPr>
                <a:t>Анна Котова</a:t>
              </a:r>
              <a:endParaRPr lang="ru-RU" sz="14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1727200" y="4241800"/>
              <a:ext cx="24130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CEO · ex-Сбер</a:t>
              </a:r>
              <a:b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</a:b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8 лет в риск-менеджменте</a:t>
              </a:r>
              <a:endParaRPr lang="ru-RU" sz="11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5" name="m2"/>
          <p:cNvGrpSpPr/>
          <p:nvPr/>
        </p:nvGrpSpPr>
        <p:grpSpPr>
          <a:xfrm>
            <a:off x="4445000" y="3937000"/>
            <a:ext cx="3378200" cy="736600"/>
            <a:chOff x="4445000" y="3937000"/>
            <a:chExt cx="3378200" cy="736600"/>
          </a:xfrm>
        </p:grpSpPr>
        <p:sp>
          <p:nvSpPr>
            <p:cNvPr id="26" name="shape 26"/>
            <p:cNvSpPr/>
            <p:nvPr/>
          </p:nvSpPr>
          <p:spPr>
            <a:xfrm>
              <a:off x="4445000" y="3937000"/>
              <a:ext cx="660400" cy="66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400" dirty="0">
                  <a:solidFill>
                    <a:srgbClr val="0A0F5C"/>
                  </a:solidFill>
                  <a:latin typeface="+mj-lt"/>
                  <a:cs typeface="+mj-lt"/>
                </a:rPr>
                <a:t>ИЛ</a:t>
              </a:r>
              <a:endParaRPr lang="ru-RU" sz="1400" dirty="0">
                <a:solidFill>
                  <a:srgbClr val="0A0F5C"/>
                </a:solidFill>
                <a:latin typeface="+mj-lt"/>
                <a:cs typeface="+mj-lt"/>
              </a:endParaRPr>
            </a:p>
          </p:txBody>
        </p:sp>
        <p:sp>
          <p:nvSpPr>
            <p:cNvPr id="27" name="text 27"/>
            <p:cNvSpPr txBox="1"/>
            <p:nvPr/>
          </p:nvSpPr>
          <p:spPr>
            <a:xfrm>
              <a:off x="5283200" y="3962400"/>
              <a:ext cx="2540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b="1" dirty="0">
                  <a:solidFill>
                    <a:srgbClr val="FFFFFF"/>
                  </a:solidFill>
                  <a:latin typeface="+mn-lt"/>
                  <a:cs typeface="+mn-lt"/>
                </a:rPr>
                <a:t>Илья Ларин</a:t>
              </a:r>
              <a:endParaRPr lang="ru-RU" sz="14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28" name="text 28"/>
            <p:cNvSpPr txBox="1"/>
            <p:nvPr/>
          </p:nvSpPr>
          <p:spPr>
            <a:xfrm>
              <a:off x="5283200" y="4241800"/>
              <a:ext cx="25400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CTO · ex-Яндекс</a:t>
              </a:r>
              <a:b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</a:b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руководил командой OCR</a:t>
              </a:r>
              <a:endParaRPr lang="ru-RU" sz="11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9" name="m3"/>
          <p:cNvGrpSpPr/>
          <p:nvPr/>
        </p:nvGrpSpPr>
        <p:grpSpPr>
          <a:xfrm>
            <a:off x="8001000" y="3937000"/>
            <a:ext cx="3378200" cy="736600"/>
            <a:chOff x="8001000" y="3937000"/>
            <a:chExt cx="3378200" cy="736600"/>
          </a:xfrm>
        </p:grpSpPr>
        <p:sp>
          <p:nvSpPr>
            <p:cNvPr id="30" name="shape 30"/>
            <p:cNvSpPr/>
            <p:nvPr/>
          </p:nvSpPr>
          <p:spPr>
            <a:xfrm>
              <a:off x="8001000" y="3937000"/>
              <a:ext cx="660400" cy="660400"/>
            </a:xfrm>
            <a:prstGeom prst="ellipse">
              <a:avLst/>
            </a:prstGeom>
            <a:solidFill>
              <a:srgbClr val="14B8C4"/>
            </a:solidFill>
            <a:ln>
              <a:noFill/>
            </a:ln>
          </p:spPr>
          <p:txBody>
            <a:bodyPr wrap="none" lIns="91440" tIns="45720" rIns="91440" bIns="45720" anchor="ctr" rtlCol="0">
              <a:noAutofit/>
            </a:bodyPr>
            <a:lstStyle/>
            <a:p>
              <a:pPr algn="ctr">
                <a:buNone/>
              </a:pPr>
              <a:r>
                <a:rPr lang="ru-RU" sz="1400" dirty="0">
                  <a:solidFill>
                    <a:srgbClr val="0A0F5C"/>
                  </a:solidFill>
                  <a:latin typeface="+mj-lt"/>
                  <a:cs typeface="+mj-lt"/>
                </a:rPr>
                <a:t>МР</a:t>
              </a:r>
              <a:endParaRPr lang="ru-RU" sz="1400" dirty="0">
                <a:solidFill>
                  <a:srgbClr val="0A0F5C"/>
                </a:solidFill>
                <a:latin typeface="+mj-lt"/>
                <a:cs typeface="+mj-lt"/>
              </a:endParaRPr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8839200" y="3962400"/>
              <a:ext cx="2540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b="1" dirty="0">
                  <a:solidFill>
                    <a:srgbClr val="FFFFFF"/>
                  </a:solidFill>
                  <a:latin typeface="+mn-lt"/>
                  <a:cs typeface="+mn-lt"/>
                </a:rPr>
                <a:t>Марат Рахимов</a:t>
              </a:r>
              <a:endParaRPr lang="ru-RU" sz="14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2" name="text 32"/>
            <p:cNvSpPr txBox="1"/>
            <p:nvPr/>
          </p:nvSpPr>
          <p:spPr>
            <a:xfrm>
              <a:off x="8839200" y="4241800"/>
              <a:ext cx="25400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CPO · ex-Тинькофф</a:t>
              </a:r>
              <a:b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</a:br>
              <a:r>
                <a:rPr lang="ru-RU" sz="110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запускал онлайн-кредиты</a:t>
              </a:r>
              <a:endParaRPr lang="ru-RU" sz="11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3" name="contact"/>
          <p:cNvGrpSpPr/>
          <p:nvPr/>
        </p:nvGrpSpPr>
        <p:grpSpPr>
          <a:xfrm>
            <a:off x="889000" y="5321300"/>
            <a:ext cx="9982200" cy="241300"/>
            <a:chOff x="889000" y="5321300"/>
            <a:chExt cx="9982200" cy="241300"/>
          </a:xfrm>
        </p:grpSpPr>
        <p:sp>
          <p:nvSpPr>
            <p:cNvPr id="34" name="icon 34"/>
            <p:cNvSpPr/>
            <p:nvPr/>
          </p:nvSpPr>
          <p:spPr>
            <a:xfrm>
              <a:off x="889000" y="53213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2000" y="7000"/>
                  </a:moveTo>
                  <a:lnTo>
                    <a:pt x="13009" y="12727"/>
                  </a:lnTo>
                  <a:cubicBezTo>
                    <a:pt x="12388" y="13088"/>
                    <a:pt x="11621" y="13088"/>
                    <a:pt x="11000" y="12727"/>
                  </a:cubicBezTo>
                  <a:lnTo>
                    <a:pt x="2000" y="7000"/>
                  </a:lnTo>
                </a:path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1105" y="4000"/>
                    <a:pt x="22000" y="4895"/>
                    <a:pt x="22000" y="6000"/>
                  </a:cubicBezTo>
                  <a:lnTo>
                    <a:pt x="22000" y="18000"/>
                  </a:lnTo>
                  <a:cubicBezTo>
                    <a:pt x="22000" y="19105"/>
                    <a:pt x="21105" y="20000"/>
                    <a:pt x="20000" y="20000"/>
                  </a:cubicBezTo>
                  <a:lnTo>
                    <a:pt x="4000" y="20000"/>
                  </a:lnTo>
                  <a:cubicBezTo>
                    <a:pt x="2895" y="20000"/>
                    <a:pt x="2000" y="19105"/>
                    <a:pt x="2000" y="18000"/>
                  </a:cubicBezTo>
                  <a:lnTo>
                    <a:pt x="2000" y="6000"/>
                  </a:lnTo>
                  <a:cubicBezTo>
                    <a:pt x="2000" y="4895"/>
                    <a:pt x="2895" y="4000"/>
                    <a:pt x="4000" y="4000"/>
                  </a:cubicBezTo>
                  <a:close/>
                </a:path>
              </a:pathLst>
            </a:custGeom>
            <a:noFill/>
            <a:ln w="16669" cap="rnd">
              <a:solidFill>
                <a:schemeClr val="accent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1219200" y="5334000"/>
              <a:ext cx="279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rgbClr val="FFFFFF"/>
                  </a:solidFill>
                  <a:latin typeface="+mn-lt"/>
                  <a:cs typeface="+mn-lt"/>
                </a:rPr>
                <a:t>invest@neuron-ai.ru</a:t>
              </a:r>
              <a:endParaRPr lang="ru-RU" sz="1300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6" name="icon 36"/>
            <p:cNvSpPr/>
            <p:nvPr/>
          </p:nvSpPr>
          <p:spPr>
            <a:xfrm>
              <a:off x="4445000" y="53213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2000"/>
                  </a:moveTo>
                  <a:cubicBezTo>
                    <a:pt x="6667" y="7600"/>
                    <a:pt x="6667" y="16400"/>
                    <a:pt x="12000" y="22000"/>
                  </a:cubicBezTo>
                  <a:cubicBezTo>
                    <a:pt x="17333" y="16400"/>
                    <a:pt x="17333" y="7600"/>
                    <a:pt x="12000" y="2000"/>
                  </a:cubicBezTo>
                </a:path>
                <a:path w="24000" h="24000" fill="none">
                  <a:moveTo>
                    <a:pt x="2000" y="12000"/>
                  </a:moveTo>
                  <a:lnTo>
                    <a:pt x="22000" y="12000"/>
                  </a:lnTo>
                </a:path>
              </a:pathLst>
            </a:custGeom>
            <a:noFill/>
            <a:ln w="16669" cap="rnd">
              <a:solidFill>
                <a:schemeClr val="accent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4775200" y="5334000"/>
              <a:ext cx="254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rgbClr val="FFFFFF"/>
                  </a:solidFill>
                  <a:latin typeface="+mn-lt"/>
                  <a:cs typeface="+mn-lt"/>
                </a:rPr>
                <a:t>neuron-ai.ru</a:t>
              </a:r>
              <a:endParaRPr lang="ru-RU" sz="1300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8" name="icon 38"/>
            <p:cNvSpPr/>
            <p:nvPr/>
          </p:nvSpPr>
          <p:spPr>
            <a:xfrm>
              <a:off x="8001000" y="53213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3832" y="16568"/>
                  </a:moveTo>
                  <a:cubicBezTo>
                    <a:pt x="14257" y="16763"/>
                    <a:pt x="14761" y="16637"/>
                    <a:pt x="15045" y="16265"/>
                  </a:cubicBezTo>
                  <a:lnTo>
                    <a:pt x="15400" y="15800"/>
                  </a:lnTo>
                  <a:cubicBezTo>
                    <a:pt x="15778" y="15296"/>
                    <a:pt x="16370" y="15000"/>
                    <a:pt x="17000" y="15000"/>
                  </a:cubicBezTo>
                  <a:lnTo>
                    <a:pt x="20000" y="15000"/>
                  </a:lnTo>
                  <a:cubicBezTo>
                    <a:pt x="21105" y="15000"/>
                    <a:pt x="22000" y="15895"/>
                    <a:pt x="22000" y="17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cubicBezTo>
                    <a:pt x="10059" y="22000"/>
                    <a:pt x="2000" y="13941"/>
                    <a:pt x="2000" y="4000"/>
                  </a:cubicBezTo>
                  <a:cubicBezTo>
                    <a:pt x="2000" y="2895"/>
                    <a:pt x="2895" y="2000"/>
                    <a:pt x="4000" y="2000"/>
                  </a:cubicBezTo>
                  <a:lnTo>
                    <a:pt x="7000" y="2000"/>
                  </a:lnTo>
                  <a:cubicBezTo>
                    <a:pt x="8105" y="2000"/>
                    <a:pt x="9000" y="2895"/>
                    <a:pt x="9000" y="4000"/>
                  </a:cubicBezTo>
                  <a:lnTo>
                    <a:pt x="9000" y="7000"/>
                  </a:lnTo>
                  <a:cubicBezTo>
                    <a:pt x="9000" y="7630"/>
                    <a:pt x="8704" y="8222"/>
                    <a:pt x="8200" y="8600"/>
                  </a:cubicBezTo>
                  <a:lnTo>
                    <a:pt x="7732" y="8951"/>
                  </a:lnTo>
                  <a:cubicBezTo>
                    <a:pt x="7353" y="9240"/>
                    <a:pt x="7231" y="9756"/>
                    <a:pt x="7440" y="10184"/>
                  </a:cubicBezTo>
                  <a:cubicBezTo>
                    <a:pt x="8807" y="12960"/>
                    <a:pt x="11054" y="15205"/>
                    <a:pt x="13832" y="16568"/>
                  </a:cubicBezTo>
                </a:path>
              </a:pathLst>
            </a:custGeom>
            <a:noFill/>
            <a:ln w="16669" cap="rnd">
              <a:solidFill>
                <a:schemeClr val="accent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text 39"/>
            <p:cNvSpPr txBox="1"/>
            <p:nvPr/>
          </p:nvSpPr>
          <p:spPr>
            <a:xfrm>
              <a:off x="8331200" y="5334000"/>
              <a:ext cx="254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300" dirty="0">
                  <a:solidFill>
                    <a:srgbClr val="FFFFFF"/>
                  </a:solidFill>
                  <a:latin typeface="+mn-lt"/>
                  <a:cs typeface="+mn-lt"/>
                </a:rPr>
                <a:t>+7 495 120-45-67</a:t>
              </a:r>
              <a:endParaRPr lang="ru-RU" sz="1300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</p:grpSp>
      <p:cxnSp>
        <p:nvCxnSpPr>
          <p:cNvPr id="40" name="rule"/>
          <p:cNvCxnSpPr/>
          <p:nvPr/>
        </p:nvCxnSpPr>
        <p:spPr>
          <a:xfrm>
            <a:off x="2032000" y="6121400"/>
            <a:ext cx="8763000" cy="0"/>
          </a:xfrm>
          <a:prstGeom prst="line">
            <a:avLst/>
          </a:prstGeom>
          <a:ln w="9525" cap="rnd">
            <a:solidFill>
              <a:srgbClr val="FFFFFF">
                <a:alpha val="80000"/>
              </a:srgbClr>
            </a:solidFill>
            <a:round/>
          </a:ln>
        </p:spPr>
      </p:cxnSp>
      <p:sp>
        <p:nvSpPr>
          <p:cNvPr id="41" name="brand"/>
          <p:cNvSpPr txBox="1"/>
          <p:nvPr/>
        </p:nvSpPr>
        <p:spPr>
          <a:xfrm>
            <a:off x="508000" y="60198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FFFFFF"/>
                </a:solidFill>
                <a:latin typeface="+mn-lt"/>
                <a:cs typeface="+mn-lt"/>
              </a:rPr>
              <a:t>Нейрон AI</a:t>
            </a:r>
            <a:endParaRPr lang="ru-RU" sz="1000" dirty="0">
              <a:solidFill>
                <a:srgbClr val="FFFFFF"/>
              </a:solidFill>
              <a:latin typeface="+mn-lt"/>
              <a:cs typeface="+mn-lt"/>
            </a:endParaRPr>
          </a:p>
        </p:txBody>
      </p:sp>
      <p:sp>
        <p:nvSpPr>
          <p:cNvPr id="42" name="pg"/>
          <p:cNvSpPr txBox="1"/>
          <p:nvPr/>
        </p:nvSpPr>
        <p:spPr>
          <a:xfrm>
            <a:off x="10922000" y="6019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rPr>
              <a:t>06 / 06</a:t>
            </a:r>
            <a:endParaRPr lang="ru-RU" sz="1000" dirty="0">
              <a:solidFill>
                <a:srgbClr val="FFFFFF">
                  <a:alpha val="70000"/>
                </a:srgbClr>
              </a:solidFill>
              <a:latin typeface="+mn-lt"/>
              <a:cs typeface="+mn-lt"/>
            </a:endParaRPr>
          </a:p>
        </p:txBody>
      </p:sp>
      <p:sp>
        <p:nvSpPr>
          <p:cNvPr id="43" name="a-src"/>
          <p:cNvSpPr txBox="1"/>
          <p:nvPr/>
        </p:nvSpPr>
        <p:spPr>
          <a:xfrm>
            <a:off x="5080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00" dirty="0">
                <a:solidFill>
                  <a:srgbClr val="FFFFFF">
                    <a:alpha val="55000"/>
                  </a:srgbClr>
                </a:solidFill>
                <a:latin typeface="+mn-lt"/>
                <a:cs typeface="+mn-lt"/>
              </a:rPr>
              <a:t>Цифры и контакты иллюстративные</a:t>
            </a:r>
            <a:endParaRPr lang="ru-RU" sz="900" dirty="0">
              <a:solidFill>
                <a:srgbClr val="FFFFFF">
                  <a:alpha val="55000"/>
                </a:srgbClr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SlideML">
  <a:themeElements>
    <a:clrScheme name="SlideML">
      <a:dk1>
        <a:srgbClr val="0A0F5C"/>
      </a:dk1>
      <a:lt1>
        <a:srgbClr val="FFFFFF"/>
      </a:lt1>
      <a:dk2>
        <a:srgbClr val="0B1A8C"/>
      </a:dk2>
      <a:lt2>
        <a:srgbClr val="C9D2FF"/>
      </a:lt2>
      <a:accent1>
        <a:srgbClr val="19E3D6"/>
      </a:accent1>
      <a:accent2>
        <a:srgbClr val="14B8C4"/>
      </a:accent2>
      <a:accent3>
        <a:srgbClr val="2E5BFF"/>
      </a:accent3>
      <a:accent4>
        <a:srgbClr val="8A4DFF"/>
      </a:accent4>
      <a:accent5>
        <a:srgbClr val="9AA6FF"/>
      </a:accent5>
      <a:accent6>
        <a:srgbClr val="FFC75A"/>
      </a:accent6>
      <a:hlink>
        <a:srgbClr val="2F6BFF"/>
      </a:hlink>
      <a:folHlink>
        <a:srgbClr val="8B5CF6"/>
      </a:folHlink>
    </a:clrScheme>
    <a:fontScheme name="SlideML">
      <a:majorFont>
        <a:latin typeface="Unbounded"/>
        <a:ea typeface=""/>
        <a:cs typeface=""/>
      </a:majorFont>
      <a:minorFont>
        <a:latin typeface="Manrope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6</Slides>
</Properties>
</file>

<file path=docProps/core.xml><?xml version="1.0" encoding="utf-8"?>
<cp:coreProperties xmlns:cp="http://schemas.openxmlformats.org/package/2006/metadata/core-properties" xmlns:dc="http://purl.org/dc/elements/1.1/">
  <dc:title>deck</dc:title>
  <dc:creator>SlideML</dc:creator>
</cp:coreProperties>
</file>