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xlsx" ContentType="application/vnd.openxmlformats-officedocument.spreadsheetml.sheet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0866"/>
          <c:y val="0.07943"/>
          <c:w val="0.98268"/>
          <c:h val="0.8383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ГВт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alpha val="16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tx1">
                  <a:alpha val="16000"/>
                </a:schemeClr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tx1">
                  <a:alpha val="16000"/>
                </a:schemeClr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chemeClr val="tx1">
                  <a:alpha val="16000"/>
                </a:schemeClr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chemeClr val="tx1">
                  <a:alpha val="16000"/>
                </a:schemeClr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chemeClr val="tx1"/>
                    </a:solidFill>
                    <a:latin typeface="Inter"/>
                    <a:cs typeface="Inter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140</c:v>
                </c:pt>
                <c:pt idx="1">
                  <c:v>182</c:v>
                </c:pt>
                <c:pt idx="2">
                  <c:v>245</c:v>
                </c:pt>
                <c:pt idx="3">
                  <c:v>350</c:v>
                </c:pt>
                <c:pt idx="4">
                  <c:v>450</c:v>
                </c:pt>
                <c:pt idx="5">
                  <c:v>590</c:v>
                </c:pt>
              </c:numCache>
            </c:numRef>
          </c:val>
        </c:ser>
        <c:gapWidth val="45"/>
        <c:overlap val="-1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chemeClr val="tx1">
                <a:alpha val="25000"/>
              </a:schemeClr>
            </a:solidFill>
          </a:ln>
        </c:spPr>
        <c:txPr>
          <a:bodyPr/>
          <a:lstStyle/>
          <a:p>
            <a:pPr>
              <a:defRPr sz="1100" b="0">
                <a:solidFill>
                  <a:schemeClr val="tx1">
                    <a:alpha val="60000"/>
                  </a:schemeClr>
                </a:solidFill>
                <a:latin typeface="Inter"/>
                <a:cs typeface="Inter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60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100" b="0">
                <a:solidFill>
                  <a:schemeClr val="tx1">
                    <a:alpha val="60000"/>
                  </a:schemeClr>
                </a:solidFill>
                <a:latin typeface="Inter"/>
                <a:cs typeface="Inter"/>
              </a:defRPr>
            </a:pPr>
            <a:endParaRPr lang="ru-RU"/>
          </a:p>
        </c:txPr>
        <c:crossAx val="500000001"/>
        <c:crosses val="autoZero"/>
        <c:crossBetween val="between"/>
        <c:majorUnit val="2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100" b="0">
          <a:solidFill>
            <a:schemeClr val="tx1">
              <a:alpha val="60000"/>
            </a:schemeClr>
          </a:solidFill>
          <a:latin typeface="Inter"/>
          <a:cs typeface="Inter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1333"/>
          <c:y val="0.01333"/>
          <c:w val="0.97333"/>
          <c:h val="0.9733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tx1">
                  <a:alpha val="14000"/>
                </a:schemeClr>
              </a:solidFill>
              <a:ln w="19050">
                <a:solidFill>
                  <a:schemeClr val="bg1"/>
                </a:solidFill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Солнце</c:v>
                </c:pt>
                <c:pt idx="1">
                  <c:v>Ветер</c:v>
                </c:pt>
                <c:pt idx="2">
                  <c:v>Гидро</c:v>
                </c:pt>
                <c:pt idx="3">
                  <c:v>Прочее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24</c:v>
                </c:pt>
                <c:pt idx="2">
                  <c:v>21</c:v>
                </c:pt>
                <c:pt idx="3">
                  <c:v>24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Inter"/>
          <a:cs typeface="Inter"/>
        </a:defRPr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 descr="Солнечные панели на крыше на закате"/>
          <p:cNvPicPr>
            <a:picLocks noChangeAspect="1"/>
          </p:cNvPicPr>
          <p:nvPr/>
        </p:nvPicPr>
        <p:blipFill>
          <a:blip r:embed="rId2"/>
          <a:srcRect t="5914" b="109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220">
                  <a:alpha val="94000"/>
                </a:srgbClr>
              </a:gs>
              <a:gs pos="42000">
                <a:srgbClr val="0B1220">
                  <a:alpha val="75000"/>
                </a:srgbClr>
              </a:gs>
              <a:gs pos="80000">
                <a:srgbClr val="0B122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4" name="kicker"/>
          <p:cNvSpPr txBox="1"/>
          <p:nvPr/>
        </p:nvSpPr>
        <p:spPr>
          <a:xfrm>
            <a:off x="812800" y="1625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b="1" spc="300" cap="all" dirty="0">
                <a:solidFill>
                  <a:schemeClr val="accent1"/>
                </a:solidFill>
                <a:latin typeface="+mn-lt"/>
                <a:cs typeface="+mn-lt"/>
              </a:rPr>
              <a:t>Отчёт · Энергетика 2026</a:t>
            </a:r>
            <a:endParaRPr lang="ru-RU" sz="1100" b="1" spc="300" cap="all" dirty="0">
              <a:solidFill>
                <a:schemeClr val="accent1"/>
              </a:solidFill>
              <a:latin typeface="+mn-lt"/>
              <a:cs typeface="+mn-lt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812800" y="1955800"/>
            <a:ext cx="7112000" cy="236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5000"/>
              </a:lnSpc>
              <a:buNone/>
            </a:pPr>
            <a:r>
              <a:rPr lang="ru-RU" sz="5000" dirty="0">
                <a:solidFill>
                  <a:srgbClr val="FFFFFF"/>
                </a:solidFill>
                <a:latin typeface="+mj-lt"/>
                <a:cs typeface="+mj-lt"/>
              </a:rPr>
              <a:t>Солнце стало главным источником новой энергии</a:t>
            </a:r>
            <a:endParaRPr lang="ru-RU" sz="50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812800" y="4470400"/>
            <a:ext cx="558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ru-RU" sz="15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rPr>
              <a:t>Как за пять лет солнечная генерация обогнала уголь, газ и ветер по вводу мощностей</a:t>
            </a:r>
            <a:endParaRPr lang="ru-RU" sz="1500" dirty="0">
              <a:solidFill>
                <a:srgbClr val="FFFFFF">
                  <a:alpha val="75000"/>
                </a:srgbClr>
              </a:solidFill>
              <a:latin typeface="+mn-lt"/>
              <a:cs typeface="+mn-lt"/>
            </a:endParaRPr>
          </a:p>
        </p:txBody>
      </p:sp>
      <p:sp>
        <p:nvSpPr>
          <p:cNvPr id="7" name="rule"/>
          <p:cNvSpPr/>
          <p:nvPr/>
        </p:nvSpPr>
        <p:spPr>
          <a:xfrm>
            <a:off x="812800" y="5918200"/>
            <a:ext cx="508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8" name="foot"/>
          <p:cNvSpPr txBox="1"/>
          <p:nvPr/>
        </p:nvSpPr>
        <p:spPr>
          <a:xfrm>
            <a:off x="1473200" y="58293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rgbClr val="FFFFFF">
                    <a:alpha val="55000"/>
                  </a:srgbClr>
                </a:solidFill>
                <a:latin typeface="+mn-lt"/>
                <a:cs typeface="+mn-lt"/>
              </a:rPr>
              <a:t>SlideML · демо-презентация · данные условные</a:t>
            </a:r>
            <a:endParaRPr lang="ru-RU" sz="1000" dirty="0">
              <a:solidFill>
                <a:srgbClr val="FFFFFF">
                  <a:alpha val="55000"/>
                </a:srgb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med" p14:dur="8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 descr="Солнечные панели на крыше на закате"/>
          <p:cNvPicPr>
            <a:picLocks noChangeAspect="1"/>
          </p:cNvPicPr>
          <p:nvPr/>
        </p:nvPicPr>
        <p:blipFill>
          <a:blip r:embed="rId2"/>
          <a:srcRect l="27332" r="16752"/>
          <a:stretch>
            <a:fillRect/>
          </a:stretch>
        </p:blipFill>
        <p:spPr>
          <a:xfrm>
            <a:off x="508000" y="508000"/>
            <a:ext cx="4826000" cy="5842000"/>
          </a:xfrm>
          <a:prstGeom prst="roundRect">
            <a:avLst>
              <a:gd name="adj" fmla="val 4737"/>
            </a:avLst>
          </a:prstGeom>
        </p:spPr>
      </p:pic>
      <p:sp>
        <p:nvSpPr>
          <p:cNvPr id="3" name="badge"/>
          <p:cNvSpPr/>
          <p:nvPr/>
        </p:nvSpPr>
        <p:spPr>
          <a:xfrm>
            <a:off x="812800" y="4978400"/>
            <a:ext cx="2235200" cy="106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55600" dist="101600" dir="5400000" algn="tl" rotWithShape="0">
              <a:srgbClr val="000000">
                <a:alpha val="14000"/>
              </a:srgbClr>
            </a:outerShdw>
          </a:effectLst>
        </p:spPr>
        <p:txBody>
          <a:bodyPr wrap="square" lIns="228600" tIns="152400" rIns="228600" bIns="152400" anchor="ctr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3000" dirty="0">
                <a:solidFill>
                  <a:schemeClr val="tx1"/>
                </a:solidFill>
                <a:latin typeface="+mj-lt"/>
                <a:cs typeface="+mj-lt"/>
              </a:rPr>
              <a:t>×4,2</a:t>
            </a:r>
            <a:endParaRPr lang="ru-RU" sz="3000" dirty="0">
              <a:solidFill>
                <a:schemeClr val="tx1"/>
              </a:solidFill>
              <a:latin typeface="+mj-lt"/>
              <a:cs typeface="+mj-lt"/>
            </a:endParaRPr>
          </a:p>
          <a:p>
            <a:pPr>
              <a:spcBef>
                <a:spcPts val="400"/>
              </a:spcBef>
              <a:buNone/>
            </a:pPr>
            <a:r>
              <a:rPr lang="ru-RU" sz="1100" dirty="0">
                <a:solidFill>
                  <a:schemeClr val="tx1">
                    <a:alpha val="60000"/>
                  </a:schemeClr>
                </a:solidFill>
                <a:latin typeface="+mn-lt"/>
                <a:cs typeface="+mn-lt"/>
              </a:rPr>
              <a:t>рост ввода с 2020 года</a:t>
            </a:r>
            <a:endParaRPr lang="ru-RU" sz="1100" dirty="0">
              <a:solidFill>
                <a:schemeClr val="tx1">
                  <a:alpha val="60000"/>
                </a:schemeClr>
              </a:solidFill>
              <a:latin typeface="+mn-lt"/>
              <a:cs typeface="+mn-lt"/>
            </a:endParaRPr>
          </a:p>
        </p:txBody>
      </p:sp>
      <p:sp>
        <p:nvSpPr>
          <p:cNvPr id="4" name="eyebrow"/>
          <p:cNvSpPr txBox="1"/>
          <p:nvPr/>
        </p:nvSpPr>
        <p:spPr>
          <a:xfrm>
            <a:off x="5943600" y="6096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b="1" spc="250" cap="all" dirty="0">
                <a:solidFill>
                  <a:srgbClr val="B45309"/>
                </a:solidFill>
                <a:latin typeface="+mn-lt"/>
                <a:cs typeface="+mn-lt"/>
              </a:rPr>
              <a:t>Рост мощностей</a:t>
            </a:r>
            <a:endParaRPr lang="ru-RU" sz="1100" b="1" spc="250" cap="all" dirty="0">
              <a:solidFill>
                <a:srgbClr val="B45309"/>
              </a:solidFill>
              <a:latin typeface="+mn-lt"/>
              <a:cs typeface="+mn-lt"/>
            </a:endParaRPr>
          </a:p>
        </p:txBody>
      </p:sp>
      <p:sp>
        <p:nvSpPr>
          <p:cNvPr id="5" name="headline"/>
          <p:cNvSpPr txBox="1"/>
          <p:nvPr/>
        </p:nvSpPr>
        <p:spPr>
          <a:xfrm>
            <a:off x="5943600" y="889000"/>
            <a:ext cx="57404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+mj-lt"/>
                <a:cs typeface="+mj-lt"/>
              </a:rPr>
              <a:t>Ввод солнечных станций вырос в 4 раза за пять лет</a:t>
            </a:r>
            <a:endParaRPr lang="ru-RU" sz="2800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6" name="unit"/>
          <p:cNvSpPr txBox="1"/>
          <p:nvPr/>
        </p:nvSpPr>
        <p:spPr>
          <a:xfrm>
            <a:off x="5943600" y="20066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>
                    <a:alpha val="60000"/>
                  </a:schemeClr>
                </a:solidFill>
                <a:latin typeface="+mn-lt"/>
                <a:cs typeface="+mn-lt"/>
              </a:rPr>
              <a:t>Новые мощности в мире, ГВт в год</a:t>
            </a:r>
            <a:endParaRPr lang="ru-RU" sz="1200" dirty="0">
              <a:solidFill>
                <a:schemeClr val="tx1">
                  <a:alpha val="60000"/>
                </a:schemeClr>
              </a:solidFill>
              <a:latin typeface="+mn-lt"/>
              <a:cs typeface="+mn-lt"/>
            </a:endParaRPr>
          </a:p>
        </p:txBody>
      </p:sp>
      <p:graphicFrame>
        <p:nvGraphicFramePr>
          <p:cNvPr id="7" name="growth-chart"/>
          <p:cNvGraphicFramePr>
            <a:graphicFrameLocks noGrp="1"/>
          </p:cNvGraphicFramePr>
          <p:nvPr/>
        </p:nvGraphicFramePr>
        <p:xfrm>
          <a:off x="5816600" y="2362200"/>
          <a:ext cx="5867400" cy="3581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ource"/>
          <p:cNvSpPr txBox="1"/>
          <p:nvPr/>
        </p:nvSpPr>
        <p:spPr>
          <a:xfrm>
            <a:off x="5943600" y="61468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00" dirty="0">
                <a:solidFill>
                  <a:schemeClr val="tx1">
                    <a:alpha val="45000"/>
                  </a:schemeClr>
                </a:solidFill>
                <a:latin typeface="+mn-lt"/>
                <a:cs typeface="+mn-lt"/>
              </a:rPr>
              <a:t>Источник: демо-данные для прототипа SlideML</a:t>
            </a:r>
            <a:endParaRPr lang="ru-RU" sz="900" dirty="0">
              <a:solidFill>
                <a:schemeClr val="tx1">
                  <a:alpha val="45000"/>
                </a:scheme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Graphic spid="7" grpId="0">
        <p:bldAsOne/>
      </p:bldGraphic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62000" y="660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b="1" spc="250" cap="all" dirty="0">
                <a:solidFill>
                  <a:schemeClr val="accent1"/>
                </a:solidFill>
                <a:latin typeface="+mn-lt"/>
                <a:cs typeface="+mn-lt"/>
              </a:rPr>
              <a:t>Как это работает</a:t>
            </a:r>
            <a:endParaRPr lang="ru-RU" sz="1100" b="1" spc="250" cap="all" dirty="0">
              <a:solidFill>
                <a:schemeClr val="accent1"/>
              </a:solidFill>
              <a:latin typeface="+mn-lt"/>
              <a:cs typeface="+mn-lt"/>
            </a:endParaRPr>
          </a:p>
        </p:txBody>
      </p:sp>
      <p:sp>
        <p:nvSpPr>
          <p:cNvPr id="3" name="headline"/>
          <p:cNvSpPr txBox="1"/>
          <p:nvPr/>
        </p:nvSpPr>
        <p:spPr>
          <a:xfrm>
            <a:off x="762000" y="939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3000" dirty="0">
                <a:solidFill>
                  <a:srgbClr val="FFFFFF"/>
                </a:solidFill>
                <a:latin typeface="+mj-lt"/>
                <a:cs typeface="+mj-lt"/>
              </a:rPr>
              <a:t>От фотона до розетки — четыре шага</a:t>
            </a:r>
            <a:endParaRPr lang="ru-RU" sz="30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cxnSp>
        <p:nvCxnSpPr>
          <p:cNvPr id="4" name="track"/>
          <p:cNvCxnSpPr/>
          <p:nvPr/>
        </p:nvCxnSpPr>
        <p:spPr>
          <a:xfrm>
            <a:off x="1905000" y="2717800"/>
            <a:ext cx="8382000" cy="0"/>
          </a:xfrm>
          <a:prstGeom prst="line">
            <a:avLst/>
          </a:prstGeom>
          <a:ln w="19050" cap="rnd">
            <a:solidFill>
              <a:srgbClr val="FFFFFF">
                <a:alpha val="25000"/>
              </a:srgbClr>
            </a:solidFill>
            <a:prstDash val="dash"/>
            <a:round/>
          </a:ln>
        </p:spPr>
      </p:cxnSp>
      <p:grpSp>
        <p:nvGrpSpPr>
          <p:cNvPr id="5" name="step1"/>
          <p:cNvGrpSpPr/>
          <p:nvPr/>
        </p:nvGrpSpPr>
        <p:grpSpPr>
          <a:xfrm>
            <a:off x="635000" y="2209800"/>
            <a:ext cx="2540000" cy="2692400"/>
            <a:chOff x="635000" y="2209800"/>
            <a:chExt cx="2540000" cy="2692400"/>
          </a:xfrm>
        </p:grpSpPr>
        <p:sp>
          <p:nvSpPr>
            <p:cNvPr id="6" name="shape 6"/>
            <p:cNvSpPr/>
            <p:nvPr/>
          </p:nvSpPr>
          <p:spPr>
            <a:xfrm>
              <a:off x="1397000" y="2209800"/>
              <a:ext cx="1016000" cy="1016000"/>
            </a:xfrm>
            <a:prstGeom prst="ellipse">
              <a:avLst/>
            </a:prstGeom>
            <a:solidFill>
              <a:schemeClr val="dk2"/>
            </a:solidFill>
            <a:ln w="25400" cap="rnd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" name="shape 7"/>
            <p:cNvSpPr/>
            <p:nvPr/>
          </p:nvSpPr>
          <p:spPr>
            <a:xfrm>
              <a:off x="1651000" y="2463800"/>
              <a:ext cx="508000" cy="50800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635000" y="3479800"/>
              <a:ext cx="2540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100" b="1" spc="200" dirty="0">
                  <a:solidFill>
                    <a:schemeClr val="accent1"/>
                  </a:solidFill>
                  <a:latin typeface="+mn-lt"/>
                  <a:cs typeface="+mn-lt"/>
                </a:rPr>
                <a:t>01</a:t>
              </a:r>
              <a:endParaRPr lang="ru-RU" sz="1100" b="1" spc="200" dirty="0">
                <a:solidFill>
                  <a:schemeClr val="accent1"/>
                </a:solidFill>
                <a:latin typeface="+mn-lt"/>
                <a:cs typeface="+mn-lt"/>
              </a:endParaRPr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635000" y="3733800"/>
              <a:ext cx="254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600" dirty="0">
                  <a:solidFill>
                    <a:srgbClr val="FFFFFF"/>
                  </a:solidFill>
                  <a:latin typeface="+mj-lt"/>
                  <a:cs typeface="+mj-lt"/>
                </a:rPr>
                <a:t>Свет</a:t>
              </a:r>
              <a:endParaRPr lang="ru-RU" sz="16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0" name="text 10"/>
            <p:cNvSpPr txBox="1"/>
            <p:nvPr/>
          </p:nvSpPr>
          <p:spPr>
            <a:xfrm>
              <a:off x="698500" y="4089400"/>
              <a:ext cx="2413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30000"/>
                </a:lnSpc>
                <a:buNone/>
              </a:pPr>
              <a:r>
                <a:rPr lang="ru-RU" sz="11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Фотоны падают на кремниевую пластину панели</a:t>
              </a:r>
              <a:endParaRPr lang="ru-RU" sz="1150" dirty="0">
                <a:solidFill>
                  <a:srgbClr val="FFFFFF">
                    <a:alpha val="65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1" name="step2"/>
          <p:cNvGrpSpPr/>
          <p:nvPr/>
        </p:nvGrpSpPr>
        <p:grpSpPr>
          <a:xfrm>
            <a:off x="3429000" y="2209800"/>
            <a:ext cx="2540000" cy="2692400"/>
            <a:chOff x="3429000" y="2209800"/>
            <a:chExt cx="2540000" cy="2692400"/>
          </a:xfrm>
        </p:grpSpPr>
        <p:sp>
          <p:nvSpPr>
            <p:cNvPr id="12" name="shape 12"/>
            <p:cNvSpPr/>
            <p:nvPr/>
          </p:nvSpPr>
          <p:spPr>
            <a:xfrm>
              <a:off x="4191000" y="2209800"/>
              <a:ext cx="1016000" cy="1016000"/>
            </a:xfrm>
            <a:prstGeom prst="ellipse">
              <a:avLst/>
            </a:prstGeom>
            <a:solidFill>
              <a:schemeClr val="dk2"/>
            </a:solidFill>
            <a:ln w="25400" cap="rnd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" name="shape 13"/>
            <p:cNvSpPr/>
            <p:nvPr/>
          </p:nvSpPr>
          <p:spPr>
            <a:xfrm>
              <a:off x="4419600" y="2514600"/>
              <a:ext cx="558800" cy="406400"/>
            </a:xfrm>
            <a:prstGeom prst="roundRect">
              <a:avLst>
                <a:gd name="adj" fmla="val 937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14" name="line 14"/>
            <p:cNvCxnSpPr/>
            <p:nvPr/>
          </p:nvCxnSpPr>
          <p:spPr>
            <a:xfrm>
              <a:off x="4606290" y="2514600"/>
              <a:ext cx="0" cy="406400"/>
            </a:xfrm>
            <a:prstGeom prst="line">
              <a:avLst/>
            </a:prstGeom>
            <a:ln w="19050" cap="rnd">
              <a:solidFill>
                <a:schemeClr val="dk2"/>
              </a:solidFill>
              <a:round/>
            </a:ln>
          </p:spPr>
        </p:cxnSp>
        <p:cxnSp>
          <p:nvCxnSpPr>
            <p:cNvPr id="15" name="line 15"/>
            <p:cNvCxnSpPr/>
            <p:nvPr/>
          </p:nvCxnSpPr>
          <p:spPr>
            <a:xfrm>
              <a:off x="4791710" y="2514600"/>
              <a:ext cx="0" cy="406400"/>
            </a:xfrm>
            <a:prstGeom prst="line">
              <a:avLst/>
            </a:prstGeom>
            <a:ln w="19050" cap="rnd">
              <a:solidFill>
                <a:schemeClr val="dk2"/>
              </a:solidFill>
              <a:round/>
            </a:ln>
          </p:spPr>
        </p:cxnSp>
        <p:cxnSp>
          <p:nvCxnSpPr>
            <p:cNvPr id="16" name="line 16"/>
            <p:cNvCxnSpPr/>
            <p:nvPr/>
          </p:nvCxnSpPr>
          <p:spPr>
            <a:xfrm>
              <a:off x="4419600" y="2717800"/>
              <a:ext cx="558800" cy="0"/>
            </a:xfrm>
            <a:prstGeom prst="line">
              <a:avLst/>
            </a:prstGeom>
            <a:ln w="19050" cap="rnd">
              <a:solidFill>
                <a:schemeClr val="dk2"/>
              </a:solidFill>
              <a:round/>
            </a:ln>
          </p:spPr>
        </p:cxnSp>
        <p:sp>
          <p:nvSpPr>
            <p:cNvPr id="17" name="text 17"/>
            <p:cNvSpPr txBox="1"/>
            <p:nvPr/>
          </p:nvSpPr>
          <p:spPr>
            <a:xfrm>
              <a:off x="3429000" y="3479800"/>
              <a:ext cx="2540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100" b="1" spc="200" dirty="0">
                  <a:solidFill>
                    <a:schemeClr val="accent1"/>
                  </a:solidFill>
                  <a:latin typeface="+mn-lt"/>
                  <a:cs typeface="+mn-lt"/>
                </a:rPr>
                <a:t>02</a:t>
              </a:r>
              <a:endParaRPr lang="ru-RU" sz="1100" b="1" spc="200" dirty="0">
                <a:solidFill>
                  <a:schemeClr val="accent1"/>
                </a:solidFill>
                <a:latin typeface="+mn-lt"/>
                <a:cs typeface="+mn-lt"/>
              </a:endParaRPr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3429000" y="3733800"/>
              <a:ext cx="254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600" dirty="0">
                  <a:solidFill>
                    <a:srgbClr val="FFFFFF"/>
                  </a:solidFill>
                  <a:latin typeface="+mj-lt"/>
                  <a:cs typeface="+mj-lt"/>
                </a:rPr>
                <a:t>Панель</a:t>
              </a:r>
              <a:endParaRPr lang="ru-RU" sz="16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3492500" y="4089400"/>
              <a:ext cx="2413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30000"/>
                </a:lnSpc>
                <a:buNone/>
              </a:pPr>
              <a:r>
                <a:rPr lang="ru-RU" sz="11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Элемент выбивает электроны и даёт постоянный ток</a:t>
              </a:r>
              <a:endParaRPr lang="ru-RU" sz="1150" dirty="0">
                <a:solidFill>
                  <a:srgbClr val="FFFFFF">
                    <a:alpha val="65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20" name="step3"/>
          <p:cNvGrpSpPr/>
          <p:nvPr/>
        </p:nvGrpSpPr>
        <p:grpSpPr>
          <a:xfrm>
            <a:off x="6223000" y="2209800"/>
            <a:ext cx="2540000" cy="2692400"/>
            <a:chOff x="6223000" y="2209800"/>
            <a:chExt cx="2540000" cy="2692400"/>
          </a:xfrm>
        </p:grpSpPr>
        <p:sp>
          <p:nvSpPr>
            <p:cNvPr id="21" name="shape 21"/>
            <p:cNvSpPr/>
            <p:nvPr/>
          </p:nvSpPr>
          <p:spPr>
            <a:xfrm>
              <a:off x="6985000" y="2209800"/>
              <a:ext cx="1016000" cy="1016000"/>
            </a:xfrm>
            <a:prstGeom prst="ellipse">
              <a:avLst/>
            </a:prstGeom>
            <a:solidFill>
              <a:schemeClr val="dk2"/>
            </a:solidFill>
            <a:ln w="25400" cap="rnd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2" name="shape 22"/>
            <p:cNvSpPr/>
            <p:nvPr/>
          </p:nvSpPr>
          <p:spPr>
            <a:xfrm>
              <a:off x="7264400" y="2463800"/>
              <a:ext cx="457200" cy="508000"/>
            </a:xfrm>
            <a:prstGeom prst="lightningBol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6223000" y="3479800"/>
              <a:ext cx="2540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100" b="1" spc="200" dirty="0">
                  <a:solidFill>
                    <a:schemeClr val="accent1"/>
                  </a:solidFill>
                  <a:latin typeface="+mn-lt"/>
                  <a:cs typeface="+mn-lt"/>
                </a:rPr>
                <a:t>03</a:t>
              </a:r>
              <a:endParaRPr lang="ru-RU" sz="1100" b="1" spc="200" dirty="0">
                <a:solidFill>
                  <a:schemeClr val="accent1"/>
                </a:solidFill>
                <a:latin typeface="+mn-lt"/>
                <a:cs typeface="+mn-lt"/>
              </a:endParaRPr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6223000" y="3733800"/>
              <a:ext cx="254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600" dirty="0">
                  <a:solidFill>
                    <a:srgbClr val="FFFFFF"/>
                  </a:solidFill>
                  <a:latin typeface="+mj-lt"/>
                  <a:cs typeface="+mj-lt"/>
                </a:rPr>
                <a:t>Инвертор</a:t>
              </a:r>
              <a:endParaRPr lang="ru-RU" sz="16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6286500" y="4089400"/>
              <a:ext cx="2413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30000"/>
                </a:lnSpc>
                <a:buNone/>
              </a:pPr>
              <a:r>
                <a:rPr lang="ru-RU" sz="11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Постоянный ток превращается в переменный 50 Гц</a:t>
              </a:r>
              <a:endParaRPr lang="ru-RU" sz="1150" dirty="0">
                <a:solidFill>
                  <a:srgbClr val="FFFFFF">
                    <a:alpha val="65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26" name="step4"/>
          <p:cNvGrpSpPr/>
          <p:nvPr/>
        </p:nvGrpSpPr>
        <p:grpSpPr>
          <a:xfrm>
            <a:off x="9017000" y="2209800"/>
            <a:ext cx="2540000" cy="2692400"/>
            <a:chOff x="9017000" y="2209800"/>
            <a:chExt cx="2540000" cy="2692400"/>
          </a:xfrm>
        </p:grpSpPr>
        <p:sp>
          <p:nvSpPr>
            <p:cNvPr id="27" name="shape 27"/>
            <p:cNvSpPr/>
            <p:nvPr/>
          </p:nvSpPr>
          <p:spPr>
            <a:xfrm>
              <a:off x="9779000" y="2209800"/>
              <a:ext cx="1016000" cy="1016000"/>
            </a:xfrm>
            <a:prstGeom prst="ellipse">
              <a:avLst/>
            </a:prstGeom>
            <a:solidFill>
              <a:schemeClr val="dk2"/>
            </a:solidFill>
            <a:ln w="25400" cap="rnd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8" name="shape 28"/>
            <p:cNvSpPr/>
            <p:nvPr/>
          </p:nvSpPr>
          <p:spPr>
            <a:xfrm>
              <a:off x="10033000" y="2463800"/>
              <a:ext cx="508000" cy="5080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12000" y="2000"/>
                  </a:moveTo>
                  <a:lnTo>
                    <a:pt x="23000" y="11500"/>
                  </a:lnTo>
                  <a:lnTo>
                    <a:pt x="20000" y="11500"/>
                  </a:lnTo>
                  <a:lnTo>
                    <a:pt x="20000" y="22000"/>
                  </a:lnTo>
                  <a:lnTo>
                    <a:pt x="14500" y="22000"/>
                  </a:lnTo>
                  <a:lnTo>
                    <a:pt x="14500" y="15000"/>
                  </a:lnTo>
                  <a:lnTo>
                    <a:pt x="9500" y="15000"/>
                  </a:lnTo>
                  <a:lnTo>
                    <a:pt x="9500" y="22000"/>
                  </a:lnTo>
                  <a:lnTo>
                    <a:pt x="4000" y="22000"/>
                  </a:lnTo>
                  <a:lnTo>
                    <a:pt x="4000" y="11500"/>
                  </a:lnTo>
                  <a:lnTo>
                    <a:pt x="1000" y="115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9" name="text 29"/>
            <p:cNvSpPr txBox="1"/>
            <p:nvPr/>
          </p:nvSpPr>
          <p:spPr>
            <a:xfrm>
              <a:off x="9017000" y="3479800"/>
              <a:ext cx="2540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100" b="1" spc="200" dirty="0">
                  <a:solidFill>
                    <a:schemeClr val="accent1"/>
                  </a:solidFill>
                  <a:latin typeface="+mn-lt"/>
                  <a:cs typeface="+mn-lt"/>
                </a:rPr>
                <a:t>04</a:t>
              </a:r>
              <a:endParaRPr lang="ru-RU" sz="1100" b="1" spc="200" dirty="0">
                <a:solidFill>
                  <a:schemeClr val="accent1"/>
                </a:solidFill>
                <a:latin typeface="+mn-lt"/>
                <a:cs typeface="+mn-lt"/>
              </a:endParaRPr>
            </a:p>
          </p:txBody>
        </p:sp>
        <p:sp>
          <p:nvSpPr>
            <p:cNvPr id="30" name="text 30"/>
            <p:cNvSpPr txBox="1"/>
            <p:nvPr/>
          </p:nvSpPr>
          <p:spPr>
            <a:xfrm>
              <a:off x="9017000" y="3733800"/>
              <a:ext cx="254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600" dirty="0">
                  <a:solidFill>
                    <a:srgbClr val="FFFFFF"/>
                  </a:solidFill>
                  <a:latin typeface="+mj-lt"/>
                  <a:cs typeface="+mj-lt"/>
                </a:rPr>
                <a:t>Сеть</a:t>
              </a:r>
              <a:endParaRPr lang="ru-RU" sz="16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31" name="text 31"/>
            <p:cNvSpPr txBox="1"/>
            <p:nvPr/>
          </p:nvSpPr>
          <p:spPr>
            <a:xfrm>
              <a:off x="9080500" y="4089400"/>
              <a:ext cx="2413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30000"/>
                </a:lnSpc>
                <a:buNone/>
              </a:pPr>
              <a:r>
                <a:rPr lang="ru-RU" sz="11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Энергия уходит в дом, накопитель или общую сеть</a:t>
              </a:r>
              <a:endParaRPr lang="ru-RU" sz="1150" dirty="0">
                <a:solidFill>
                  <a:srgbClr val="FFFFFF">
                    <a:alpha val="65000"/>
                  </a:srgbClr>
                </a:solidFill>
                <a:latin typeface="+mn-lt"/>
                <a:cs typeface="+mn-lt"/>
              </a:endParaRPr>
            </a:p>
          </p:txBody>
        </p:sp>
      </p:grpSp>
      <p:sp>
        <p:nvSpPr>
          <p:cNvPr id="32" name="callout"/>
          <p:cNvSpPr/>
          <p:nvPr/>
        </p:nvSpPr>
        <p:spPr>
          <a:xfrm>
            <a:off x="762000" y="5486400"/>
            <a:ext cx="10668000" cy="711200"/>
          </a:xfrm>
          <a:prstGeom prst="roundRect">
            <a:avLst>
              <a:gd name="adj" fmla="val 21429"/>
            </a:avLst>
          </a:prstGeom>
          <a:solidFill>
            <a:schemeClr val="accent1">
              <a:alpha val="12000"/>
            </a:schemeClr>
          </a:solidFill>
          <a:ln w="12700" cap="rnd">
            <a:solidFill>
              <a:schemeClr val="accent1">
                <a:alpha val="45000"/>
              </a:schemeClr>
            </a:solidFill>
            <a:round/>
          </a:ln>
        </p:spPr>
        <p:txBody>
          <a:bodyPr wrap="square" lIns="304800" tIns="0" rIns="304800" bIns="0" anchor="ctr" rtlCol="0">
            <a:noAutofit/>
          </a:bodyPr>
          <a:lstStyle/>
          <a:p>
            <a:pPr algn="l">
              <a:buNone/>
            </a:pPr>
            <a:r>
              <a:rPr lang="ru-RU" sz="1400" b="1" dirty="0">
                <a:solidFill>
                  <a:schemeClr val="accent1"/>
                </a:solidFill>
                <a:latin typeface="+mn-lt"/>
                <a:cs typeface="+mn-lt"/>
              </a:rPr>
              <a:t>22–24 %</a:t>
            </a:r>
            <a:r>
              <a:rPr lang="ru-RU" sz="1400" dirty="0">
                <a:solidFill>
                  <a:srgbClr val="FFFFFF"/>
                </a:solidFill>
                <a:latin typeface="+mn-lt"/>
                <a:cs typeface="+mn-lt"/>
              </a:rPr>
              <a:t> — КПД серийных панелей в 2026 году. Остальная энергия уходит в тепло и отражение.</a:t>
            </a:r>
            <a:endParaRPr lang="ru-RU" sz="1400" dirty="0">
              <a:solidFill>
                <a:srgbClr val="FFFFFF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762000" y="508000"/>
            <a:ext cx="406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eyebrow"/>
          <p:cNvSpPr txBox="1"/>
          <p:nvPr/>
        </p:nvSpPr>
        <p:spPr>
          <a:xfrm>
            <a:off x="762000" y="685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b="1" spc="250" cap="all" dirty="0">
                <a:solidFill>
                  <a:srgbClr val="B45309"/>
                </a:solidFill>
                <a:latin typeface="+mn-lt"/>
                <a:cs typeface="+mn-lt"/>
              </a:rPr>
              <a:t>Структура ввода</a:t>
            </a:r>
            <a:endParaRPr lang="ru-RU" sz="1100" b="1" spc="250" cap="all" dirty="0">
              <a:solidFill>
                <a:srgbClr val="B45309"/>
              </a:solidFill>
              <a:latin typeface="+mn-lt"/>
              <a:cs typeface="+mn-lt"/>
            </a:endParaRPr>
          </a:p>
        </p:txBody>
      </p:sp>
      <p:sp>
        <p:nvSpPr>
          <p:cNvPr id="4" name="headline"/>
          <p:cNvSpPr txBox="1"/>
          <p:nvPr/>
        </p:nvSpPr>
        <p:spPr>
          <a:xfrm>
            <a:off x="762000" y="9652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2800" dirty="0">
                <a:solidFill>
                  <a:schemeClr val="tx1"/>
                </a:solidFill>
                <a:latin typeface="+mj-lt"/>
                <a:cs typeface="+mj-lt"/>
              </a:rPr>
              <a:t>Каждый третий новый мегаватт — солнечный</a:t>
            </a:r>
            <a:endParaRPr lang="ru-RU" sz="2800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graphicFrame>
        <p:nvGraphicFramePr>
          <p:cNvPr id="5" name="donut"/>
          <p:cNvGraphicFramePr>
            <a:graphicFrameLocks noGrp="1"/>
          </p:cNvGraphicFramePr>
          <p:nvPr/>
        </p:nvGraphicFramePr>
        <p:xfrm>
          <a:off x="711200" y="1905000"/>
          <a:ext cx="381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onut-value"/>
          <p:cNvSpPr txBox="1"/>
          <p:nvPr/>
        </p:nvSpPr>
        <p:spPr>
          <a:xfrm>
            <a:off x="1346200" y="32766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ru-RU" sz="3600" dirty="0">
                <a:solidFill>
                  <a:schemeClr val="tx1"/>
                </a:solidFill>
                <a:latin typeface="+mj-lt"/>
                <a:cs typeface="+mj-lt"/>
              </a:rPr>
              <a:t>31 %</a:t>
            </a:r>
            <a:endParaRPr lang="ru-RU" sz="3600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7" name="donut-label"/>
          <p:cNvSpPr txBox="1"/>
          <p:nvPr/>
        </p:nvSpPr>
        <p:spPr>
          <a:xfrm>
            <a:off x="1346200" y="39624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ru-RU" sz="1100" dirty="0">
                <a:solidFill>
                  <a:schemeClr val="tx1">
                    <a:alpha val="55000"/>
                  </a:schemeClr>
                </a:solidFill>
                <a:latin typeface="+mn-lt"/>
                <a:cs typeface="+mn-lt"/>
              </a:rPr>
              <a:t>доля солнца</a:t>
            </a:r>
            <a:endParaRPr lang="ru-RU" sz="1100" dirty="0">
              <a:solidFill>
                <a:schemeClr val="tx1">
                  <a:alpha val="55000"/>
                </a:schemeClr>
              </a:solidFill>
              <a:latin typeface="+mn-lt"/>
              <a:cs typeface="+mn-lt"/>
            </a:endParaRPr>
          </a:p>
        </p:txBody>
      </p:sp>
      <p:grpSp>
        <p:nvGrpSpPr>
          <p:cNvPr id="8" name="legend"/>
          <p:cNvGrpSpPr/>
          <p:nvPr/>
        </p:nvGrpSpPr>
        <p:grpSpPr>
          <a:xfrm>
            <a:off x="4978400" y="2667000"/>
            <a:ext cx="2082800" cy="1447800"/>
            <a:chOff x="4978400" y="2667000"/>
            <a:chExt cx="2082800" cy="1447800"/>
          </a:xfrm>
        </p:grpSpPr>
        <p:sp>
          <p:nvSpPr>
            <p:cNvPr id="9" name="shape 9"/>
            <p:cNvSpPr/>
            <p:nvPr/>
          </p:nvSpPr>
          <p:spPr>
            <a:xfrm>
              <a:off x="4978400" y="27178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0" name="text 10"/>
            <p:cNvSpPr txBox="1"/>
            <p:nvPr/>
          </p:nvSpPr>
          <p:spPr>
            <a:xfrm>
              <a:off x="5232400" y="2667000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chemeClr val="tx1"/>
                  </a:solidFill>
                  <a:latin typeface="+mn-lt"/>
                  <a:cs typeface="+mn-lt"/>
                </a:rPr>
                <a:t>Солнце</a:t>
              </a:r>
              <a:endParaRPr lang="ru-RU" sz="1300" dirty="0">
                <a:solidFill>
                  <a:schemeClr val="tx1"/>
                </a:solidFill>
                <a:latin typeface="+mn-lt"/>
                <a:cs typeface="+mn-lt"/>
              </a:endParaRPr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6502400" y="2667000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1300" b="1" dirty="0">
                  <a:solidFill>
                    <a:schemeClr val="tx1"/>
                  </a:solidFill>
                  <a:latin typeface="+mn-lt"/>
                  <a:cs typeface="+mn-lt"/>
                </a:rPr>
                <a:t>31 %</a:t>
              </a:r>
              <a:endParaRPr lang="ru-RU" sz="1300" b="1" dirty="0">
                <a:solidFill>
                  <a:schemeClr val="tx1"/>
                </a:solidFill>
                <a:latin typeface="+mn-lt"/>
                <a:cs typeface="+mn-lt"/>
              </a:endParaRPr>
            </a:p>
          </p:txBody>
        </p:sp>
        <p:sp>
          <p:nvSpPr>
            <p:cNvPr id="12" name="shape 12"/>
            <p:cNvSpPr/>
            <p:nvPr/>
          </p:nvSpPr>
          <p:spPr>
            <a:xfrm>
              <a:off x="4978400" y="31242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5232400" y="3073400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chemeClr val="tx1"/>
                  </a:solidFill>
                  <a:latin typeface="+mn-lt"/>
                  <a:cs typeface="+mn-lt"/>
                </a:rPr>
                <a:t>Ветер</a:t>
              </a:r>
              <a:endParaRPr lang="ru-RU" sz="1300" dirty="0">
                <a:solidFill>
                  <a:schemeClr val="tx1"/>
                </a:solidFill>
                <a:latin typeface="+mn-lt"/>
                <a:cs typeface="+mn-lt"/>
              </a:endParaRPr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6502400" y="3073400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1300" b="1" dirty="0">
                  <a:solidFill>
                    <a:schemeClr val="tx1"/>
                  </a:solidFill>
                  <a:latin typeface="+mn-lt"/>
                  <a:cs typeface="+mn-lt"/>
                </a:rPr>
                <a:t>24 %</a:t>
              </a:r>
              <a:endParaRPr lang="ru-RU" sz="1300" b="1" dirty="0">
                <a:solidFill>
                  <a:schemeClr val="tx1"/>
                </a:solidFill>
                <a:latin typeface="+mn-lt"/>
                <a:cs typeface="+mn-lt"/>
              </a:endParaRPr>
            </a:p>
          </p:txBody>
        </p:sp>
        <p:sp>
          <p:nvSpPr>
            <p:cNvPr id="15" name="shape 15"/>
            <p:cNvSpPr/>
            <p:nvPr/>
          </p:nvSpPr>
          <p:spPr>
            <a:xfrm>
              <a:off x="4978400" y="3530600"/>
              <a:ext cx="127000" cy="127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5232400" y="3479800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chemeClr val="tx1"/>
                  </a:solidFill>
                  <a:latin typeface="+mn-lt"/>
                  <a:cs typeface="+mn-lt"/>
                </a:rPr>
                <a:t>Гидро</a:t>
              </a:r>
              <a:endParaRPr lang="ru-RU" sz="1300" dirty="0">
                <a:solidFill>
                  <a:schemeClr val="tx1"/>
                </a:solidFill>
                <a:latin typeface="+mn-lt"/>
                <a:cs typeface="+mn-lt"/>
              </a:endParaRPr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6502400" y="3479800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1300" b="1" dirty="0">
                  <a:solidFill>
                    <a:schemeClr val="tx1"/>
                  </a:solidFill>
                  <a:latin typeface="+mn-lt"/>
                  <a:cs typeface="+mn-lt"/>
                </a:rPr>
                <a:t>21 %</a:t>
              </a:r>
              <a:endParaRPr lang="ru-RU" sz="1300" b="1" dirty="0">
                <a:solidFill>
                  <a:schemeClr val="tx1"/>
                </a:solidFill>
                <a:latin typeface="+mn-lt"/>
                <a:cs typeface="+mn-lt"/>
              </a:endParaRPr>
            </a:p>
          </p:txBody>
        </p:sp>
        <p:sp>
          <p:nvSpPr>
            <p:cNvPr id="18" name="shape 18"/>
            <p:cNvSpPr/>
            <p:nvPr/>
          </p:nvSpPr>
          <p:spPr>
            <a:xfrm>
              <a:off x="4978400" y="3937000"/>
              <a:ext cx="127000" cy="127000"/>
            </a:xfrm>
            <a:prstGeom prst="ellipse">
              <a:avLst/>
            </a:prstGeom>
            <a:solidFill>
              <a:schemeClr val="tx1">
                <a:alpha val="14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5232400" y="3886200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chemeClr val="tx1"/>
                  </a:solidFill>
                  <a:latin typeface="+mn-lt"/>
                  <a:cs typeface="+mn-lt"/>
                </a:rPr>
                <a:t>Прочее</a:t>
              </a:r>
              <a:endParaRPr lang="ru-RU" sz="1300" dirty="0">
                <a:solidFill>
                  <a:schemeClr val="tx1"/>
                </a:solidFill>
                <a:latin typeface="+mn-lt"/>
                <a:cs typeface="+mn-lt"/>
              </a:endParaRPr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6502400" y="3886200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1300" b="1" dirty="0">
                  <a:solidFill>
                    <a:schemeClr val="tx1"/>
                  </a:solidFill>
                  <a:latin typeface="+mn-lt"/>
                  <a:cs typeface="+mn-lt"/>
                </a:rPr>
                <a:t>24 %</a:t>
              </a:r>
              <a:endParaRPr lang="ru-RU" sz="1300" b="1" dirty="0">
                <a:solidFill>
                  <a:schemeClr val="tx1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21" name="kpi1"/>
          <p:cNvGrpSpPr/>
          <p:nvPr/>
        </p:nvGrpSpPr>
        <p:grpSpPr>
          <a:xfrm>
            <a:off x="7620000" y="1905000"/>
            <a:ext cx="4064000" cy="1117600"/>
            <a:chOff x="7620000" y="1905000"/>
            <a:chExt cx="4064000" cy="1117600"/>
          </a:xfrm>
        </p:grpSpPr>
        <p:sp>
          <p:nvSpPr>
            <p:cNvPr id="22" name="shape 22"/>
            <p:cNvSpPr/>
            <p:nvPr/>
          </p:nvSpPr>
          <p:spPr>
            <a:xfrm>
              <a:off x="7620000" y="1905000"/>
              <a:ext cx="4064000" cy="1117600"/>
            </a:xfrm>
            <a:prstGeom prst="roundRect">
              <a:avLst>
                <a:gd name="adj" fmla="val 15909"/>
              </a:avLst>
            </a:prstGeom>
            <a:solidFill>
              <a:schemeClr val="l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7899400" y="2082800"/>
              <a:ext cx="203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800" dirty="0">
                  <a:solidFill>
                    <a:schemeClr val="tx1"/>
                  </a:solidFill>
                  <a:latin typeface="+mj-lt"/>
                  <a:cs typeface="+mj-lt"/>
                </a:rPr>
                <a:t>62 %</a:t>
              </a:r>
              <a:endParaRPr lang="ru-RU" sz="2800" dirty="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7899400" y="2590800"/>
              <a:ext cx="355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chemeClr val="tx1">
                      <a:alpha val="60000"/>
                    </a:schemeClr>
                  </a:solidFill>
                  <a:latin typeface="+mn-lt"/>
                  <a:cs typeface="+mn-lt"/>
                </a:rPr>
                <a:t>доля солнца в новом вводе за 2025 год</a:t>
              </a:r>
              <a:endParaRPr lang="ru-RU" sz="1100" dirty="0">
                <a:solidFill>
                  <a:schemeClr val="tx1">
                    <a:alpha val="60000"/>
                  </a:schemeClr>
                </a:solidFill>
                <a:latin typeface="+mn-lt"/>
                <a:cs typeface="+mn-lt"/>
              </a:endParaRPr>
            </a:p>
          </p:txBody>
        </p:sp>
        <p:sp>
          <p:nvSpPr>
            <p:cNvPr id="25" name="shape 25"/>
            <p:cNvSpPr/>
            <p:nvPr/>
          </p:nvSpPr>
          <p:spPr>
            <a:xfrm>
              <a:off x="9855200" y="2260600"/>
              <a:ext cx="1574800" cy="1016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6" name="shape 26"/>
            <p:cNvSpPr/>
            <p:nvPr/>
          </p:nvSpPr>
          <p:spPr>
            <a:xfrm>
              <a:off x="9855200" y="2260600"/>
              <a:ext cx="977900" cy="10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grpSp>
        <p:nvGrpSpPr>
          <p:cNvPr id="27" name="kpi2"/>
          <p:cNvGrpSpPr/>
          <p:nvPr/>
        </p:nvGrpSpPr>
        <p:grpSpPr>
          <a:xfrm>
            <a:off x="7620000" y="3225800"/>
            <a:ext cx="4064000" cy="1117600"/>
            <a:chOff x="7620000" y="3225800"/>
            <a:chExt cx="4064000" cy="1117600"/>
          </a:xfrm>
        </p:grpSpPr>
        <p:sp>
          <p:nvSpPr>
            <p:cNvPr id="28" name="shape 28"/>
            <p:cNvSpPr/>
            <p:nvPr/>
          </p:nvSpPr>
          <p:spPr>
            <a:xfrm>
              <a:off x="7620000" y="3225800"/>
              <a:ext cx="4064000" cy="1117600"/>
            </a:xfrm>
            <a:prstGeom prst="roundRect">
              <a:avLst>
                <a:gd name="adj" fmla="val 15909"/>
              </a:avLst>
            </a:prstGeom>
            <a:solidFill>
              <a:schemeClr val="l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9" name="text 29"/>
            <p:cNvSpPr txBox="1"/>
            <p:nvPr/>
          </p:nvSpPr>
          <p:spPr>
            <a:xfrm>
              <a:off x="7899400" y="3403600"/>
              <a:ext cx="203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800" dirty="0">
                  <a:solidFill>
                    <a:schemeClr val="tx1"/>
                  </a:solidFill>
                  <a:latin typeface="+mj-lt"/>
                  <a:cs typeface="+mj-lt"/>
                </a:rPr>
                <a:t>−82 %</a:t>
              </a:r>
              <a:endParaRPr lang="ru-RU" sz="2800" dirty="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  <p:sp>
          <p:nvSpPr>
            <p:cNvPr id="30" name="text 30"/>
            <p:cNvSpPr txBox="1"/>
            <p:nvPr/>
          </p:nvSpPr>
          <p:spPr>
            <a:xfrm>
              <a:off x="7899400" y="3911600"/>
              <a:ext cx="355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chemeClr val="tx1">
                      <a:alpha val="60000"/>
                    </a:schemeClr>
                  </a:solidFill>
                  <a:latin typeface="+mn-lt"/>
                  <a:cs typeface="+mn-lt"/>
                </a:rPr>
                <a:t>стоимость МВт·ч за десять лет</a:t>
              </a:r>
              <a:endParaRPr lang="ru-RU" sz="1100" dirty="0">
                <a:solidFill>
                  <a:schemeClr val="tx1">
                    <a:alpha val="60000"/>
                  </a:schemeClr>
                </a:solidFill>
                <a:latin typeface="+mn-lt"/>
                <a:cs typeface="+mn-lt"/>
              </a:endParaRPr>
            </a:p>
          </p:txBody>
        </p:sp>
        <p:sp>
          <p:nvSpPr>
            <p:cNvPr id="31" name="shape 31"/>
            <p:cNvSpPr/>
            <p:nvPr/>
          </p:nvSpPr>
          <p:spPr>
            <a:xfrm>
              <a:off x="9855200" y="3581400"/>
              <a:ext cx="1574800" cy="1016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2" name="shape 32"/>
            <p:cNvSpPr/>
            <p:nvPr/>
          </p:nvSpPr>
          <p:spPr>
            <a:xfrm>
              <a:off x="9855200" y="3581400"/>
              <a:ext cx="1295400" cy="10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grpSp>
        <p:nvGrpSpPr>
          <p:cNvPr id="33" name="kpi3"/>
          <p:cNvGrpSpPr/>
          <p:nvPr/>
        </p:nvGrpSpPr>
        <p:grpSpPr>
          <a:xfrm>
            <a:off x="7620000" y="4546600"/>
            <a:ext cx="4064000" cy="1117600"/>
            <a:chOff x="7620000" y="4546600"/>
            <a:chExt cx="4064000" cy="1117600"/>
          </a:xfrm>
        </p:grpSpPr>
        <p:sp>
          <p:nvSpPr>
            <p:cNvPr id="34" name="shape 34"/>
            <p:cNvSpPr/>
            <p:nvPr/>
          </p:nvSpPr>
          <p:spPr>
            <a:xfrm>
              <a:off x="7620000" y="4546600"/>
              <a:ext cx="4064000" cy="1117600"/>
            </a:xfrm>
            <a:prstGeom prst="roundRect">
              <a:avLst>
                <a:gd name="adj" fmla="val 15909"/>
              </a:avLst>
            </a:prstGeom>
            <a:solidFill>
              <a:schemeClr val="l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5" name="text 35"/>
            <p:cNvSpPr txBox="1"/>
            <p:nvPr/>
          </p:nvSpPr>
          <p:spPr>
            <a:xfrm>
              <a:off x="7899400" y="4724400"/>
              <a:ext cx="203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800" dirty="0">
                  <a:solidFill>
                    <a:schemeClr val="tx1"/>
                  </a:solidFill>
                  <a:latin typeface="+mj-lt"/>
                  <a:cs typeface="+mj-lt"/>
                </a:rPr>
                <a:t>+38 %</a:t>
              </a:r>
              <a:endParaRPr lang="ru-RU" sz="2800" dirty="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7899400" y="5232400"/>
              <a:ext cx="3556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chemeClr val="tx1">
                      <a:alpha val="60000"/>
                    </a:schemeClr>
                  </a:solidFill>
                  <a:latin typeface="+mn-lt"/>
                  <a:cs typeface="+mn-lt"/>
                </a:rPr>
                <a:t>рост ёмкости накопителей за год</a:t>
              </a:r>
              <a:endParaRPr lang="ru-RU" sz="1100" dirty="0">
                <a:solidFill>
                  <a:schemeClr val="tx1">
                    <a:alpha val="60000"/>
                  </a:schemeClr>
                </a:solidFill>
                <a:latin typeface="+mn-lt"/>
                <a:cs typeface="+mn-lt"/>
              </a:endParaRPr>
            </a:p>
          </p:txBody>
        </p:sp>
        <p:sp>
          <p:nvSpPr>
            <p:cNvPr id="37" name="shape 37"/>
            <p:cNvSpPr/>
            <p:nvPr/>
          </p:nvSpPr>
          <p:spPr>
            <a:xfrm>
              <a:off x="9855200" y="4902200"/>
              <a:ext cx="1574800" cy="1016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8" name="shape 38"/>
            <p:cNvSpPr/>
            <p:nvPr/>
          </p:nvSpPr>
          <p:spPr>
            <a:xfrm>
              <a:off x="9855200" y="4902200"/>
              <a:ext cx="596900" cy="101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sp>
        <p:nvSpPr>
          <p:cNvPr id="39" name="source"/>
          <p:cNvSpPr txBox="1"/>
          <p:nvPr/>
        </p:nvSpPr>
        <p:spPr>
          <a:xfrm>
            <a:off x="762000" y="61468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00" dirty="0">
                <a:solidFill>
                  <a:schemeClr val="tx1">
                    <a:alpha val="45000"/>
                  </a:schemeClr>
                </a:solidFill>
                <a:latin typeface="+mn-lt"/>
                <a:cs typeface="+mn-lt"/>
              </a:rPr>
              <a:t>Источник: демо-данные для прототипа SlideML</a:t>
            </a:r>
            <a:endParaRPr lang="ru-RU" sz="900" dirty="0">
              <a:solidFill>
                <a:schemeClr val="tx1">
                  <a:alpha val="45000"/>
                </a:scheme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panel-title"/>
          <p:cNvSpPr txBox="1"/>
          <p:nvPr/>
        </p:nvSpPr>
        <p:spPr>
          <a:xfrm>
            <a:off x="609600" y="812800"/>
            <a:ext cx="381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5000"/>
              </a:lnSpc>
              <a:buNone/>
            </a:pPr>
            <a:r>
              <a:rPr lang="ru-RU" sz="4400" dirty="0">
                <a:solidFill>
                  <a:schemeClr val="tx1"/>
                </a:solidFill>
                <a:latin typeface="+mj-lt"/>
                <a:cs typeface="+mj-lt"/>
              </a:rPr>
              <a:t>Три вывода</a:t>
            </a:r>
            <a:endParaRPr lang="ru-RU" sz="4400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4" name="panel-sub"/>
          <p:cNvSpPr txBox="1"/>
          <p:nvPr/>
        </p:nvSpPr>
        <p:spPr>
          <a:xfrm>
            <a:off x="609600" y="1676400"/>
            <a:ext cx="368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ru-RU" sz="1400" dirty="0">
                <a:solidFill>
                  <a:schemeClr val="tx1">
                    <a:alpha val="75000"/>
                  </a:schemeClr>
                </a:solidFill>
                <a:latin typeface="+mn-lt"/>
                <a:cs typeface="+mn-lt"/>
              </a:rPr>
              <a:t>Что важно для стратегии на 2027 год</a:t>
            </a:r>
            <a:endParaRPr lang="ru-RU" sz="1400" dirty="0">
              <a:solidFill>
                <a:schemeClr val="tx1">
                  <a:alpha val="75000"/>
                </a:schemeClr>
              </a:solidFill>
              <a:latin typeface="+mn-lt"/>
              <a:cs typeface="+mn-lt"/>
            </a:endParaRPr>
          </a:p>
        </p:txBody>
      </p:sp>
      <p:sp>
        <p:nvSpPr>
          <p:cNvPr id="5" name="panel-foot"/>
          <p:cNvSpPr txBox="1"/>
          <p:nvPr/>
        </p:nvSpPr>
        <p:spPr>
          <a:xfrm>
            <a:off x="609600" y="6146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chemeClr val="tx1">
                    <a:alpha val="60000"/>
                  </a:schemeClr>
                </a:solidFill>
                <a:latin typeface="+mn-lt"/>
                <a:cs typeface="+mn-lt"/>
              </a:rPr>
              <a:t>SlideML · прототип</a:t>
            </a:r>
            <a:endParaRPr lang="ru-RU" sz="1000" dirty="0">
              <a:solidFill>
                <a:schemeClr val="tx1">
                  <a:alpha val="60000"/>
                </a:schemeClr>
              </a:solidFill>
              <a:latin typeface="+mn-lt"/>
              <a:cs typeface="+mn-lt"/>
            </a:endParaRPr>
          </a:p>
        </p:txBody>
      </p:sp>
      <p:grpSp>
        <p:nvGrpSpPr>
          <p:cNvPr id="6" name="t1"/>
          <p:cNvGrpSpPr/>
          <p:nvPr/>
        </p:nvGrpSpPr>
        <p:grpSpPr>
          <a:xfrm>
            <a:off x="5486400" y="889000"/>
            <a:ext cx="5969000" cy="914400"/>
            <a:chOff x="5486400" y="889000"/>
            <a:chExt cx="5969000" cy="914400"/>
          </a:xfrm>
        </p:grpSpPr>
        <p:sp>
          <p:nvSpPr>
            <p:cNvPr id="7" name="text 7"/>
            <p:cNvSpPr txBox="1"/>
            <p:nvPr/>
          </p:nvSpPr>
          <p:spPr>
            <a:xfrm>
              <a:off x="5486400" y="889000"/>
              <a:ext cx="711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4000" dirty="0">
                  <a:solidFill>
                    <a:schemeClr val="accent1"/>
                  </a:solidFill>
                  <a:latin typeface="+mj-lt"/>
                  <a:cs typeface="+mj-lt"/>
                </a:rPr>
                <a:t>1</a:t>
              </a:r>
              <a:endParaRPr lang="ru-RU" sz="4000" dirty="0">
                <a:solidFill>
                  <a:schemeClr val="accent1"/>
                </a:solidFill>
                <a:latin typeface="+mj-lt"/>
                <a:cs typeface="+mj-lt"/>
              </a:endParaRPr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6248400" y="939800"/>
              <a:ext cx="520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800" dirty="0">
                  <a:solidFill>
                    <a:schemeClr val="tx1"/>
                  </a:solidFill>
                  <a:latin typeface="+mj-lt"/>
                  <a:cs typeface="+mj-lt"/>
                </a:rPr>
                <a:t>Солнце — основа нового ввода</a:t>
              </a:r>
              <a:endParaRPr lang="ru-RU" sz="1800" dirty="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6248400" y="1295400"/>
              <a:ext cx="5207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30000"/>
                </a:lnSpc>
                <a:buNone/>
              </a:pPr>
              <a:r>
                <a:rPr lang="ru-RU" sz="1250" dirty="0">
                  <a:solidFill>
                    <a:schemeClr val="tx1">
                      <a:alpha val="65000"/>
                    </a:schemeClr>
                  </a:solidFill>
                  <a:latin typeface="+mn-lt"/>
                  <a:cs typeface="+mn-lt"/>
                </a:rPr>
                <a:t>Планируйте новые мощности вокруг солнечной генерации, а не вокруг газа.</a:t>
              </a:r>
              <a:endParaRPr lang="ru-RU" sz="1250" dirty="0">
                <a:solidFill>
                  <a:schemeClr val="tx1">
                    <a:alpha val="65000"/>
                  </a:schemeClr>
                </a:solidFill>
                <a:latin typeface="+mn-lt"/>
                <a:cs typeface="+mn-lt"/>
              </a:endParaRPr>
            </a:p>
          </p:txBody>
        </p:sp>
      </p:grpSp>
      <p:cxnSp>
        <p:nvCxnSpPr>
          <p:cNvPr id="10" name="d1"/>
          <p:cNvCxnSpPr/>
          <p:nvPr/>
        </p:nvCxnSpPr>
        <p:spPr>
          <a:xfrm>
            <a:off x="5486400" y="2159000"/>
            <a:ext cx="5943600" cy="0"/>
          </a:xfrm>
          <a:prstGeom prst="line">
            <a:avLst/>
          </a:prstGeom>
          <a:ln w="12700" cap="rnd">
            <a:solidFill>
              <a:schemeClr val="tx1">
                <a:alpha val="12000"/>
              </a:schemeClr>
            </a:solidFill>
            <a:round/>
          </a:ln>
        </p:spPr>
      </p:cxnSp>
      <p:grpSp>
        <p:nvGrpSpPr>
          <p:cNvPr id="11" name="t2"/>
          <p:cNvGrpSpPr/>
          <p:nvPr/>
        </p:nvGrpSpPr>
        <p:grpSpPr>
          <a:xfrm>
            <a:off x="5486400" y="2540000"/>
            <a:ext cx="5969000" cy="914400"/>
            <a:chOff x="5486400" y="2540000"/>
            <a:chExt cx="5969000" cy="914400"/>
          </a:xfrm>
        </p:grpSpPr>
        <p:sp>
          <p:nvSpPr>
            <p:cNvPr id="12" name="text 12"/>
            <p:cNvSpPr txBox="1"/>
            <p:nvPr/>
          </p:nvSpPr>
          <p:spPr>
            <a:xfrm>
              <a:off x="5486400" y="2540000"/>
              <a:ext cx="711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4000" dirty="0">
                  <a:solidFill>
                    <a:schemeClr val="accent1"/>
                  </a:solidFill>
                  <a:latin typeface="+mj-lt"/>
                  <a:cs typeface="+mj-lt"/>
                </a:rPr>
                <a:t>2</a:t>
              </a:r>
              <a:endParaRPr lang="ru-RU" sz="4000" dirty="0">
                <a:solidFill>
                  <a:schemeClr val="accent1"/>
                </a:solidFill>
                <a:latin typeface="+mj-lt"/>
                <a:cs typeface="+mj-lt"/>
              </a:endParaRPr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6248400" y="2590800"/>
              <a:ext cx="520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800" dirty="0">
                  <a:solidFill>
                    <a:schemeClr val="tx1"/>
                  </a:solidFill>
                  <a:latin typeface="+mj-lt"/>
                  <a:cs typeface="+mj-lt"/>
                </a:rPr>
                <a:t>Накопители — следующий рынок</a:t>
              </a:r>
              <a:endParaRPr lang="ru-RU" sz="1800" dirty="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6248400" y="2946400"/>
              <a:ext cx="5207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30000"/>
                </a:lnSpc>
                <a:buNone/>
              </a:pPr>
              <a:r>
                <a:rPr lang="ru-RU" sz="1250" dirty="0">
                  <a:solidFill>
                    <a:schemeClr val="tx1">
                      <a:alpha val="65000"/>
                    </a:schemeClr>
                  </a:solidFill>
                  <a:latin typeface="+mn-lt"/>
                  <a:cs typeface="+mn-lt"/>
                </a:rPr>
                <a:t>Ёмкость растёт на треть в год. Сеть без хранения не примет весь объём.</a:t>
              </a:r>
              <a:endParaRPr lang="ru-RU" sz="1250" dirty="0">
                <a:solidFill>
                  <a:schemeClr val="tx1">
                    <a:alpha val="65000"/>
                  </a:schemeClr>
                </a:solidFill>
                <a:latin typeface="+mn-lt"/>
                <a:cs typeface="+mn-lt"/>
              </a:endParaRPr>
            </a:p>
          </p:txBody>
        </p:sp>
      </p:grpSp>
      <p:cxnSp>
        <p:nvCxnSpPr>
          <p:cNvPr id="15" name="d2"/>
          <p:cNvCxnSpPr/>
          <p:nvPr/>
        </p:nvCxnSpPr>
        <p:spPr>
          <a:xfrm>
            <a:off x="5486400" y="3810000"/>
            <a:ext cx="5943600" cy="0"/>
          </a:xfrm>
          <a:prstGeom prst="line">
            <a:avLst/>
          </a:prstGeom>
          <a:ln w="12700" cap="rnd">
            <a:solidFill>
              <a:schemeClr val="tx1">
                <a:alpha val="12000"/>
              </a:schemeClr>
            </a:solidFill>
            <a:round/>
          </a:ln>
        </p:spPr>
      </p:cxnSp>
      <p:grpSp>
        <p:nvGrpSpPr>
          <p:cNvPr id="16" name="t3"/>
          <p:cNvGrpSpPr/>
          <p:nvPr/>
        </p:nvGrpSpPr>
        <p:grpSpPr>
          <a:xfrm>
            <a:off x="5486400" y="4191000"/>
            <a:ext cx="5969000" cy="914400"/>
            <a:chOff x="5486400" y="4191000"/>
            <a:chExt cx="5969000" cy="914400"/>
          </a:xfrm>
        </p:grpSpPr>
        <p:sp>
          <p:nvSpPr>
            <p:cNvPr id="17" name="text 17"/>
            <p:cNvSpPr txBox="1"/>
            <p:nvPr/>
          </p:nvSpPr>
          <p:spPr>
            <a:xfrm>
              <a:off x="5486400" y="4191000"/>
              <a:ext cx="711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4000" dirty="0">
                  <a:solidFill>
                    <a:schemeClr val="accent1"/>
                  </a:solidFill>
                  <a:latin typeface="+mj-lt"/>
                  <a:cs typeface="+mj-lt"/>
                </a:rPr>
                <a:t>3</a:t>
              </a:r>
              <a:endParaRPr lang="ru-RU" sz="4000" dirty="0">
                <a:solidFill>
                  <a:schemeClr val="accent1"/>
                </a:solidFill>
                <a:latin typeface="+mj-lt"/>
                <a:cs typeface="+mj-lt"/>
              </a:endParaRPr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6248400" y="4241800"/>
              <a:ext cx="520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800" dirty="0">
                  <a:solidFill>
                    <a:schemeClr val="tx1"/>
                  </a:solidFill>
                  <a:latin typeface="+mj-lt"/>
                  <a:cs typeface="+mj-lt"/>
                </a:rPr>
                <a:t>Цена больше не барьер</a:t>
              </a:r>
              <a:endParaRPr lang="ru-RU" sz="1800" dirty="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6248400" y="4597400"/>
              <a:ext cx="5207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30000"/>
                </a:lnSpc>
                <a:buNone/>
              </a:pPr>
              <a:r>
                <a:rPr lang="ru-RU" sz="1250" dirty="0">
                  <a:solidFill>
                    <a:schemeClr val="tx1">
                      <a:alpha val="65000"/>
                    </a:schemeClr>
                  </a:solidFill>
                  <a:latin typeface="+mn-lt"/>
                  <a:cs typeface="+mn-lt"/>
                </a:rPr>
                <a:t>Стоимость МВт·ч упала на 82 %. Главный риск теперь — сроки подключения.</a:t>
              </a:r>
              <a:endParaRPr lang="ru-RU" sz="1250" dirty="0">
                <a:solidFill>
                  <a:schemeClr val="tx1">
                    <a:alpha val="65000"/>
                  </a:schemeClr>
                </a:solidFill>
                <a:latin typeface="+mn-lt"/>
                <a:cs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5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5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SlideML">
  <a:themeElements>
    <a:clrScheme name="SlideML">
      <a:dk1>
        <a:srgbClr val="0F172A"/>
      </a:dk1>
      <a:lt1>
        <a:srgbClr val="FFFFFF"/>
      </a:lt1>
      <a:dk2>
        <a:srgbClr val="1E293B"/>
      </a:dk2>
      <a:lt2>
        <a:srgbClr val="F6F4EF"/>
      </a:lt2>
      <a:accent1>
        <a:srgbClr val="F59E0B"/>
      </a:accent1>
      <a:accent2>
        <a:srgbClr val="0EA5E9"/>
      </a:accent2>
      <a:accent3>
        <a:srgbClr val="10B981"/>
      </a:accent3>
      <a:accent4>
        <a:srgbClr val="6366F1"/>
      </a:accent4>
      <a:accent5>
        <a:srgbClr val="EF4444"/>
      </a:accent5>
      <a:accent6>
        <a:srgbClr val="94A3B8"/>
      </a:accent6>
      <a:hlink>
        <a:srgbClr val="2F6BFF"/>
      </a:hlink>
      <a:folHlink>
        <a:srgbClr val="8B5CF6"/>
      </a:folHlink>
    </a:clrScheme>
    <a:fontScheme name="SlideML">
      <a:majorFont>
        <a:latin typeface="Inter SemiBold"/>
        <a:ea typeface=""/>
        <a:cs typeface=""/>
      </a:majorFont>
      <a:minorFont>
        <a:latin typeface="Inter"/>
        <a:ea typeface=""/>
        <a:cs typeface=""/>
      </a:minorFont>
    </a:fontScheme>
    <a:fmtScheme name="SlideM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SlideML</Application>
  <Slides>5</Slides>
</Properties>
</file>

<file path=docProps/core.xml><?xml version="1.0" encoding="utf-8"?>
<cp:coreProperties xmlns:cp="http://schemas.openxmlformats.org/package/2006/metadata/core-properties" xmlns:dc="http://purl.org/dc/elements/1.1/">
  <dc:title>solar</dc:title>
  <dc:creator>SlideML</dc:creator>
</cp:coreProperties>
</file>