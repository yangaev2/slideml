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s/slide2.xml" ContentType="application/vnd.openxmlformats-officedocument.presentationml.slide+xml"/>
  <Override PartName="/ppt/charts/chart12.xml" ContentType="application/vnd.openxmlformats-officedocument.drawingml.chart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5000"/>
          <c:y val="0.07407"/>
          <c:w val="0.90000"/>
          <c:h val="0.851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Чек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3.1</c:v>
                </c:pt>
                <c:pt idx="1">
                  <c:v>3.3</c:v>
                </c:pt>
                <c:pt idx="2">
                  <c:v>3.2</c:v>
                </c:pt>
                <c:pt idx="3">
                  <c:v>3.4</c:v>
                </c:pt>
                <c:pt idx="4">
                  <c:v>3.5</c:v>
                </c:pt>
                <c:pt idx="5">
                  <c:v>3.4</c:v>
                </c:pt>
                <c:pt idx="6">
                  <c:v>3.6</c:v>
                </c:pt>
                <c:pt idx="7">
                  <c:v>3.7</c:v>
                </c:pt>
                <c:pt idx="8">
                  <c:v>3.8</c:v>
                </c:pt>
              </c:numCache>
            </c:numRef>
          </c:val>
        </c:ser>
        <c:gapWidth val="60"/>
        <c:overlap val="-10"/>
        <c:axId val="500000001"/>
        <c:axId val="500000002"/>
      </c:barChart>
      <c:catAx>
        <c:axId val="50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chemeClr val="tx1">
                <a:alpha val="25000"/>
              </a:schemeClr>
            </a:solidFill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4"/>
          <c:min val="2.8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1961"/>
          <c:y val="0.04167"/>
          <c:w val="0.96078"/>
          <c:h val="0.916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88</c:v>
                </c:pt>
                <c:pt idx="1">
                  <c:v>91</c:v>
                </c:pt>
                <c:pt idx="2">
                  <c:v>86</c:v>
                </c:pt>
                <c:pt idx="3">
                  <c:v>94</c:v>
                </c:pt>
                <c:pt idx="4">
                  <c:v>90</c:v>
                </c:pt>
                <c:pt idx="5">
                  <c:v>112</c:v>
                </c:pt>
                <c:pt idx="6">
                  <c:v>121</c:v>
                </c:pt>
                <c:pt idx="7">
                  <c:v>104</c:v>
                </c:pt>
                <c:pt idx="8">
                  <c:v>96</c:v>
                </c:pt>
                <c:pt idx="9">
                  <c:v>93</c:v>
                </c:pt>
                <c:pt idx="10">
                  <c:v>99</c:v>
                </c:pt>
                <c:pt idx="11">
                  <c:v>101</c:v>
                </c:pt>
                <c:pt idx="12">
                  <c:v>85</c:v>
                </c:pt>
              </c:numCache>
            </c:numRef>
          </c:val>
        </c:ser>
        <c:gapWidth val="40"/>
        <c:overlap val="-10"/>
        <c:axId val="500000001"/>
        <c:axId val="500000002"/>
      </c:barChart>
      <c:catAx>
        <c:axId val="50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chemeClr val="tx1">
                <a:alpha val="25000"/>
              </a:schemeClr>
            </a:solidFill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2000"/>
          <c:y val="0.05128"/>
          <c:w val="0.96000"/>
          <c:h val="0.897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Визиты</c:v>
                </c:pt>
              </c:strCache>
            </c:strRef>
          </c:tx>
          <c:spPr>
            <a:solidFill>
              <a:srgbClr val="FFFFFF">
                <a:alpha val="55000"/>
              </a:srgbClr>
            </a:solidFill>
            <a:ln>
              <a:noFill/>
            </a:ln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88</c:v>
                </c:pt>
                <c:pt idx="1">
                  <c:v>92</c:v>
                </c:pt>
                <c:pt idx="2">
                  <c:v>85</c:v>
                </c:pt>
                <c:pt idx="3">
                  <c:v>97</c:v>
                </c:pt>
                <c:pt idx="4">
                  <c:v>110</c:v>
                </c:pt>
                <c:pt idx="5">
                  <c:v>104</c:v>
                </c:pt>
                <c:pt idx="6">
                  <c:v>90</c:v>
                </c:pt>
                <c:pt idx="7">
                  <c:v>95</c:v>
                </c:pt>
                <c:pt idx="8">
                  <c:v>99</c:v>
                </c:pt>
                <c:pt idx="9">
                  <c:v>93</c:v>
                </c:pt>
                <c:pt idx="10">
                  <c:v>101</c:v>
                </c:pt>
                <c:pt idx="11">
                  <c:v>108</c:v>
                </c:pt>
                <c:pt idx="12">
                  <c:v>96</c:v>
                </c:pt>
                <c:pt idx="13">
                  <c:v>92</c:v>
                </c:pt>
                <c:pt idx="14">
                  <c:v>98</c:v>
                </c:pt>
                <c:pt idx="15">
                  <c:v>104</c:v>
                </c:pt>
                <c:pt idx="16">
                  <c:v>112</c:v>
                </c:pt>
                <c:pt idx="17">
                  <c:v>99</c:v>
                </c:pt>
                <c:pt idx="18">
                  <c:v>95</c:v>
                </c:pt>
                <c:pt idx="19">
                  <c:v>91</c:v>
                </c:pt>
                <c:pt idx="20">
                  <c:v>100</c:v>
                </c:pt>
                <c:pt idx="21">
                  <c:v>106</c:v>
                </c:pt>
                <c:pt idx="22">
                  <c:v>115</c:v>
                </c:pt>
                <c:pt idx="23">
                  <c:v>103</c:v>
                </c:pt>
                <c:pt idx="24">
                  <c:v>97</c:v>
                </c:pt>
                <c:pt idx="25">
                  <c:v>94</c:v>
                </c:pt>
                <c:pt idx="26">
                  <c:v>99</c:v>
                </c:pt>
                <c:pt idx="27">
                  <c:v>108</c:v>
                </c:pt>
                <c:pt idx="28">
                  <c:v>118</c:v>
                </c:pt>
                <c:pt idx="29">
                  <c:v>102</c:v>
                </c:pt>
              </c:numCache>
            </c:numRef>
          </c:val>
        </c:ser>
        <c:gapWidth val="45"/>
        <c:overlap val="-10"/>
        <c:axId val="500000001"/>
        <c:axId val="500000002"/>
      </c:barChart>
      <c:catAx>
        <c:axId val="50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chemeClr val="tx1">
                <a:alpha val="25000"/>
              </a:schemeClr>
            </a:solidFill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2778"/>
          <c:y val="0.02778"/>
          <c:w val="0.94444"/>
          <c:h val="0.9444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6"/>
              </a:solidFill>
              <a:ln w="19050">
                <a:solidFill>
                  <a:schemeClr val="bg1"/>
                </a:solidFill>
              </a:ln>
            </c:spPr>
          </c:dPt>
          <c:dPt>
            <c:idx val="4"/>
            <c:bubble3D val="0"/>
            <c:spPr>
              <a:solidFill>
                <a:srgbClr val="55607A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Электроника</c:v>
                </c:pt>
                <c:pt idx="1">
                  <c:v>Дом и сад</c:v>
                </c:pt>
                <c:pt idx="2">
                  <c:v>Одежда</c:v>
                </c:pt>
                <c:pt idx="3">
                  <c:v>Красота</c:v>
                </c:pt>
                <c:pt idx="4">
                  <c:v>Прочее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24</c:v>
                </c:pt>
                <c:pt idx="2">
                  <c:v>21</c:v>
                </c:pt>
                <c:pt idx="3">
                  <c:v>11</c:v>
                </c:pt>
                <c:pt idx="4">
                  <c:v>6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8608"/>
          <c:y val="0.02703"/>
          <c:w val="0.89974"/>
          <c:h val="0.836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2225" cap="rnd">
              <a:solidFill>
                <a:srgbClr val="FFFFFF">
                  <a:alpha val="40000"/>
                </a:srgbClr>
              </a:solidFill>
              <a:round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0.98</c:v>
                </c:pt>
                <c:pt idx="1">
                  <c:v>0.95</c:v>
                </c:pt>
                <c:pt idx="2">
                  <c:v>1.06</c:v>
                </c:pt>
                <c:pt idx="3">
                  <c:v>1.04</c:v>
                </c:pt>
                <c:pt idx="4">
                  <c:v>1.1</c:v>
                </c:pt>
                <c:pt idx="5">
                  <c:v>1.12</c:v>
                </c:pt>
                <c:pt idx="6">
                  <c:v>1.18</c:v>
                </c:pt>
                <c:pt idx="7">
                  <c:v>1.26</c:v>
                </c:pt>
                <c:pt idx="8">
                  <c:v>1.36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1.21</c:v>
                </c:pt>
                <c:pt idx="1">
                  <c:v>1.18</c:v>
                </c:pt>
                <c:pt idx="2">
                  <c:v>1.34</c:v>
                </c:pt>
                <c:pt idx="3">
                  <c:v>1.29</c:v>
                </c:pt>
                <c:pt idx="4">
                  <c:v>1.38</c:v>
                </c:pt>
                <c:pt idx="5">
                  <c:v>1.42</c:v>
                </c:pt>
                <c:pt idx="6">
                  <c:v>1.47</c:v>
                </c:pt>
                <c:pt idx="7">
                  <c:v>1.62</c:v>
                </c:pt>
                <c:pt idx="8">
                  <c:v>1.73</c:v>
                </c:pt>
              </c:numCache>
            </c:numRef>
          </c:val>
          <c:smooth val="1"/>
        </c:ser>
        <c:marker val="1"/>
        <c:axId val="500000001"/>
        <c:axId val="500000002"/>
      </c:line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FFFFFF">
                <a:alpha val="15000"/>
              </a:srgbClr>
            </a:solidFill>
          </a:ln>
        </c:spPr>
        <c:txPr>
          <a:bodyPr/>
          <a:lstStyle/>
          <a:p>
            <a:pPr>
              <a:defRPr sz="850" b="0">
                <a:solidFill>
                  <a:srgbClr val="8E9AB8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.8"/>
          <c:min val="0.8"/>
        </c:scaling>
        <c:delete val="0"/>
        <c:axPos val="l"/>
        <c:majorGridlines>
          <c:spPr>
            <a:ln w="6350">
              <a:solidFill>
                <a:srgbClr val="FFFFFF">
                  <a:alpha val="8000"/>
                </a:srgbClr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50" b="0">
                <a:solidFill>
                  <a:srgbClr val="8E9AB8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0.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50" b="0">
          <a:solidFill>
            <a:srgbClr val="8E9AB8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29399"/>
          <c:y val="0.02899"/>
          <c:w val="0.60373"/>
          <c:h val="0.942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alpha val="35000"/>
                  </a:schemeClr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c:spPr>
          <c:invertIfNegative val="0"/>
          <c:dLbls>
            <c:numFmt formatCode="# 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B2236"/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Москва и МО</c:v>
                </c:pt>
                <c:pt idx="1">
                  <c:v>Санкт-Петербург</c:v>
                </c:pt>
                <c:pt idx="2">
                  <c:v>Урал</c:v>
                </c:pt>
                <c:pt idx="3">
                  <c:v>Поволжье</c:v>
                </c:pt>
                <c:pt idx="4">
                  <c:v>Сибирь</c:v>
                </c:pt>
                <c:pt idx="5">
                  <c:v>Юг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1690</c:v>
                </c:pt>
                <c:pt idx="1">
                  <c:v>742</c:v>
                </c:pt>
                <c:pt idx="2">
                  <c:v>586</c:v>
                </c:pt>
                <c:pt idx="3">
                  <c:v>534</c:v>
                </c:pt>
                <c:pt idx="4">
                  <c:v>468</c:v>
                </c:pt>
                <c:pt idx="5">
                  <c:v>431</c:v>
                </c:pt>
              </c:numCache>
            </c:numRef>
          </c:val>
        </c:ser>
        <c:gapWidth val="55"/>
        <c:overlap val="-10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FFFFFF">
                <a:alpha val="0"/>
              </a:srgbClr>
            </a:solidFill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2000"/>
          <c:min val="0"/>
        </c:scaling>
        <c:delete val="1"/>
        <c:axPos val="b"/>
        <c:numFmt formatCode="# 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max"/>
        <c:crossBetween val="between"/>
        <c:majorUnit val="5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50" b="0">
          <a:solidFill>
            <a:srgbClr val="6B7690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3125"/>
          <c:y val="0.03125"/>
          <c:w val="0.93750"/>
          <c:h val="0.93750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Новые</c:v>
                </c:pt>
                <c:pt idx="1">
                  <c:v>Повторные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1408"/>
          <c:y val="0.12754"/>
          <c:w val="0.97183"/>
          <c:h val="0.726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Чек</c:v>
                </c:pt>
              </c:strCache>
            </c:strRef>
          </c:tx>
          <c:spPr>
            <a:gradFill rotWithShape="1">
              <a:gsLst>
                <a:gs pos="0">
                  <a:schemeClr val="accent3"/>
                </a:gs>
                <a:gs pos="100000">
                  <a:srgbClr val="FFC67A"/>
                </a:gs>
              </a:gsLst>
              <a:lin ang="5400000" scaled="0"/>
            </a:gradFill>
            <a:ln>
              <a:noFill/>
            </a:ln>
          </c:spPr>
          <c:invertIfNegative val="0"/>
          <c:dLbls>
            <c:numFmt formatCode="# 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0">
                    <a:solidFill>
                      <a:srgbClr val="1B2236"/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2450</c:v>
                </c:pt>
                <c:pt idx="1">
                  <c:v>3610</c:v>
                </c:pt>
                <c:pt idx="2">
                  <c:v>4280</c:v>
                </c:pt>
                <c:pt idx="3">
                  <c:v>4120</c:v>
                </c:pt>
                <c:pt idx="4">
                  <c:v>3390</c:v>
                </c:pt>
              </c:numCache>
            </c:numRef>
          </c:val>
        </c:ser>
        <c:gapWidth val="70"/>
        <c:overlap val="-1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1B2236">
                <a:alpha val="15000"/>
              </a:srgbClr>
            </a:solidFill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5000"/>
          <c:min val="0"/>
        </c:scaling>
        <c:delete val="1"/>
        <c:axPos val="l"/>
        <c:numFmt formatCode="# 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1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50" b="0">
          <a:solidFill>
            <a:srgbClr val="6B7690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8761"/>
          <c:y val="0.02857"/>
          <c:w val="0.89831"/>
          <c:h val="0.8314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2225" cap="rnd">
              <a:solidFill>
                <a:srgbClr val="B6BECF"/>
              </a:solidFill>
              <a:round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76</c:v>
                </c:pt>
                <c:pt idx="2">
                  <c:v>73</c:v>
                </c:pt>
                <c:pt idx="3">
                  <c:v>78</c:v>
                </c:pt>
                <c:pt idx="4">
                  <c:v>77</c:v>
                </c:pt>
                <c:pt idx="5">
                  <c:v>86</c:v>
                </c:pt>
                <c:pt idx="6">
                  <c:v>90</c:v>
                </c:pt>
                <c:pt idx="7">
                  <c:v>84</c:v>
                </c:pt>
                <c:pt idx="8">
                  <c:v>80</c:v>
                </c:pt>
                <c:pt idx="9">
                  <c:v>79</c:v>
                </c:pt>
                <c:pt idx="10">
                  <c:v>82</c:v>
                </c:pt>
                <c:pt idx="11">
                  <c:v>83</c:v>
                </c:pt>
                <c:pt idx="12">
                  <c:v>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88</c:v>
                </c:pt>
                <c:pt idx="1">
                  <c:v>91</c:v>
                </c:pt>
                <c:pt idx="2">
                  <c:v>86</c:v>
                </c:pt>
                <c:pt idx="3">
                  <c:v>94</c:v>
                </c:pt>
                <c:pt idx="4">
                  <c:v>90</c:v>
                </c:pt>
                <c:pt idx="5">
                  <c:v>112</c:v>
                </c:pt>
                <c:pt idx="6">
                  <c:v>121</c:v>
                </c:pt>
                <c:pt idx="7">
                  <c:v>104</c:v>
                </c:pt>
                <c:pt idx="8">
                  <c:v>96</c:v>
                </c:pt>
                <c:pt idx="9">
                  <c:v>93</c:v>
                </c:pt>
                <c:pt idx="10">
                  <c:v>99</c:v>
                </c:pt>
                <c:pt idx="11">
                  <c:v>101</c:v>
                </c:pt>
                <c:pt idx="12">
                  <c:v>85</c:v>
                </c:pt>
              </c:numCache>
            </c:numRef>
          </c:val>
          <c:smooth val="1"/>
        </c:ser>
        <c:marker val="1"/>
        <c:axId val="500000001"/>
        <c:axId val="500000002"/>
      </c:line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1B2236">
                <a:alpha val="15000"/>
              </a:srgbClr>
            </a:solidFill>
          </a:ln>
        </c:spPr>
        <c:txPr>
          <a:bodyPr/>
          <a:lstStyle/>
          <a:p>
            <a:pPr>
              <a:defRPr sz="80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40"/>
          <c:min val="40"/>
        </c:scaling>
        <c:delete val="0"/>
        <c:axPos val="l"/>
        <c:majorGridlines>
          <c:spPr>
            <a:ln w="6350">
              <a:solidFill>
                <a:srgbClr val="1B2236">
                  <a:alpha val="8000"/>
                </a:srgbClr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0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00" b="0">
          <a:solidFill>
            <a:srgbClr val="6B7690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2899"/>
          <c:y val="0.02899"/>
          <c:w val="0.94203"/>
          <c:h val="0.9420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Рассрочка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rgbClr val="E3E8F1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Доля</c:v>
                </c:pt>
                <c:pt idx="1">
                  <c:v>Остальные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СБП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rgbClr val="E3E8F1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Доля</c:v>
                </c:pt>
                <c:pt idx="1">
                  <c:v>Остальные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</c:v>
                </c:pt>
                <c:pt idx="1">
                  <c:v>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Карта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rgbClr val="E3E8F1"/>
              </a:solidFill>
              <a:ln w="19050">
                <a:solidFill>
                  <a:schemeClr val="bg1"/>
                </a:solidFill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Доля</c:v>
                </c:pt>
                <c:pt idx="1">
                  <c:v>Остальные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46</c:v>
                </c:pt>
                <c:pt idx="1">
                  <c:v>54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29399"/>
          <c:y val="0.02857"/>
          <c:w val="0.61691"/>
          <c:h val="0.942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Штат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alpha val="15000"/>
                  </a:schemeClr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B2236"/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Подольск</c:v>
                </c:pt>
                <c:pt idx="1">
                  <c:v>Казань</c:v>
                </c:pt>
                <c:pt idx="2">
                  <c:v>Екатеринбург</c:v>
                </c:pt>
                <c:pt idx="3">
                  <c:v>Санкт-Петербург</c:v>
                </c:pt>
                <c:pt idx="4">
                  <c:v>Новосибирск</c:v>
                </c:pt>
                <c:pt idx="5">
                  <c:v>Краснодар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</c:v>
                </c:pt>
                <c:pt idx="1">
                  <c:v>340</c:v>
                </c:pt>
                <c:pt idx="2">
                  <c:v>310</c:v>
                </c:pt>
                <c:pt idx="3">
                  <c:v>270</c:v>
                </c:pt>
                <c:pt idx="4">
                  <c:v>260</c:v>
                </c:pt>
                <c:pt idx="5">
                  <c:v>240</c:v>
                </c:pt>
              </c:numCache>
            </c:numRef>
          </c:val>
        </c:ser>
        <c:gapWidth val="55"/>
        <c:overlap val="-10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FFFFFF">
                <a:alpha val="0"/>
              </a:srgbClr>
            </a:solidFill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600"/>
          <c:min val="0"/>
        </c:scaling>
        <c:delete val="1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5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max"/>
        <c:crossBetween val="between"/>
        <c:majorUnit val="2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50" b="0">
          <a:solidFill>
            <a:srgbClr val="6B7690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4680"/>
          <c:y val="0.01026"/>
          <c:w val="0.94613"/>
          <c:h val="0.936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DCE2F0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1B2236">
                        <a:alpha val="75000"/>
                      </a:srgbClr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Sheet1!$A$2:$A$14</c:f>
              <c:strCache>
                <c:ptCount val="13"/>
                <c:pt idx="0">
                  <c:v>Н1</c:v>
                </c:pt>
                <c:pt idx="1">
                  <c:v>Н2</c:v>
                </c:pt>
                <c:pt idx="2">
                  <c:v>Н3</c:v>
                </c:pt>
                <c:pt idx="3">
                  <c:v>Н4</c:v>
                </c:pt>
                <c:pt idx="4">
                  <c:v>Н5</c:v>
                </c:pt>
                <c:pt idx="5">
                  <c:v>Н6</c:v>
                </c:pt>
                <c:pt idx="6">
                  <c:v>Н7</c:v>
                </c:pt>
                <c:pt idx="7">
                  <c:v>Н8</c:v>
                </c:pt>
                <c:pt idx="8">
                  <c:v>Н9</c:v>
                </c:pt>
                <c:pt idx="9">
                  <c:v>Н10</c:v>
                </c:pt>
                <c:pt idx="10">
                  <c:v>Н11</c:v>
                </c:pt>
                <c:pt idx="11">
                  <c:v>Н12</c:v>
                </c:pt>
                <c:pt idx="12">
                  <c:v>Н13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88</c:v>
                </c:pt>
                <c:pt idx="1">
                  <c:v>91</c:v>
                </c:pt>
                <c:pt idx="2">
                  <c:v>86</c:v>
                </c:pt>
                <c:pt idx="3">
                  <c:v>94</c:v>
                </c:pt>
                <c:pt idx="4">
                  <c:v>90</c:v>
                </c:pt>
                <c:pt idx="5">
                  <c:v>112</c:v>
                </c:pt>
                <c:pt idx="6">
                  <c:v>121</c:v>
                </c:pt>
                <c:pt idx="7">
                  <c:v>104</c:v>
                </c:pt>
                <c:pt idx="8">
                  <c:v>96</c:v>
                </c:pt>
                <c:pt idx="9">
                  <c:v>93</c:v>
                </c:pt>
                <c:pt idx="10">
                  <c:v>99</c:v>
                </c:pt>
                <c:pt idx="11">
                  <c:v>101</c:v>
                </c:pt>
                <c:pt idx="12">
                  <c:v>85</c:v>
                </c:pt>
              </c:numCache>
            </c:numRef>
          </c:val>
        </c:ser>
        <c:gapWidth val="45"/>
        <c:overlap val="-1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1B2236">
                <a:alpha val="15000"/>
              </a:srgbClr>
            </a:solidFill>
          </a:ln>
        </c:spPr>
        <c:txPr>
          <a:bodyPr/>
          <a:lstStyle/>
          <a:p>
            <a:pPr>
              <a:defRPr sz="90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40"/>
          <c:min val="0"/>
        </c:scaling>
        <c:delete val="0"/>
        <c:axPos val="l"/>
        <c:majorGridlines>
          <c:spPr>
            <a:ln w="6350">
              <a:solidFill>
                <a:srgbClr val="1B2236">
                  <a:alpha val="6000"/>
                </a:srgbClr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6B7690"/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2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900" b="0">
          <a:solidFill>
            <a:srgbClr val="6B7690"/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1498"/>
          <c:y val="0.05000"/>
          <c:w val="0.97004"/>
          <c:h val="0.90000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gradFill rotWithShape="1">
              <a:gsLst>
                <a:gs pos="0">
                  <a:srgbClr val="FF7AA8">
                    <a:alpha val="90000"/>
                  </a:srgbClr>
                </a:gs>
                <a:gs pos="100000">
                  <a:schemeClr val="accent2">
                    <a:alpha val="5000"/>
                  </a:schemeClr>
                </a:gs>
              </a:gsLst>
              <a:lin ang="5400000" scaled="0"/>
            </a:gradFill>
            <a:ln w="6350" cap="rnd">
              <a:solidFill>
                <a:schemeClr val="accent2">
                  <a:alpha val="0"/>
                </a:schemeClr>
              </a:solidFill>
              <a:round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1.21</c:v>
                </c:pt>
                <c:pt idx="1">
                  <c:v>1.18</c:v>
                </c:pt>
                <c:pt idx="2">
                  <c:v>1.34</c:v>
                </c:pt>
                <c:pt idx="3">
                  <c:v>1.29</c:v>
                </c:pt>
                <c:pt idx="4">
                  <c:v>1.38</c:v>
                </c:pt>
                <c:pt idx="5">
                  <c:v>1.42</c:v>
                </c:pt>
                <c:pt idx="6">
                  <c:v>1.47</c:v>
                </c:pt>
                <c:pt idx="7">
                  <c:v>1.62</c:v>
                </c:pt>
                <c:pt idx="8">
                  <c:v>1.73</c:v>
                </c:pt>
              </c:numCache>
            </c:numRef>
          </c:val>
        </c:ser>
        <c:axId val="500000001"/>
        <c:axId val="500000002"/>
      </c:areaChart>
      <c:catAx>
        <c:axId val="50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chemeClr val="tx1">
                <a:alpha val="25000"/>
              </a:schemeClr>
            </a:solidFill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1.8"/>
          <c:min val="0.9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200" b="0">
                <a:solidFill>
                  <a:schemeClr val="tx1">
                    <a:alpha val="70000"/>
                  </a:scheme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midCat"/>
        <c:majorUnit val="0.2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alpha val="70000"/>
            </a:scheme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c:chart>
    <c:autoTitleDeleted val="1"/>
    <c:plotArea>
      <c:layout>
        <c:manualLayout>
          <c:layoutTarget val="inner"/>
          <c:xMode val="edge"/>
          <c:yMode val="edge"/>
          <c:x val="0.01498"/>
          <c:y val="0.20682"/>
          <c:w val="0.97004"/>
          <c:h val="0.5704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ln w="31750" cap="rnd">
              <a:solidFill>
                <a:schemeClr val="accent6"/>
              </a:solidFill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FFFFFF">
                    <a:alpha val="45000"/>
                  </a:srgbClr>
                </a:solidFill>
                <a:ln>
                  <a:noFill/>
                </a:ln>
              </c:spPr>
            </c:marker>
            <c:bubble3D val="0"/>
          </c:dPt>
          <c:dPt>
            <c:idx val="1"/>
            <c:marker>
              <c:symbol val="circle"/>
              <c:size val="7"/>
              <c:spPr>
                <a:solidFill>
                  <a:srgbClr val="FFFFFF">
                    <a:alpha val="45000"/>
                  </a:srgbClr>
                </a:solidFill>
                <a:ln>
                  <a:noFill/>
                </a:ln>
              </c:spPr>
            </c:marker>
            <c:bubble3D val="0"/>
          </c:dPt>
          <c:dPt>
            <c:idx val="2"/>
            <c:marker>
              <c:symbol val="circle"/>
              <c:size val="7"/>
              <c:spPr>
                <a:solidFill>
                  <a:srgbClr val="FFFFFF">
                    <a:alpha val="45000"/>
                  </a:srgbClr>
                </a:solidFill>
                <a:ln>
                  <a:noFill/>
                </a:ln>
              </c:spPr>
            </c:marker>
            <c:bubble3D val="0"/>
          </c:dPt>
          <c:dPt>
            <c:idx val="3"/>
            <c:marker>
              <c:symbol val="circle"/>
              <c:size val="7"/>
              <c:spPr>
                <a:solidFill>
                  <a:srgbClr val="FFFFFF">
                    <a:alpha val="45000"/>
                  </a:srgbClr>
                </a:solidFill>
                <a:ln>
                  <a:noFill/>
                </a:ln>
              </c:spPr>
            </c:marker>
            <c:bubble3D val="0"/>
          </c:dPt>
          <c:dPt>
            <c:idx val="4"/>
            <c:marker>
              <c:symbol val="circle"/>
              <c:size val="7"/>
              <c:spPr>
                <a:solidFill>
                  <a:schemeClr val="accent6"/>
                </a:solidFill>
                <a:ln>
                  <a:noFill/>
                </a:ln>
              </c:spPr>
            </c:marker>
            <c:bubble3D val="0"/>
          </c:dPt>
          <c:dLbls>
            <c:numFmt formatCode="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FFFFFF">
                        <a:alpha val="80000"/>
                      </a:srgbClr>
                    </a:solidFill>
                    <a:latin typeface="Manrope"/>
                    <a:cs typeface="Manrope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Q3’25</c:v>
                </c:pt>
                <c:pt idx="1">
                  <c:v>Q4’25</c:v>
                </c:pt>
                <c:pt idx="2">
                  <c:v>Q1’26</c:v>
                </c:pt>
                <c:pt idx="3">
                  <c:v>Q2’26</c:v>
                </c:pt>
                <c:pt idx="4">
                  <c:v>Q3’26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58</c:v>
                </c:pt>
                <c:pt idx="2">
                  <c:v>59</c:v>
                </c:pt>
                <c:pt idx="3">
                  <c:v>60</c:v>
                </c:pt>
                <c:pt idx="4">
                  <c:v>62</c:v>
                </c:pt>
              </c:numCache>
            </c:numRef>
          </c:val>
          <c:smooth val="0"/>
        </c:ser>
        <c:marker val="1"/>
        <c:axId val="500000001"/>
        <c:axId val="500000002"/>
      </c:line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FFFFFF">
                <a:alpha val="0"/>
              </a:srgbClr>
            </a:solidFill>
          </a:ln>
        </c:spPr>
        <c:txPr>
          <a:bodyPr/>
          <a:lstStyle/>
          <a:p>
            <a:pPr>
              <a:defRPr sz="800" b="0">
                <a:solidFill>
                  <a:srgbClr val="FFFFFF">
                    <a:alpha val="50000"/>
                  </a:srgb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ax val="64"/>
          <c:min val="54"/>
        </c:scaling>
        <c:delete val="1"/>
        <c:axPos val="l"/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800" b="0">
                <a:solidFill>
                  <a:srgbClr val="FFFFFF">
                    <a:alpha val="50000"/>
                  </a:srgbClr>
                </a:solidFill>
                <a:latin typeface="Manrope"/>
                <a:cs typeface="Manrope"/>
              </a:defRPr>
            </a:pPr>
            <a:endParaRPr lang="ru-RU"/>
          </a:p>
        </c:txPr>
        <c:crossAx val="50000000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800" b="0">
          <a:solidFill>
            <a:srgbClr val="FFFFFF">
              <a:alpha val="50000"/>
            </a:srgbClr>
          </a:solidFill>
          <a:latin typeface="Manrope"/>
          <a:cs typeface="Manrope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chart" Target="../charts/chart1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874000" y="-22860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7C5CFF">
                  <a:alpha val="35000"/>
                </a:srgbClr>
              </a:gs>
              <a:gs pos="100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62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-2032000" y="4572000"/>
            <a:ext cx="6096000" cy="4572000"/>
          </a:xfrm>
          <a:prstGeom prst="ellipse">
            <a:avLst/>
          </a:prstGeom>
          <a:gradFill rotWithShape="1">
            <a:gsLst>
              <a:gs pos="0">
                <a:srgbClr val="3B82F6">
                  <a:alpha val="25000"/>
                </a:srgbClr>
              </a:gs>
              <a:gs pos="100000">
                <a:srgbClr val="3B82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62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4" name="logo"/>
          <p:cNvGrpSpPr/>
          <p:nvPr/>
        </p:nvGrpSpPr>
        <p:grpSpPr>
          <a:xfrm>
            <a:off x="304800" y="228600"/>
            <a:ext cx="381000" cy="381000"/>
            <a:chOff x="304800" y="228600"/>
            <a:chExt cx="381000" cy="381000"/>
          </a:xfrm>
        </p:grpSpPr>
        <p:sp>
          <p:nvSpPr>
            <p:cNvPr id="5" name="shape 5"/>
            <p:cNvSpPr/>
            <p:nvPr/>
          </p:nvSpPr>
          <p:spPr>
            <a:xfrm>
              <a:off x="304800" y="228600"/>
              <a:ext cx="381000" cy="381000"/>
            </a:xfrm>
            <a:prstGeom prst="roundRect">
              <a:avLst>
                <a:gd name="adj" fmla="val 26667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" name="icon 6"/>
            <p:cNvSpPr/>
            <p:nvPr/>
          </p:nvSpPr>
          <p:spPr>
            <a:xfrm>
              <a:off x="393700" y="3175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10000"/>
                  </a:moveTo>
                  <a:cubicBezTo>
                    <a:pt x="16000" y="12209"/>
                    <a:pt x="14209" y="14000"/>
                    <a:pt x="12000" y="14000"/>
                  </a:cubicBezTo>
                  <a:cubicBezTo>
                    <a:pt x="9791" y="14000"/>
                    <a:pt x="8000" y="12209"/>
                    <a:pt x="8000" y="10000"/>
                  </a:cubicBezTo>
                </a:path>
                <a:path w="24000" h="24000" fill="none">
                  <a:moveTo>
                    <a:pt x="3103" y="6034"/>
                  </a:moveTo>
                  <a:lnTo>
                    <a:pt x="20897" y="6034"/>
                  </a:lnTo>
                </a:path>
                <a:path w="24000" h="24000" fill="none">
                  <a:moveTo>
                    <a:pt x="3400" y="5467"/>
                  </a:moveTo>
                  <a:cubicBezTo>
                    <a:pt x="3140" y="5813"/>
                    <a:pt x="3000" y="6234"/>
                    <a:pt x="3000" y="6667"/>
                  </a:cubicBezTo>
                  <a:lnTo>
                    <a:pt x="3000" y="20000"/>
                  </a:lnTo>
                  <a:cubicBezTo>
                    <a:pt x="3000" y="21105"/>
                    <a:pt x="3895" y="22000"/>
                    <a:pt x="5000" y="22000"/>
                  </a:cubicBezTo>
                  <a:lnTo>
                    <a:pt x="19000" y="22000"/>
                  </a:lnTo>
                  <a:cubicBezTo>
                    <a:pt x="20105" y="22000"/>
                    <a:pt x="21000" y="21105"/>
                    <a:pt x="21000" y="20000"/>
                  </a:cubicBezTo>
                  <a:lnTo>
                    <a:pt x="21000" y="6667"/>
                  </a:lnTo>
                  <a:cubicBezTo>
                    <a:pt x="21000" y="6234"/>
                    <a:pt x="20860" y="5813"/>
                    <a:pt x="20600" y="5467"/>
                  </a:cubicBezTo>
                  <a:lnTo>
                    <a:pt x="18600" y="2800"/>
                  </a:lnTo>
                  <a:cubicBezTo>
                    <a:pt x="18222" y="2296"/>
                    <a:pt x="17630" y="2000"/>
                    <a:pt x="17000" y="2000"/>
                  </a:cubicBezTo>
                  <a:lnTo>
                    <a:pt x="7000" y="2000"/>
                  </a:lnTo>
                  <a:cubicBezTo>
                    <a:pt x="6370" y="2000"/>
                    <a:pt x="5778" y="2296"/>
                    <a:pt x="5400" y="2800"/>
                  </a:cubicBezTo>
                  <a:close/>
                </a:path>
              </a:pathLst>
            </a:custGeom>
            <a:noFill/>
            <a:ln w="18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7" name="hdr"/>
          <p:cNvGrpSpPr/>
          <p:nvPr/>
        </p:nvGrpSpPr>
        <p:grpSpPr>
          <a:xfrm>
            <a:off x="812800" y="215900"/>
            <a:ext cx="11074400" cy="419100"/>
            <a:chOff x="812800" y="215900"/>
            <a:chExt cx="11074400" cy="419100"/>
          </a:xfrm>
        </p:grpSpPr>
        <p:sp>
          <p:nvSpPr>
            <p:cNvPr id="8" name="text 8"/>
            <p:cNvSpPr txBox="1"/>
            <p:nvPr/>
          </p:nvSpPr>
          <p:spPr>
            <a:xfrm>
              <a:off x="812800" y="215900"/>
              <a:ext cx="58420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500" dirty="0">
                  <a:solidFill>
                    <a:srgbClr val="FFFFFF"/>
                  </a:solidFill>
                  <a:latin typeface="+mj-lt"/>
                  <a:cs typeface="+mj-lt"/>
                </a:rPr>
                <a:t>Корзина+ · дашборд Q3 2026</a:t>
              </a:r>
              <a:endParaRPr lang="ru-RU" sz="15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812800" y="457200"/>
              <a:ext cx="584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8E9AB8"/>
                  </a:solidFill>
                  <a:latin typeface="+mn-lt"/>
                  <a:cs typeface="+mn-lt"/>
                </a:rPr>
                <a:t>Онлайн-ретейл · июль — сентябрь 2026 · сравнение с Q3 2025</a:t>
              </a:r>
              <a:endParaRPr lang="ru-RU" sz="95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sp>
          <p:nvSpPr>
            <p:cNvPr id="10" name="shape 10"/>
            <p:cNvSpPr/>
            <p:nvPr/>
          </p:nvSpPr>
          <p:spPr>
            <a:xfrm>
              <a:off x="9855200" y="279400"/>
              <a:ext cx="2032000" cy="2794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000"/>
              </a:srgbClr>
            </a:solidFill>
            <a:ln w="9525" cap="rnd">
              <a:solidFill>
                <a:srgbClr val="FFFFFF">
                  <a:alpha val="10000"/>
                </a:srgbClr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900" dirty="0">
                  <a:solidFill>
                    <a:schemeClr val="accent4"/>
                  </a:solidFill>
                  <a:latin typeface="Segoe UI"/>
                  <a:cs typeface="Segoe UI"/>
                </a:rPr>
                <a:t>●</a:t>
              </a:r>
              <a:r>
                <a:rPr lang="ru-RU" sz="900" dirty="0">
                  <a:solidFill>
                    <a:srgbClr val="C9D1E6"/>
                  </a:solidFill>
                  <a:latin typeface="+mn-lt"/>
                  <a:cs typeface="+mn-lt"/>
                </a:rPr>
                <a:t> Данные на 30.09.2026</a:t>
              </a:r>
              <a:endParaRPr lang="ru-RU" sz="90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1" name="k1"/>
          <p:cNvGrpSpPr/>
          <p:nvPr/>
        </p:nvGrpSpPr>
        <p:grpSpPr>
          <a:xfrm>
            <a:off x="304800" y="787400"/>
            <a:ext cx="2743200" cy="1016000"/>
            <a:chOff x="304800" y="787400"/>
            <a:chExt cx="2743200" cy="1016000"/>
          </a:xfrm>
        </p:grpSpPr>
        <p:sp>
          <p:nvSpPr>
            <p:cNvPr id="12" name="shape 12"/>
            <p:cNvSpPr/>
            <p:nvPr/>
          </p:nvSpPr>
          <p:spPr>
            <a:xfrm>
              <a:off x="304800" y="787400"/>
              <a:ext cx="2743200" cy="1016000"/>
            </a:xfrm>
            <a:prstGeom prst="roundRect">
              <a:avLst>
                <a:gd name="adj" fmla="val 1250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482600" y="990600"/>
              <a:ext cx="609600" cy="6096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  <a:effectLst>
              <a:glow rad="101600">
                <a:schemeClr val="accent2">
                  <a:alpha val="30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4" name="icon 14"/>
            <p:cNvSpPr/>
            <p:nvPr/>
          </p:nvSpPr>
          <p:spPr>
            <a:xfrm>
              <a:off x="635000" y="11430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9000" y="7000"/>
                  </a:moveTo>
                  <a:lnTo>
                    <a:pt x="19000" y="4000"/>
                  </a:lnTo>
                  <a:cubicBezTo>
                    <a:pt x="19000" y="3448"/>
                    <a:pt x="18552" y="3000"/>
                    <a:pt x="18000" y="3000"/>
                  </a:cubicBezTo>
                  <a:lnTo>
                    <a:pt x="5000" y="3000"/>
                  </a:lnTo>
                  <a:cubicBezTo>
                    <a:pt x="3895" y="3000"/>
                    <a:pt x="3000" y="3895"/>
                    <a:pt x="3000" y="5000"/>
                  </a:cubicBezTo>
                  <a:cubicBezTo>
                    <a:pt x="3000" y="6105"/>
                    <a:pt x="3895" y="7000"/>
                    <a:pt x="5000" y="7000"/>
                  </a:cubicBezTo>
                  <a:lnTo>
                    <a:pt x="20000" y="7000"/>
                  </a:lnTo>
                  <a:cubicBezTo>
                    <a:pt x="20552" y="7000"/>
                    <a:pt x="21000" y="7448"/>
                    <a:pt x="21000" y="8000"/>
                  </a:cubicBezTo>
                  <a:lnTo>
                    <a:pt x="21000" y="12000"/>
                  </a:lnTo>
                  <a:lnTo>
                    <a:pt x="18000" y="12000"/>
                  </a:lnTo>
                  <a:cubicBezTo>
                    <a:pt x="16895" y="12000"/>
                    <a:pt x="16000" y="12895"/>
                    <a:pt x="16000" y="14000"/>
                  </a:cubicBezTo>
                  <a:cubicBezTo>
                    <a:pt x="16000" y="15105"/>
                    <a:pt x="16895" y="16000"/>
                    <a:pt x="18000" y="16000"/>
                  </a:cubicBezTo>
                  <a:lnTo>
                    <a:pt x="21000" y="16000"/>
                  </a:lnTo>
                  <a:cubicBezTo>
                    <a:pt x="21552" y="16000"/>
                    <a:pt x="22000" y="15552"/>
                    <a:pt x="22000" y="15000"/>
                  </a:cubicBezTo>
                  <a:lnTo>
                    <a:pt x="22000" y="13000"/>
                  </a:lnTo>
                  <a:cubicBezTo>
                    <a:pt x="22000" y="12448"/>
                    <a:pt x="21552" y="12000"/>
                    <a:pt x="21000" y="12000"/>
                  </a:cubicBezTo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0000" y="21000"/>
                  </a:lnTo>
                  <a:cubicBezTo>
                    <a:pt x="20552" y="21000"/>
                    <a:pt x="21000" y="20552"/>
                    <a:pt x="21000" y="20000"/>
                  </a:cubicBezTo>
                  <a:lnTo>
                    <a:pt x="21000" y="16000"/>
                  </a:lnTo>
                </a:path>
              </a:pathLst>
            </a:custGeom>
            <a:noFill/>
            <a:ln w="2540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1244600" y="990600"/>
              <a:ext cx="1778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200" dirty="0">
                  <a:solidFill>
                    <a:srgbClr val="FFFFFF"/>
                  </a:solidFill>
                  <a:latin typeface="+mj-lt"/>
                  <a:cs typeface="+mj-lt"/>
                </a:rPr>
                <a:t>4,82</a:t>
              </a:r>
              <a:r>
                <a:rPr lang="ru-RU" sz="1200" dirty="0">
                  <a:solidFill>
                    <a:srgbClr val="C9D1E6"/>
                  </a:solidFill>
                  <a:latin typeface="Manrope SemiBold"/>
                  <a:cs typeface="Manrope SemiBold"/>
                </a:rPr>
                <a:t> млрд </a:t>
              </a:r>
              <a:r>
                <a:rPr lang="ru-RU" sz="1200" dirty="0">
                  <a:solidFill>
                    <a:srgbClr val="C9D1E6"/>
                  </a:solidFill>
                  <a:latin typeface="Segoe UI"/>
                  <a:cs typeface="Segoe UI"/>
                </a:rPr>
                <a:t>₽</a:t>
              </a:r>
              <a:endParaRPr lang="ru-RU" sz="22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244600" y="13716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spc="60" cap="all" dirty="0">
                  <a:solidFill>
                    <a:srgbClr val="8E9AB8"/>
                  </a:solidFill>
                  <a:latin typeface="+mn-lt"/>
                  <a:cs typeface="+mn-lt"/>
                </a:rPr>
                <a:t>Выручка · </a:t>
              </a:r>
              <a:r>
                <a:rPr lang="ru-RU" sz="900" b="1" spc="60" cap="all" dirty="0">
                  <a:solidFill>
                    <a:schemeClr val="accent4"/>
                  </a:solidFill>
                  <a:latin typeface="+mn-lt"/>
                  <a:cs typeface="+mn-lt"/>
                </a:rPr>
                <a:t>+27% г/г</a:t>
              </a:r>
              <a:endParaRPr lang="ru-RU" sz="900" spc="60" cap="all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7" name="k2"/>
          <p:cNvGrpSpPr/>
          <p:nvPr/>
        </p:nvGrpSpPr>
        <p:grpSpPr>
          <a:xfrm>
            <a:off x="3251200" y="787400"/>
            <a:ext cx="2743200" cy="1016000"/>
            <a:chOff x="3251200" y="787400"/>
            <a:chExt cx="2743200" cy="1016000"/>
          </a:xfrm>
        </p:grpSpPr>
        <p:sp>
          <p:nvSpPr>
            <p:cNvPr id="18" name="shape 18"/>
            <p:cNvSpPr/>
            <p:nvPr/>
          </p:nvSpPr>
          <p:spPr>
            <a:xfrm>
              <a:off x="3251200" y="787400"/>
              <a:ext cx="2743200" cy="1016000"/>
            </a:xfrm>
            <a:prstGeom prst="roundRect">
              <a:avLst>
                <a:gd name="adj" fmla="val 12500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  <a:effectLst>
              <a:glow rad="127000">
                <a:schemeClr val="accent2">
                  <a:alpha val="25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19" name="line 19"/>
            <p:cNvCxnSpPr/>
            <p:nvPr/>
          </p:nvCxnSpPr>
          <p:spPr>
            <a:xfrm>
              <a:off x="3556000" y="787400"/>
              <a:ext cx="0" cy="1016000"/>
            </a:xfrm>
            <a:prstGeom prst="line">
              <a:avLst/>
            </a:prstGeom>
            <a:ln w="9525" cap="rnd">
              <a:solidFill>
                <a:srgbClr val="FFFFFF">
                  <a:alpha val="45000"/>
                </a:srgbClr>
              </a:solidFill>
              <a:round/>
            </a:ln>
          </p:spPr>
        </p:cxnSp>
        <p:cxnSp>
          <p:nvCxnSpPr>
            <p:cNvPr id="20" name="line 20"/>
            <p:cNvCxnSpPr/>
            <p:nvPr/>
          </p:nvCxnSpPr>
          <p:spPr>
            <a:xfrm>
              <a:off x="5689600" y="787400"/>
              <a:ext cx="0" cy="1016000"/>
            </a:xfrm>
            <a:prstGeom prst="line">
              <a:avLst/>
            </a:prstGeom>
            <a:ln w="9525" cap="rnd">
              <a:solidFill>
                <a:srgbClr val="FFFFFF">
                  <a:alpha val="45000"/>
                </a:srgbClr>
              </a:solidFill>
              <a:round/>
            </a:ln>
          </p:spPr>
        </p:cxnSp>
        <p:sp>
          <p:nvSpPr>
            <p:cNvPr id="21" name="text 21"/>
            <p:cNvSpPr txBox="1"/>
            <p:nvPr/>
          </p:nvSpPr>
          <p:spPr>
            <a:xfrm>
              <a:off x="3327400" y="1168400"/>
              <a:ext cx="177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‹</a:t>
              </a:r>
              <a:endParaRPr lang="ru-RU" sz="11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5740400" y="1168400"/>
              <a:ext cx="1778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10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›</a:t>
              </a:r>
              <a:endParaRPr lang="ru-RU" sz="110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3" name="icon 23"/>
            <p:cNvSpPr/>
            <p:nvPr/>
          </p:nvSpPr>
          <p:spPr>
            <a:xfrm>
              <a:off x="4470400" y="889000"/>
              <a:ext cx="304800" cy="3048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50" y="2050"/>
                  </a:moveTo>
                  <a:lnTo>
                    <a:pt x="3149" y="2022"/>
                  </a:lnTo>
                  <a:cubicBezTo>
                    <a:pt x="3639" y="2010"/>
                    <a:pt x="4066" y="2355"/>
                    <a:pt x="4157" y="2837"/>
                  </a:cubicBezTo>
                  <a:lnTo>
                    <a:pt x="6847" y="17184"/>
                  </a:lnTo>
                  <a:cubicBezTo>
                    <a:pt x="6936" y="17657"/>
                    <a:pt x="7349" y="18000"/>
                    <a:pt x="7830" y="18000"/>
                  </a:cubicBezTo>
                  <a:lnTo>
                    <a:pt x="18000" y="18000"/>
                  </a:lnTo>
                </a:path>
                <a:path w="24000" h="24000" fill="none">
                  <a:moveTo>
                    <a:pt x="4563" y="5000"/>
                  </a:moveTo>
                  <a:lnTo>
                    <a:pt x="20998" y="5000"/>
                  </a:lnTo>
                  <a:cubicBezTo>
                    <a:pt x="21299" y="4999"/>
                    <a:pt x="21585" y="5135"/>
                    <a:pt x="21775" y="5368"/>
                  </a:cubicBezTo>
                  <a:cubicBezTo>
                    <a:pt x="21966" y="5602"/>
                    <a:pt x="22040" y="5909"/>
                    <a:pt x="21979" y="6204"/>
                  </a:cubicBezTo>
                  <a:lnTo>
                    <a:pt x="20953" y="12430"/>
                  </a:lnTo>
                  <a:cubicBezTo>
                    <a:pt x="20748" y="13361"/>
                    <a:pt x="19915" y="14018"/>
                    <a:pt x="18962" y="14000"/>
                  </a:cubicBezTo>
                  <a:lnTo>
                    <a:pt x="6250" y="14000"/>
                  </a:lnTo>
                </a:path>
                <a:path w="24000" h="24000" fill="none">
                  <a:moveTo>
                    <a:pt x="20000" y="20000"/>
                  </a:moveTo>
                  <a:cubicBezTo>
                    <a:pt x="20000" y="21105"/>
                    <a:pt x="19105" y="22000"/>
                    <a:pt x="18000" y="22000"/>
                  </a:cubicBezTo>
                  <a:cubicBezTo>
                    <a:pt x="16895" y="22000"/>
                    <a:pt x="16000" y="21105"/>
                    <a:pt x="16000" y="20000"/>
                  </a:cubicBezTo>
                  <a:cubicBezTo>
                    <a:pt x="16000" y="18895"/>
                    <a:pt x="16895" y="18000"/>
                    <a:pt x="18000" y="18000"/>
                  </a:cubicBezTo>
                  <a:cubicBezTo>
                    <a:pt x="19105" y="18000"/>
                    <a:pt x="20000" y="18895"/>
                    <a:pt x="20000" y="20000"/>
                  </a:cubicBezTo>
                  <a:close/>
                </a:path>
                <a:path w="24000" h="24000" fill="none">
                  <a:moveTo>
                    <a:pt x="10000" y="20000"/>
                  </a:moveTo>
                  <a:cubicBezTo>
                    <a:pt x="10000" y="21105"/>
                    <a:pt x="9105" y="22000"/>
                    <a:pt x="8000" y="22000"/>
                  </a:cubicBezTo>
                  <a:cubicBezTo>
                    <a:pt x="6895" y="22000"/>
                    <a:pt x="6000" y="21105"/>
                    <a:pt x="6000" y="20000"/>
                  </a:cubicBezTo>
                  <a:cubicBezTo>
                    <a:pt x="6000" y="18895"/>
                    <a:pt x="6895" y="18000"/>
                    <a:pt x="8000" y="18000"/>
                  </a:cubicBezTo>
                  <a:cubicBezTo>
                    <a:pt x="9105" y="18000"/>
                    <a:pt x="10000" y="18895"/>
                    <a:pt x="10000" y="20000"/>
                  </a:cubicBez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3606800" y="12192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+mj-lt"/>
                  <a:cs typeface="+mj-lt"/>
                </a:rPr>
                <a:t>1,26 млн заказов</a:t>
              </a:r>
              <a:endParaRPr lang="ru-RU" sz="16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3606800" y="1498600"/>
              <a:ext cx="203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95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+18% к Q2 · 97 тыс. в неделю</a:t>
              </a:r>
              <a:endParaRPr lang="ru-RU" sz="95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26" name="k3"/>
          <p:cNvGrpSpPr/>
          <p:nvPr/>
        </p:nvGrpSpPr>
        <p:grpSpPr>
          <a:xfrm>
            <a:off x="6197600" y="787400"/>
            <a:ext cx="2743200" cy="1016000"/>
            <a:chOff x="6197600" y="787400"/>
            <a:chExt cx="2743200" cy="1016000"/>
          </a:xfrm>
        </p:grpSpPr>
        <p:sp>
          <p:nvSpPr>
            <p:cNvPr id="27" name="shape 27"/>
            <p:cNvSpPr/>
            <p:nvPr/>
          </p:nvSpPr>
          <p:spPr>
            <a:xfrm>
              <a:off x="6197600" y="787400"/>
              <a:ext cx="2743200" cy="1016000"/>
            </a:xfrm>
            <a:prstGeom prst="roundRect">
              <a:avLst>
                <a:gd name="adj" fmla="val 1250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shape 28"/>
            <p:cNvSpPr/>
            <p:nvPr/>
          </p:nvSpPr>
          <p:spPr>
            <a:xfrm>
              <a:off x="6375400" y="965200"/>
              <a:ext cx="660400" cy="660400"/>
            </a:xfrm>
            <a:prstGeom prst="donut">
              <a:avLst>
                <a:gd name="adj" fmla="val 9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6375400" y="1193800"/>
              <a:ext cx="6604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000" b="1" dirty="0">
                  <a:solidFill>
                    <a:srgbClr val="FFFFFF"/>
                  </a:solidFill>
                  <a:latin typeface="+mn-lt"/>
                  <a:cs typeface="+mn-lt"/>
                </a:rPr>
                <a:t>92%</a:t>
              </a:r>
              <a:endParaRPr lang="ru-RU" sz="10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7213600" y="990600"/>
              <a:ext cx="16764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200" dirty="0">
                  <a:solidFill>
                    <a:srgbClr val="FFFFFF"/>
                  </a:solidFill>
                  <a:latin typeface="+mj-lt"/>
                  <a:cs typeface="+mj-lt"/>
                </a:rPr>
                <a:t>11</a:t>
              </a:r>
              <a:r>
                <a:rPr lang="ru-RU" sz="1200" dirty="0">
                  <a:solidFill>
                    <a:srgbClr val="C9D1E6"/>
                  </a:solidFill>
                  <a:latin typeface="Manrope SemiBold"/>
                  <a:cs typeface="Manrope SemiBold"/>
                </a:rPr>
                <a:t> из 12</a:t>
              </a:r>
              <a:endParaRPr lang="ru-RU" sz="22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7213600" y="1371600"/>
              <a:ext cx="1676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spc="60" cap="all" dirty="0">
                  <a:solidFill>
                    <a:srgbClr val="8E9AB8"/>
                  </a:solidFill>
                  <a:latin typeface="+mn-lt"/>
                  <a:cs typeface="+mn-lt"/>
                </a:rPr>
                <a:t>Целей OKR выполнено</a:t>
              </a:r>
              <a:endParaRPr lang="ru-RU" sz="900" spc="60" cap="all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32" name="k3arc"/>
          <p:cNvSpPr/>
          <p:nvPr/>
        </p:nvSpPr>
        <p:spPr>
          <a:xfrm>
            <a:off x="6375400" y="965200"/>
            <a:ext cx="660400" cy="660400"/>
          </a:xfrm>
          <a:prstGeom prst="blockArc">
            <a:avLst>
              <a:gd name="adj1" fmla="val 16200000"/>
              <a:gd name="adj2" fmla="val 14472000"/>
              <a:gd name="adj3" fmla="val 9000"/>
            </a:avLst>
          </a:prstGeom>
          <a:gradFill rotWithShape="1"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33" name="k4"/>
          <p:cNvGrpSpPr/>
          <p:nvPr/>
        </p:nvGrpSpPr>
        <p:grpSpPr>
          <a:xfrm>
            <a:off x="9144000" y="787400"/>
            <a:ext cx="2743200" cy="1016000"/>
            <a:chOff x="9144000" y="787400"/>
            <a:chExt cx="2743200" cy="1016000"/>
          </a:xfrm>
        </p:grpSpPr>
        <p:sp>
          <p:nvSpPr>
            <p:cNvPr id="34" name="shape 34"/>
            <p:cNvSpPr/>
            <p:nvPr/>
          </p:nvSpPr>
          <p:spPr>
            <a:xfrm>
              <a:off x="9144000" y="787400"/>
              <a:ext cx="2743200" cy="1016000"/>
            </a:xfrm>
            <a:prstGeom prst="roundRect">
              <a:avLst>
                <a:gd name="adj" fmla="val 1250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9347200" y="990600"/>
              <a:ext cx="13462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200" dirty="0">
                  <a:solidFill>
                    <a:srgbClr val="FFFFFF"/>
                  </a:solidFill>
                  <a:latin typeface="+mj-lt"/>
                  <a:cs typeface="+mj-lt"/>
                </a:rPr>
                <a:t>3 825 </a:t>
              </a:r>
              <a:r>
                <a:rPr lang="ru-RU" sz="2200" dirty="0">
                  <a:solidFill>
                    <a:srgbClr val="FFFFFF"/>
                  </a:solidFill>
                  <a:latin typeface="Segoe UI"/>
                  <a:cs typeface="Segoe UI"/>
                </a:rPr>
                <a:t>₽</a:t>
              </a:r>
              <a:endParaRPr lang="ru-RU" sz="22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9347200" y="1371600"/>
              <a:ext cx="1397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spc="60" cap="all" dirty="0">
                  <a:solidFill>
                    <a:srgbClr val="8E9AB8"/>
                  </a:solidFill>
                  <a:latin typeface="+mn-lt"/>
                  <a:cs typeface="+mn-lt"/>
                </a:rPr>
                <a:t>Средний чек</a:t>
              </a:r>
              <a:endParaRPr lang="ru-RU" sz="900" spc="60" cap="all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</p:grpSp>
      <p:graphicFrame>
        <p:nvGraphicFramePr>
          <p:cNvPr id="37" name="k4chart"/>
          <p:cNvGraphicFramePr>
            <a:graphicFrameLocks noGrp="1"/>
          </p:cNvGraphicFramePr>
          <p:nvPr/>
        </p:nvGraphicFramePr>
        <p:xfrm>
          <a:off x="10744200" y="965200"/>
          <a:ext cx="1016000" cy="685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38" name="c1"/>
          <p:cNvGrpSpPr/>
          <p:nvPr/>
        </p:nvGrpSpPr>
        <p:grpSpPr>
          <a:xfrm>
            <a:off x="304800" y="1955800"/>
            <a:ext cx="2743200" cy="2159000"/>
            <a:chOff x="304800" y="1955800"/>
            <a:chExt cx="2743200" cy="2159000"/>
          </a:xfrm>
        </p:grpSpPr>
        <p:sp>
          <p:nvSpPr>
            <p:cNvPr id="39" name="shape 39"/>
            <p:cNvSpPr/>
            <p:nvPr/>
          </p:nvSpPr>
          <p:spPr>
            <a:xfrm>
              <a:off x="304800" y="1955800"/>
              <a:ext cx="2743200" cy="1981200"/>
            </a:xfrm>
            <a:prstGeom prst="roundRect">
              <a:avLst>
                <a:gd name="adj" fmla="val 641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0" name="text 40"/>
            <p:cNvSpPr txBox="1"/>
            <p:nvPr/>
          </p:nvSpPr>
          <p:spPr>
            <a:xfrm>
              <a:off x="482600" y="2108200"/>
              <a:ext cx="2387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Конверсия сайта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41" name="shape 41"/>
            <p:cNvSpPr/>
            <p:nvPr/>
          </p:nvSpPr>
          <p:spPr>
            <a:xfrm>
              <a:off x="787400" y="2336800"/>
              <a:ext cx="1778000" cy="1778000"/>
            </a:xfrm>
            <a:prstGeom prst="blockArc">
              <a:avLst>
                <a:gd name="adj1" fmla="val 10800000"/>
                <a:gd name="adj2" fmla="val 0"/>
                <a:gd name="adj3" fmla="val 15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2" name="text 42"/>
            <p:cNvSpPr txBox="1"/>
            <p:nvPr/>
          </p:nvSpPr>
          <p:spPr>
            <a:xfrm>
              <a:off x="1041400" y="3352800"/>
              <a:ext cx="1270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2200" dirty="0">
                  <a:solidFill>
                    <a:srgbClr val="FFFFFF"/>
                  </a:solidFill>
                  <a:latin typeface="+mj-lt"/>
                  <a:cs typeface="+mj-lt"/>
                </a:rPr>
                <a:t>3,4%</a:t>
              </a:r>
              <a:endParaRPr lang="ru-RU" sz="22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43" name="text 43"/>
            <p:cNvSpPr txBox="1"/>
            <p:nvPr/>
          </p:nvSpPr>
          <p:spPr>
            <a:xfrm>
              <a:off x="482600" y="3695700"/>
              <a:ext cx="2387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900" b="1" dirty="0">
                  <a:solidFill>
                    <a:srgbClr val="FFFFFF"/>
                  </a:solidFill>
                  <a:latin typeface="+mn-lt"/>
                  <a:cs typeface="+mn-lt"/>
                </a:rPr>
                <a:t>85%</a:t>
              </a:r>
              <a:r>
                <a:rPr lang="ru-RU" sz="900" dirty="0">
                  <a:solidFill>
                    <a:srgbClr val="8E9AB8"/>
                  </a:solidFill>
                  <a:latin typeface="+mn-lt"/>
                  <a:cs typeface="+mn-lt"/>
                </a:rPr>
                <a:t> от цели 4,0% · +0,4 п.п. г/г</a:t>
              </a:r>
              <a:endParaRPr lang="ru-RU" sz="90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44" name="g1"/>
          <p:cNvGrpSpPr/>
          <p:nvPr/>
        </p:nvGrpSpPr>
        <p:grpSpPr>
          <a:xfrm>
            <a:off x="787400" y="2336800"/>
            <a:ext cx="1778000" cy="1778000"/>
            <a:chOff x="787400" y="2336800"/>
            <a:chExt cx="1778000" cy="1778000"/>
          </a:xfrm>
        </p:grpSpPr>
        <p:sp>
          <p:nvSpPr>
            <p:cNvPr id="45" name="shape 45"/>
            <p:cNvSpPr/>
            <p:nvPr/>
          </p:nvSpPr>
          <p:spPr>
            <a:xfrm>
              <a:off x="787400" y="2336800"/>
              <a:ext cx="1778000" cy="1778000"/>
            </a:xfrm>
            <a:prstGeom prst="blockArc">
              <a:avLst>
                <a:gd name="adj1" fmla="val 10800000"/>
                <a:gd name="adj2" fmla="val 19980000"/>
                <a:gd name="adj3" fmla="val 15000"/>
              </a:avLst>
            </a:prstGeom>
            <a:gradFill rotWithShape="1">
              <a:gsLst>
                <a:gs pos="0">
                  <a:schemeClr val="accent5"/>
                </a:gs>
                <a:gs pos="5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6" name="shape 46"/>
            <p:cNvSpPr/>
            <p:nvPr/>
          </p:nvSpPr>
          <p:spPr>
            <a:xfrm>
              <a:off x="895350" y="320040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7" name="shape 47"/>
            <p:cNvSpPr/>
            <p:nvPr/>
          </p:nvSpPr>
          <p:spPr>
            <a:xfrm>
              <a:off x="996950" y="282194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8" name="shape 48"/>
            <p:cNvSpPr/>
            <p:nvPr/>
          </p:nvSpPr>
          <p:spPr>
            <a:xfrm>
              <a:off x="1273810" y="254635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9" name="shape 49"/>
            <p:cNvSpPr/>
            <p:nvPr/>
          </p:nvSpPr>
          <p:spPr>
            <a:xfrm>
              <a:off x="1651000" y="244475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0" name="shape 50"/>
            <p:cNvSpPr/>
            <p:nvPr/>
          </p:nvSpPr>
          <p:spPr>
            <a:xfrm>
              <a:off x="2029460" y="254635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1" name="shape 51"/>
            <p:cNvSpPr/>
            <p:nvPr/>
          </p:nvSpPr>
          <p:spPr>
            <a:xfrm>
              <a:off x="2305050" y="282194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2" name="shape 52"/>
            <p:cNvSpPr/>
            <p:nvPr/>
          </p:nvSpPr>
          <p:spPr>
            <a:xfrm>
              <a:off x="2406650" y="3200400"/>
              <a:ext cx="50800" cy="50800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cxnSp>
          <p:nvCxnSpPr>
            <p:cNvPr id="53" name="line 53"/>
            <p:cNvCxnSpPr/>
            <p:nvPr/>
          </p:nvCxnSpPr>
          <p:spPr>
            <a:xfrm flipV="1">
              <a:off x="1676400" y="2983230"/>
              <a:ext cx="474980" cy="242570"/>
            </a:xfrm>
            <a:prstGeom prst="line">
              <a:avLst/>
            </a:prstGeom>
            <a:ln w="25400" cap="rnd">
              <a:solidFill>
                <a:srgbClr val="FFFFFF"/>
              </a:solidFill>
              <a:round/>
              <a:headEnd type="oval" w="med" len="med"/>
            </a:ln>
          </p:spPr>
        </p:cxnSp>
        <p:sp>
          <p:nvSpPr>
            <p:cNvPr id="54" name="shape 54"/>
            <p:cNvSpPr/>
            <p:nvPr/>
          </p:nvSpPr>
          <p:spPr>
            <a:xfrm>
              <a:off x="1612900" y="3162300"/>
              <a:ext cx="127000" cy="12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5" name="shape 55"/>
            <p:cNvSpPr/>
            <p:nvPr/>
          </p:nvSpPr>
          <p:spPr>
            <a:xfrm>
              <a:off x="1651000" y="3200400"/>
              <a:ext cx="50800" cy="50800"/>
            </a:xfrm>
            <a:prstGeom prst="ellipse">
              <a:avLst/>
            </a:prstGeom>
            <a:solidFill>
              <a:srgbClr val="1F2739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56" name="c2"/>
          <p:cNvGrpSpPr/>
          <p:nvPr/>
        </p:nvGrpSpPr>
        <p:grpSpPr>
          <a:xfrm>
            <a:off x="3251200" y="1955800"/>
            <a:ext cx="2743200" cy="1981200"/>
            <a:chOff x="3251200" y="1955800"/>
            <a:chExt cx="2743200" cy="1981200"/>
          </a:xfrm>
        </p:grpSpPr>
        <p:sp>
          <p:nvSpPr>
            <p:cNvPr id="57" name="shape 57"/>
            <p:cNvSpPr/>
            <p:nvPr/>
          </p:nvSpPr>
          <p:spPr>
            <a:xfrm>
              <a:off x="3251200" y="1955800"/>
              <a:ext cx="2743200" cy="1981200"/>
            </a:xfrm>
            <a:prstGeom prst="roundRect">
              <a:avLst>
                <a:gd name="adj" fmla="val 641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8" name="text 58"/>
            <p:cNvSpPr txBox="1"/>
            <p:nvPr/>
          </p:nvSpPr>
          <p:spPr>
            <a:xfrm>
              <a:off x="3429000" y="2108200"/>
              <a:ext cx="1905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Заказы по неделям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59" name="text 59"/>
            <p:cNvSpPr txBox="1"/>
            <p:nvPr/>
          </p:nvSpPr>
          <p:spPr>
            <a:xfrm>
              <a:off x="3429000" y="2311400"/>
              <a:ext cx="1778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97</a:t>
              </a:r>
              <a:r>
                <a:rPr lang="ru-RU" sz="1100" dirty="0">
                  <a:solidFill>
                    <a:srgbClr val="C9D1E6"/>
                  </a:solidFill>
                  <a:latin typeface="Manrope SemiBold"/>
                  <a:cs typeface="Manrope SemiBold"/>
                </a:rPr>
                <a:t> тыс./нед.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60" name="shape 60"/>
            <p:cNvSpPr/>
            <p:nvPr/>
          </p:nvSpPr>
          <p:spPr>
            <a:xfrm>
              <a:off x="5181600" y="2336800"/>
              <a:ext cx="635000" cy="254000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+24%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</p:grpSp>
      <p:graphicFrame>
        <p:nvGraphicFramePr>
          <p:cNvPr id="61" name="c2chart"/>
          <p:cNvGraphicFramePr>
            <a:graphicFrameLocks noGrp="1"/>
          </p:cNvGraphicFramePr>
          <p:nvPr/>
        </p:nvGraphicFramePr>
        <p:xfrm>
          <a:off x="3327400" y="2641600"/>
          <a:ext cx="2590800" cy="121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62" name="c3"/>
          <p:cNvGrpSpPr/>
          <p:nvPr/>
        </p:nvGrpSpPr>
        <p:grpSpPr>
          <a:xfrm>
            <a:off x="6197600" y="1955800"/>
            <a:ext cx="2743200" cy="1981200"/>
            <a:chOff x="6197600" y="1955800"/>
            <a:chExt cx="2743200" cy="1981200"/>
          </a:xfrm>
        </p:grpSpPr>
        <p:sp>
          <p:nvSpPr>
            <p:cNvPr id="63" name="shape 63"/>
            <p:cNvSpPr/>
            <p:nvPr/>
          </p:nvSpPr>
          <p:spPr>
            <a:xfrm>
              <a:off x="6197600" y="1955800"/>
              <a:ext cx="2743200" cy="1981200"/>
            </a:xfrm>
            <a:prstGeom prst="roundRect">
              <a:avLst>
                <a:gd name="adj" fmla="val 641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4" name="text 64"/>
            <p:cNvSpPr txBox="1"/>
            <p:nvPr/>
          </p:nvSpPr>
          <p:spPr>
            <a:xfrm>
              <a:off x="6375400" y="2108200"/>
              <a:ext cx="2387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Источники заказов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65" name="text 65"/>
            <p:cNvSpPr txBox="1"/>
            <p:nvPr/>
          </p:nvSpPr>
          <p:spPr>
            <a:xfrm>
              <a:off x="6375400" y="23876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Поиск и SEO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66" name="text 66"/>
            <p:cNvSpPr txBox="1"/>
            <p:nvPr/>
          </p:nvSpPr>
          <p:spPr>
            <a:xfrm>
              <a:off x="8001000" y="23876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38%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67" name="shape 67"/>
            <p:cNvSpPr/>
            <p:nvPr/>
          </p:nvSpPr>
          <p:spPr>
            <a:xfrm>
              <a:off x="6375400" y="2603500"/>
              <a:ext cx="2387600" cy="101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8" name="shape 68"/>
            <p:cNvSpPr/>
            <p:nvPr/>
          </p:nvSpPr>
          <p:spPr>
            <a:xfrm>
              <a:off x="6375400" y="2603500"/>
              <a:ext cx="901700" cy="1016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CC15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9" name="text 69"/>
            <p:cNvSpPr txBox="1"/>
            <p:nvPr/>
          </p:nvSpPr>
          <p:spPr>
            <a:xfrm>
              <a:off x="6375400" y="28702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Соцсети и блогеры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70" name="text 70"/>
            <p:cNvSpPr txBox="1"/>
            <p:nvPr/>
          </p:nvSpPr>
          <p:spPr>
            <a:xfrm>
              <a:off x="8001000" y="28702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27%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71" name="shape 71"/>
            <p:cNvSpPr/>
            <p:nvPr/>
          </p:nvSpPr>
          <p:spPr>
            <a:xfrm>
              <a:off x="6375400" y="3086100"/>
              <a:ext cx="2387600" cy="101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2" name="shape 72"/>
            <p:cNvSpPr/>
            <p:nvPr/>
          </p:nvSpPr>
          <p:spPr>
            <a:xfrm>
              <a:off x="6375400" y="3086100"/>
              <a:ext cx="647700" cy="1016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3" name="text 73"/>
            <p:cNvSpPr txBox="1"/>
            <p:nvPr/>
          </p:nvSpPr>
          <p:spPr>
            <a:xfrm>
              <a:off x="6375400" y="3352800"/>
              <a:ext cx="177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E-mail и push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74" name="text 74"/>
            <p:cNvSpPr txBox="1"/>
            <p:nvPr/>
          </p:nvSpPr>
          <p:spPr>
            <a:xfrm>
              <a:off x="8001000" y="33528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19%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75" name="shape 75"/>
            <p:cNvSpPr/>
            <p:nvPr/>
          </p:nvSpPr>
          <p:spPr>
            <a:xfrm>
              <a:off x="6375400" y="3568700"/>
              <a:ext cx="2387600" cy="101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6" name="shape 76"/>
            <p:cNvSpPr/>
            <p:nvPr/>
          </p:nvSpPr>
          <p:spPr>
            <a:xfrm>
              <a:off x="6375400" y="3568700"/>
              <a:ext cx="457200" cy="1016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grpSp>
        <p:nvGrpSpPr>
          <p:cNvPr id="77" name="c4"/>
          <p:cNvGrpSpPr/>
          <p:nvPr/>
        </p:nvGrpSpPr>
        <p:grpSpPr>
          <a:xfrm>
            <a:off x="9144000" y="1955800"/>
            <a:ext cx="2743200" cy="1981200"/>
            <a:chOff x="9144000" y="1955800"/>
            <a:chExt cx="2743200" cy="1981200"/>
          </a:xfrm>
        </p:grpSpPr>
        <p:sp>
          <p:nvSpPr>
            <p:cNvPr id="78" name="shape 78"/>
            <p:cNvSpPr/>
            <p:nvPr/>
          </p:nvSpPr>
          <p:spPr>
            <a:xfrm>
              <a:off x="9144000" y="1955800"/>
              <a:ext cx="2743200" cy="1981200"/>
            </a:xfrm>
            <a:prstGeom prst="roundRect">
              <a:avLst>
                <a:gd name="adj" fmla="val 6410"/>
              </a:avLst>
            </a:prstGeom>
            <a:gradFill rotWithShape="1">
              <a:gsLst>
                <a:gs pos="0">
                  <a:schemeClr val="accent5"/>
                </a:gs>
                <a:gs pos="60000">
                  <a:schemeClr val="accent1"/>
                </a:gs>
                <a:gs pos="100000">
                  <a:srgbClr val="B04DFF"/>
                </a:gs>
              </a:gsLst>
              <a:lin ang="0" scaled="0"/>
            </a:gradFill>
            <a:ln>
              <a:noFill/>
            </a:ln>
            <a:effectLst>
              <a:glow rad="127000">
                <a:schemeClr val="accent1">
                  <a:alpha val="30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9" name="text 79"/>
            <p:cNvSpPr txBox="1"/>
            <p:nvPr/>
          </p:nvSpPr>
          <p:spPr>
            <a:xfrm>
              <a:off x="9321800" y="2108200"/>
              <a:ext cx="2387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950" b="1" spc="80" cap="all" dirty="0">
                  <a:solidFill>
                    <a:srgbClr val="FFFFFF"/>
                  </a:solidFill>
                  <a:latin typeface="+mn-lt"/>
                  <a:cs typeface="+mn-lt"/>
                </a:rPr>
                <a:t>Сентябрь 2026</a:t>
              </a:r>
              <a:endParaRPr lang="ru-RU" sz="950" b="1" spc="80" cap="all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80" name="text 80"/>
            <p:cNvSpPr txBox="1"/>
            <p:nvPr/>
          </p:nvSpPr>
          <p:spPr>
            <a:xfrm>
              <a:off x="9271000" y="2362200"/>
              <a:ext cx="1219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2,9 млн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81" name="text 81"/>
            <p:cNvSpPr txBox="1"/>
            <p:nvPr/>
          </p:nvSpPr>
          <p:spPr>
            <a:xfrm>
              <a:off x="9271000" y="2679700"/>
              <a:ext cx="12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85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посетителей сайта</a:t>
              </a:r>
              <a:endParaRPr lang="ru-RU" sz="85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82" name="line 82"/>
            <p:cNvCxnSpPr/>
            <p:nvPr/>
          </p:nvCxnSpPr>
          <p:spPr>
            <a:xfrm>
              <a:off x="10515600" y="2413000"/>
              <a:ext cx="0" cy="406400"/>
            </a:xfrm>
            <a:prstGeom prst="line">
              <a:avLst/>
            </a:prstGeom>
            <a:ln w="9525" cap="rnd">
              <a:solidFill>
                <a:srgbClr val="FFFFFF">
                  <a:alpha val="50000"/>
                </a:srgbClr>
              </a:solidFill>
              <a:round/>
            </a:ln>
          </p:spPr>
        </p:cxnSp>
        <p:sp>
          <p:nvSpPr>
            <p:cNvPr id="83" name="text 83"/>
            <p:cNvSpPr txBox="1"/>
            <p:nvPr/>
          </p:nvSpPr>
          <p:spPr>
            <a:xfrm>
              <a:off x="10541000" y="2362200"/>
              <a:ext cx="12192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2000" dirty="0">
                  <a:solidFill>
                    <a:srgbClr val="FFFFFF"/>
                  </a:solidFill>
                  <a:latin typeface="+mj-lt"/>
                  <a:cs typeface="+mj-lt"/>
                </a:rPr>
                <a:t>640 тыс.</a:t>
              </a:r>
              <a:endParaRPr lang="ru-RU" sz="20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84" name="text 84"/>
            <p:cNvSpPr txBox="1"/>
            <p:nvPr/>
          </p:nvSpPr>
          <p:spPr>
            <a:xfrm>
              <a:off x="10541000" y="2679700"/>
              <a:ext cx="1219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85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в приложении</a:t>
              </a:r>
              <a:endParaRPr lang="ru-RU" sz="85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</p:grpSp>
      <p:graphicFrame>
        <p:nvGraphicFramePr>
          <p:cNvPr id="85" name="c4chart"/>
          <p:cNvGraphicFramePr>
            <a:graphicFrameLocks noGrp="1"/>
          </p:cNvGraphicFramePr>
          <p:nvPr/>
        </p:nvGraphicFramePr>
        <p:xfrm>
          <a:off x="9245600" y="2870200"/>
          <a:ext cx="2540000" cy="990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pSp>
        <p:nvGrpSpPr>
          <p:cNvPr id="86" name="c5"/>
          <p:cNvGrpSpPr/>
          <p:nvPr/>
        </p:nvGrpSpPr>
        <p:grpSpPr>
          <a:xfrm>
            <a:off x="304800" y="4089400"/>
            <a:ext cx="3721100" cy="2463800"/>
            <a:chOff x="304800" y="4089400"/>
            <a:chExt cx="3721100" cy="2463800"/>
          </a:xfrm>
        </p:grpSpPr>
        <p:sp>
          <p:nvSpPr>
            <p:cNvPr id="87" name="shape 87"/>
            <p:cNvSpPr/>
            <p:nvPr/>
          </p:nvSpPr>
          <p:spPr>
            <a:xfrm>
              <a:off x="304800" y="4089400"/>
              <a:ext cx="3721100" cy="2463800"/>
            </a:xfrm>
            <a:prstGeom prst="roundRect">
              <a:avLst>
                <a:gd name="adj" fmla="val 5155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88" name="shape 88"/>
            <p:cNvSpPr/>
            <p:nvPr/>
          </p:nvSpPr>
          <p:spPr>
            <a:xfrm>
              <a:off x="304800" y="4089400"/>
              <a:ext cx="3721100" cy="431800"/>
            </a:xfrm>
            <a:prstGeom prst="round2SameRect">
              <a:avLst>
                <a:gd name="adj1" fmla="val 29412"/>
                <a:gd name="adj2" fmla="val 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89" name="text 89"/>
            <p:cNvSpPr txBox="1"/>
            <p:nvPr/>
          </p:nvSpPr>
          <p:spPr>
            <a:xfrm>
              <a:off x="482600" y="4241800"/>
              <a:ext cx="3365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Выручка по категориям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90" name="chart 90"/>
            <p:cNvGraphicFramePr>
              <a:graphicFrameLocks noGrp="1"/>
            </p:cNvGraphicFramePr>
            <p:nvPr/>
          </p:nvGraphicFramePr>
          <p:xfrm>
            <a:off x="431800" y="4622800"/>
            <a:ext cx="1828800" cy="1828800"/>
          </p:xfrm>
          <a:graphic>
            <a:graphicData uri="http://schemas.openxmlformats.org/drawingml/2006/chart">
              <c:chart xmlns:c="http://schemas.openxmlformats.org/drawingml/2006/chart" r:id="rId5"/>
            </a:graphicData>
          </a:graphic>
        </p:graphicFrame>
        <p:sp>
          <p:nvSpPr>
            <p:cNvPr id="91" name="text 91"/>
            <p:cNvSpPr txBox="1"/>
            <p:nvPr/>
          </p:nvSpPr>
          <p:spPr>
            <a:xfrm>
              <a:off x="838200" y="5359400"/>
              <a:ext cx="101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400" dirty="0">
                  <a:solidFill>
                    <a:srgbClr val="FFFFFF"/>
                  </a:solidFill>
                  <a:latin typeface="+mj-lt"/>
                  <a:cs typeface="+mj-lt"/>
                </a:rPr>
                <a:t>4,82</a:t>
              </a:r>
              <a:endParaRPr lang="ru-RU" sz="1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92" name="text 92"/>
            <p:cNvSpPr txBox="1"/>
            <p:nvPr/>
          </p:nvSpPr>
          <p:spPr>
            <a:xfrm>
              <a:off x="838200" y="5588000"/>
              <a:ext cx="1016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850" dirty="0">
                  <a:solidFill>
                    <a:srgbClr val="8E9AB8"/>
                  </a:solidFill>
                  <a:latin typeface="+mn-lt"/>
                  <a:cs typeface="+mn-lt"/>
                </a:rPr>
                <a:t>млрд </a:t>
              </a:r>
              <a:r>
                <a:rPr lang="ru-RU" sz="850" dirty="0">
                  <a:solidFill>
                    <a:srgbClr val="8E9AB8"/>
                  </a:solidFill>
                  <a:latin typeface="Segoe UI"/>
                  <a:cs typeface="Segoe UI"/>
                </a:rPr>
                <a:t>₽</a:t>
              </a:r>
              <a:endParaRPr lang="ru-RU" sz="85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sp>
          <p:nvSpPr>
            <p:cNvPr id="93" name="shape 93"/>
            <p:cNvSpPr/>
            <p:nvPr/>
          </p:nvSpPr>
          <p:spPr>
            <a:xfrm>
              <a:off x="2438400" y="4800600"/>
              <a:ext cx="101600" cy="101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94" name="text 94"/>
            <p:cNvSpPr txBox="1"/>
            <p:nvPr/>
          </p:nvSpPr>
          <p:spPr>
            <a:xfrm>
              <a:off x="2616200" y="47498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Электроника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95" name="text 95"/>
            <p:cNvSpPr txBox="1"/>
            <p:nvPr/>
          </p:nvSpPr>
          <p:spPr>
            <a:xfrm>
              <a:off x="3429000" y="4749800"/>
              <a:ext cx="43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38%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96" name="shape 96"/>
            <p:cNvSpPr/>
            <p:nvPr/>
          </p:nvSpPr>
          <p:spPr>
            <a:xfrm>
              <a:off x="2438400" y="5105400"/>
              <a:ext cx="101600" cy="10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97" name="text 97"/>
            <p:cNvSpPr txBox="1"/>
            <p:nvPr/>
          </p:nvSpPr>
          <p:spPr>
            <a:xfrm>
              <a:off x="2616200" y="50546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Дом и сад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98" name="text 98"/>
            <p:cNvSpPr txBox="1"/>
            <p:nvPr/>
          </p:nvSpPr>
          <p:spPr>
            <a:xfrm>
              <a:off x="3429000" y="5054600"/>
              <a:ext cx="43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24%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99" name="shape 99"/>
            <p:cNvSpPr/>
            <p:nvPr/>
          </p:nvSpPr>
          <p:spPr>
            <a:xfrm>
              <a:off x="2438400" y="5410200"/>
              <a:ext cx="101600" cy="101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00" name="text 100"/>
            <p:cNvSpPr txBox="1"/>
            <p:nvPr/>
          </p:nvSpPr>
          <p:spPr>
            <a:xfrm>
              <a:off x="2616200" y="53594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Одежда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3429000" y="5359400"/>
              <a:ext cx="43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21%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102" name="shape 102"/>
            <p:cNvSpPr/>
            <p:nvPr/>
          </p:nvSpPr>
          <p:spPr>
            <a:xfrm>
              <a:off x="2438400" y="5715000"/>
              <a:ext cx="101600" cy="101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2616200" y="56642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Красота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429000" y="5664200"/>
              <a:ext cx="43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11%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105" name="shape 105"/>
            <p:cNvSpPr/>
            <p:nvPr/>
          </p:nvSpPr>
          <p:spPr>
            <a:xfrm>
              <a:off x="2438400" y="6019800"/>
              <a:ext cx="101600" cy="101600"/>
            </a:xfrm>
            <a:prstGeom prst="ellipse">
              <a:avLst/>
            </a:prstGeom>
            <a:solidFill>
              <a:srgbClr val="55607A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2616200" y="59690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dirty="0">
                  <a:solidFill>
                    <a:srgbClr val="C9D1E6"/>
                  </a:solidFill>
                  <a:latin typeface="+mn-lt"/>
                  <a:cs typeface="+mn-lt"/>
                </a:rPr>
                <a:t>Прочее</a:t>
              </a:r>
              <a:endParaRPr lang="ru-RU" sz="95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3429000" y="5969000"/>
              <a:ext cx="431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6%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08" name="c6"/>
          <p:cNvGrpSpPr/>
          <p:nvPr/>
        </p:nvGrpSpPr>
        <p:grpSpPr>
          <a:xfrm>
            <a:off x="4229100" y="4089400"/>
            <a:ext cx="3721100" cy="2463800"/>
            <a:chOff x="4229100" y="4089400"/>
            <a:chExt cx="3721100" cy="2463800"/>
          </a:xfrm>
        </p:grpSpPr>
        <p:sp>
          <p:nvSpPr>
            <p:cNvPr id="109" name="shape 109"/>
            <p:cNvSpPr/>
            <p:nvPr/>
          </p:nvSpPr>
          <p:spPr>
            <a:xfrm>
              <a:off x="4229100" y="4089400"/>
              <a:ext cx="3721100" cy="2463800"/>
            </a:xfrm>
            <a:prstGeom prst="roundRect">
              <a:avLst>
                <a:gd name="adj" fmla="val 5155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0" name="shape 110"/>
            <p:cNvSpPr/>
            <p:nvPr/>
          </p:nvSpPr>
          <p:spPr>
            <a:xfrm>
              <a:off x="4229100" y="4089400"/>
              <a:ext cx="3721100" cy="431800"/>
            </a:xfrm>
            <a:prstGeom prst="round2SameRect">
              <a:avLst>
                <a:gd name="adj1" fmla="val 29412"/>
                <a:gd name="adj2" fmla="val 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4406900" y="4241800"/>
              <a:ext cx="33655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Выполнение плана Q3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12" name="shape 112"/>
            <p:cNvSpPr/>
            <p:nvPr/>
          </p:nvSpPr>
          <p:spPr>
            <a:xfrm>
              <a:off x="4381500" y="4648200"/>
              <a:ext cx="1778000" cy="1778000"/>
            </a:xfrm>
            <a:prstGeom prst="donut">
              <a:avLst>
                <a:gd name="adj" fmla="val 85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3" name="shape 113"/>
            <p:cNvSpPr/>
            <p:nvPr/>
          </p:nvSpPr>
          <p:spPr>
            <a:xfrm>
              <a:off x="4584700" y="4851400"/>
              <a:ext cx="1371600" cy="1371600"/>
            </a:xfrm>
            <a:prstGeom prst="donut">
              <a:avLst>
                <a:gd name="adj" fmla="val 113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4" name="shape 114"/>
            <p:cNvSpPr/>
            <p:nvPr/>
          </p:nvSpPr>
          <p:spPr>
            <a:xfrm>
              <a:off x="4787900" y="5054600"/>
              <a:ext cx="965200" cy="965200"/>
            </a:xfrm>
            <a:prstGeom prst="donut">
              <a:avLst>
                <a:gd name="adj" fmla="val 162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889500" y="5422900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300" dirty="0">
                  <a:solidFill>
                    <a:srgbClr val="FFFFFF"/>
                  </a:solidFill>
                  <a:latin typeface="+mj-lt"/>
                  <a:cs typeface="+mj-lt"/>
                </a:rPr>
                <a:t>94%</a:t>
              </a:r>
              <a:endParaRPr lang="ru-RU" sz="13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16" name="shape 116"/>
            <p:cNvSpPr/>
            <p:nvPr/>
          </p:nvSpPr>
          <p:spPr>
            <a:xfrm>
              <a:off x="6375400" y="4800600"/>
              <a:ext cx="50800" cy="381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6527800" y="4775200"/>
              <a:ext cx="1346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8E9AB8"/>
                  </a:solidFill>
                  <a:latin typeface="+mn-lt"/>
                  <a:cs typeface="+mn-lt"/>
                </a:rPr>
                <a:t>Выручка</a:t>
              </a:r>
              <a:endParaRPr lang="ru-RU" sz="90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6527800" y="4953000"/>
              <a:ext cx="134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FFFFFF"/>
                  </a:solidFill>
                  <a:latin typeface="+mj-lt"/>
                  <a:cs typeface="+mj-lt"/>
                </a:rPr>
                <a:t>96%</a:t>
              </a:r>
              <a:endParaRPr lang="ru-RU" sz="1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19" name="shape 119"/>
            <p:cNvSpPr/>
            <p:nvPr/>
          </p:nvSpPr>
          <p:spPr>
            <a:xfrm>
              <a:off x="6375400" y="5359400"/>
              <a:ext cx="508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6527800" y="5334000"/>
              <a:ext cx="1346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8E9AB8"/>
                  </a:solidFill>
                  <a:latin typeface="+mn-lt"/>
                  <a:cs typeface="+mn-lt"/>
                </a:rPr>
                <a:t>Заказы</a:t>
              </a:r>
              <a:endParaRPr lang="ru-RU" sz="90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6527800" y="5511800"/>
              <a:ext cx="63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FFFFFF"/>
                  </a:solidFill>
                  <a:latin typeface="+mj-lt"/>
                  <a:cs typeface="+mj-lt"/>
                </a:rPr>
                <a:t>104%</a:t>
              </a:r>
              <a:endParaRPr lang="ru-RU" sz="1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122" name="shape 122"/>
            <p:cNvSpPr/>
            <p:nvPr/>
          </p:nvSpPr>
          <p:spPr>
            <a:xfrm>
              <a:off x="7188200" y="5549900"/>
              <a:ext cx="431800" cy="1778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800" b="1" dirty="0">
                  <a:solidFill>
                    <a:srgbClr val="FFFFFF"/>
                  </a:solidFill>
                  <a:latin typeface="+mn-lt"/>
                  <a:cs typeface="+mn-lt"/>
                </a:rPr>
                <a:t>+4%</a:t>
              </a:r>
              <a:endParaRPr lang="ru-RU" sz="8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123" name="shape 123"/>
            <p:cNvSpPr/>
            <p:nvPr/>
          </p:nvSpPr>
          <p:spPr>
            <a:xfrm>
              <a:off x="6375400" y="5918200"/>
              <a:ext cx="50800" cy="381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6527800" y="5892800"/>
              <a:ext cx="1346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8E9AB8"/>
                  </a:solidFill>
                  <a:latin typeface="+mn-lt"/>
                  <a:cs typeface="+mn-lt"/>
                </a:rPr>
                <a:t>Новые клиенты</a:t>
              </a:r>
              <a:endParaRPr lang="ru-RU" sz="90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6527800" y="6070600"/>
              <a:ext cx="1346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FFFFFF"/>
                  </a:solidFill>
                  <a:latin typeface="+mj-lt"/>
                  <a:cs typeface="+mj-lt"/>
                </a:rPr>
                <a:t>81%</a:t>
              </a:r>
              <a:endParaRPr lang="ru-RU" sz="14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</p:grpSp>
      <p:sp>
        <p:nvSpPr>
          <p:cNvPr id="126" name="r1"/>
          <p:cNvSpPr/>
          <p:nvPr/>
        </p:nvSpPr>
        <p:spPr>
          <a:xfrm>
            <a:off x="4381500" y="4648200"/>
            <a:ext cx="1778000" cy="1778000"/>
          </a:xfrm>
          <a:prstGeom prst="blockArc">
            <a:avLst>
              <a:gd name="adj1" fmla="val 16200000"/>
              <a:gd name="adj2" fmla="val 15336000"/>
              <a:gd name="adj3" fmla="val 8500"/>
            </a:avLst>
          </a:prstGeom>
          <a:gradFill rotWithShape="1">
            <a:gsLst>
              <a:gs pos="0">
                <a:schemeClr val="accent3"/>
              </a:gs>
              <a:gs pos="100000">
                <a:srgbClr val="FACC15"/>
              </a:gs>
            </a:gsLst>
            <a:lin ang="0" scaled="0"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127" name="r2"/>
          <p:cNvGrpSpPr/>
          <p:nvPr/>
        </p:nvGrpSpPr>
        <p:grpSpPr>
          <a:xfrm>
            <a:off x="4584700" y="4851400"/>
            <a:ext cx="1371600" cy="1371600"/>
            <a:chOff x="4584700" y="4851400"/>
            <a:chExt cx="1371600" cy="1371600"/>
          </a:xfrm>
        </p:grpSpPr>
        <p:sp>
          <p:nvSpPr>
            <p:cNvPr id="128" name="shape 128"/>
            <p:cNvSpPr/>
            <p:nvPr/>
          </p:nvSpPr>
          <p:spPr>
            <a:xfrm>
              <a:off x="4584700" y="4851400"/>
              <a:ext cx="1371600" cy="1371600"/>
            </a:xfrm>
            <a:prstGeom prst="donut">
              <a:avLst>
                <a:gd name="adj" fmla="val 11300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9" name="shape 129"/>
            <p:cNvSpPr/>
            <p:nvPr/>
          </p:nvSpPr>
          <p:spPr>
            <a:xfrm>
              <a:off x="4584700" y="4851400"/>
              <a:ext cx="1371600" cy="1371600"/>
            </a:xfrm>
            <a:prstGeom prst="blockArc">
              <a:avLst>
                <a:gd name="adj1" fmla="val 16200000"/>
                <a:gd name="adj2" fmla="val 17064000"/>
                <a:gd name="adj3" fmla="val 113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</p:grpSp>
      <p:sp>
        <p:nvSpPr>
          <p:cNvPr id="130" name="r3"/>
          <p:cNvSpPr/>
          <p:nvPr/>
        </p:nvSpPr>
        <p:spPr>
          <a:xfrm>
            <a:off x="4787900" y="5054600"/>
            <a:ext cx="965200" cy="965200"/>
          </a:xfrm>
          <a:prstGeom prst="blockArc">
            <a:avLst>
              <a:gd name="adj1" fmla="val 16200000"/>
              <a:gd name="adj2" fmla="val 12096000"/>
              <a:gd name="adj3" fmla="val 16200"/>
            </a:avLst>
          </a:prstGeom>
          <a:gradFill rotWithShape="1">
            <a:gsLst>
              <a:gs pos="0">
                <a:schemeClr val="accent6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131" name="c7"/>
          <p:cNvGrpSpPr/>
          <p:nvPr/>
        </p:nvGrpSpPr>
        <p:grpSpPr>
          <a:xfrm>
            <a:off x="8153400" y="4089400"/>
            <a:ext cx="3733800" cy="2463800"/>
            <a:chOff x="8153400" y="4089400"/>
            <a:chExt cx="3733800" cy="2463800"/>
          </a:xfrm>
        </p:grpSpPr>
        <p:sp>
          <p:nvSpPr>
            <p:cNvPr id="132" name="shape 132"/>
            <p:cNvSpPr/>
            <p:nvPr/>
          </p:nvSpPr>
          <p:spPr>
            <a:xfrm>
              <a:off x="8153400" y="4089400"/>
              <a:ext cx="3733800" cy="2463800"/>
            </a:xfrm>
            <a:prstGeom prst="roundRect">
              <a:avLst>
                <a:gd name="adj" fmla="val 5155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6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3" name="shape 133"/>
            <p:cNvSpPr/>
            <p:nvPr/>
          </p:nvSpPr>
          <p:spPr>
            <a:xfrm>
              <a:off x="8153400" y="4089400"/>
              <a:ext cx="3733800" cy="431800"/>
            </a:xfrm>
            <a:prstGeom prst="round2SameRect">
              <a:avLst>
                <a:gd name="adj1" fmla="val 29412"/>
                <a:gd name="adj2" fmla="val 0"/>
              </a:avLst>
            </a:pr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8331200" y="4241800"/>
              <a:ext cx="203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80" cap="all" dirty="0">
                  <a:solidFill>
                    <a:srgbClr val="C9D1E6"/>
                  </a:solidFill>
                  <a:latin typeface="+mn-lt"/>
                  <a:cs typeface="+mn-lt"/>
                </a:rPr>
                <a:t>Выручка, млрд </a:t>
              </a:r>
              <a:r>
                <a:rPr lang="ru-RU" sz="950" b="1" spc="80" cap="all" dirty="0">
                  <a:solidFill>
                    <a:srgbClr val="C9D1E6"/>
                  </a:solidFill>
                  <a:latin typeface="Segoe UI"/>
                  <a:cs typeface="Segoe UI"/>
                </a:rPr>
                <a:t>₽</a:t>
              </a:r>
              <a:endParaRPr lang="ru-RU" sz="950" b="1" spc="80" cap="all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35" name="shape 135"/>
            <p:cNvSpPr/>
            <p:nvPr/>
          </p:nvSpPr>
          <p:spPr>
            <a:xfrm>
              <a:off x="10388600" y="4305300"/>
              <a:ext cx="1524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10591800" y="4241800"/>
              <a:ext cx="50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C9D1E6"/>
                  </a:solidFill>
                  <a:latin typeface="+mn-lt"/>
                  <a:cs typeface="+mn-lt"/>
                </a:rPr>
                <a:t>2026</a:t>
              </a:r>
              <a:endParaRPr lang="ru-RU" sz="900" dirty="0">
                <a:solidFill>
                  <a:srgbClr val="C9D1E6"/>
                </a:solidFill>
                <a:latin typeface="+mn-lt"/>
                <a:cs typeface="+mn-lt"/>
              </a:endParaRPr>
            </a:p>
          </p:txBody>
        </p:sp>
        <p:sp>
          <p:nvSpPr>
            <p:cNvPr id="137" name="shape 137"/>
            <p:cNvSpPr/>
            <p:nvPr/>
          </p:nvSpPr>
          <p:spPr>
            <a:xfrm>
              <a:off x="11099800" y="4305300"/>
              <a:ext cx="152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11303000" y="4241800"/>
              <a:ext cx="508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8E9AB8"/>
                  </a:solidFill>
                  <a:latin typeface="+mn-lt"/>
                  <a:cs typeface="+mn-lt"/>
                </a:rPr>
                <a:t>2025</a:t>
              </a:r>
              <a:endParaRPr lang="ru-RU" sz="900" dirty="0">
                <a:solidFill>
                  <a:srgbClr val="8E9AB8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139" name="chart 139"/>
            <p:cNvGraphicFramePr>
              <a:graphicFrameLocks noGrp="1"/>
            </p:cNvGraphicFramePr>
            <p:nvPr/>
          </p:nvGraphicFramePr>
          <p:xfrm>
            <a:off x="8229600" y="4597400"/>
            <a:ext cx="3581400" cy="1879600"/>
          </p:xfrm>
          <a:graphic>
            <a:graphicData uri="http://schemas.openxmlformats.org/drawingml/2006/chart">
              <c:chart xmlns:c="http://schemas.openxmlformats.org/drawingml/2006/chart" r:id="rId6"/>
            </a:graphicData>
          </a:graphic>
        </p:graphicFrame>
      </p:grpSp>
      <p:sp>
        <p:nvSpPr>
          <p:cNvPr id="140" name="text 140"/>
          <p:cNvSpPr txBox="1"/>
          <p:nvPr/>
        </p:nvSpPr>
        <p:spPr>
          <a:xfrm>
            <a:off x="304800" y="66294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750" dirty="0">
                <a:solidFill>
                  <a:srgbClr val="5E6985"/>
                </a:solidFill>
                <a:latin typeface="+mn-lt"/>
                <a:cs typeface="+mn-lt"/>
              </a:rPr>
              <a:t>Цифры иллюстративные: демо-отчёт вымышленной компании «Корзина+».</a:t>
            </a:r>
            <a:endParaRPr lang="ru-RU" sz="750" dirty="0">
              <a:solidFill>
                <a:srgbClr val="5E6985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8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Graphic spid="37" grpId="0">
        <p:bldAsOne/>
      </p:bldGraphic>
      <p:bldGraphic spid="61" grpId="0">
        <p:bldAsOne/>
      </p:bldGraphic>
      <p:bldGraphic spid="85" grpId="0">
        <p:bldAsOne/>
      </p:bldGraphic>
      <p:bldP spid="126" grpId="0" animBg="1"/>
      <p:bldP spid="1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logo"/>
          <p:cNvGrpSpPr/>
          <p:nvPr/>
        </p:nvGrpSpPr>
        <p:grpSpPr>
          <a:xfrm>
            <a:off x="304800" y="254000"/>
            <a:ext cx="381000" cy="381000"/>
            <a:chOff x="304800" y="254000"/>
            <a:chExt cx="381000" cy="381000"/>
          </a:xfrm>
        </p:grpSpPr>
        <p:sp>
          <p:nvSpPr>
            <p:cNvPr id="3" name="shape 3"/>
            <p:cNvSpPr/>
            <p:nvPr/>
          </p:nvSpPr>
          <p:spPr>
            <a:xfrm>
              <a:off x="304800" y="254000"/>
              <a:ext cx="381000" cy="381000"/>
            </a:xfrm>
            <a:prstGeom prst="roundRect">
              <a:avLst>
                <a:gd name="adj" fmla="val 26667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" name="icon 4"/>
            <p:cNvSpPr/>
            <p:nvPr/>
          </p:nvSpPr>
          <p:spPr>
            <a:xfrm>
              <a:off x="393700" y="3429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10000"/>
                  </a:moveTo>
                  <a:cubicBezTo>
                    <a:pt x="16000" y="12209"/>
                    <a:pt x="14209" y="14000"/>
                    <a:pt x="12000" y="14000"/>
                  </a:cubicBezTo>
                  <a:cubicBezTo>
                    <a:pt x="9791" y="14000"/>
                    <a:pt x="8000" y="12209"/>
                    <a:pt x="8000" y="10000"/>
                  </a:cubicBezTo>
                </a:path>
                <a:path w="24000" h="24000" fill="none">
                  <a:moveTo>
                    <a:pt x="3103" y="6034"/>
                  </a:moveTo>
                  <a:lnTo>
                    <a:pt x="20897" y="6034"/>
                  </a:lnTo>
                </a:path>
                <a:path w="24000" h="24000" fill="none">
                  <a:moveTo>
                    <a:pt x="3400" y="5467"/>
                  </a:moveTo>
                  <a:cubicBezTo>
                    <a:pt x="3140" y="5813"/>
                    <a:pt x="3000" y="6234"/>
                    <a:pt x="3000" y="6667"/>
                  </a:cubicBezTo>
                  <a:lnTo>
                    <a:pt x="3000" y="20000"/>
                  </a:lnTo>
                  <a:cubicBezTo>
                    <a:pt x="3000" y="21105"/>
                    <a:pt x="3895" y="22000"/>
                    <a:pt x="5000" y="22000"/>
                  </a:cubicBezTo>
                  <a:lnTo>
                    <a:pt x="19000" y="22000"/>
                  </a:lnTo>
                  <a:cubicBezTo>
                    <a:pt x="20105" y="22000"/>
                    <a:pt x="21000" y="21105"/>
                    <a:pt x="21000" y="20000"/>
                  </a:cubicBezTo>
                  <a:lnTo>
                    <a:pt x="21000" y="6667"/>
                  </a:lnTo>
                  <a:cubicBezTo>
                    <a:pt x="21000" y="6234"/>
                    <a:pt x="20860" y="5813"/>
                    <a:pt x="20600" y="5467"/>
                  </a:cubicBezTo>
                  <a:lnTo>
                    <a:pt x="18600" y="2800"/>
                  </a:lnTo>
                  <a:cubicBezTo>
                    <a:pt x="18222" y="2296"/>
                    <a:pt x="17630" y="2000"/>
                    <a:pt x="17000" y="2000"/>
                  </a:cubicBezTo>
                  <a:lnTo>
                    <a:pt x="7000" y="2000"/>
                  </a:lnTo>
                  <a:cubicBezTo>
                    <a:pt x="6370" y="2000"/>
                    <a:pt x="5778" y="2296"/>
                    <a:pt x="5400" y="2800"/>
                  </a:cubicBezTo>
                  <a:close/>
                </a:path>
              </a:pathLst>
            </a:custGeom>
            <a:noFill/>
            <a:ln w="18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kick"/>
          <p:cNvSpPr txBox="1"/>
          <p:nvPr/>
        </p:nvSpPr>
        <p:spPr>
          <a:xfrm>
            <a:off x="812800" y="228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50" b="1" spc="150" cap="all" dirty="0">
                <a:solidFill>
                  <a:schemeClr val="accent1"/>
                </a:solidFill>
                <a:latin typeface="+mn-lt"/>
                <a:cs typeface="+mn-lt"/>
              </a:rPr>
              <a:t>Продажи и команда · Q3 2026</a:t>
            </a:r>
            <a:endParaRPr lang="ru-RU" sz="950" b="1" spc="150" cap="all" dirty="0">
              <a:solidFill>
                <a:schemeClr val="accent1"/>
              </a:solidFill>
              <a:latin typeface="+mn-lt"/>
              <a:cs typeface="+mn-lt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812800" y="406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rgbClr val="1B2236"/>
                </a:solidFill>
                <a:latin typeface="+mj-lt"/>
                <a:cs typeface="+mj-lt"/>
              </a:rPr>
              <a:t>Повторные покупатели дают 62% заказов</a:t>
            </a:r>
            <a:endParaRPr lang="ru-RU" sz="2400" dirty="0">
              <a:solidFill>
                <a:srgbClr val="1B2236"/>
              </a:solidFill>
              <a:latin typeface="+mj-lt"/>
              <a:cs typeface="+mj-lt"/>
            </a:endParaRPr>
          </a:p>
        </p:txBody>
      </p:sp>
      <p:sp>
        <p:nvSpPr>
          <p:cNvPr id="7" name="sub2"/>
          <p:cNvSpPr txBox="1"/>
          <p:nvPr/>
        </p:nvSpPr>
        <p:spPr>
          <a:xfrm>
            <a:off x="9347200" y="558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ru-RU" sz="1000" dirty="0">
                <a:solidFill>
                  <a:srgbClr val="6B7690"/>
                </a:solidFill>
                <a:latin typeface="+mn-lt"/>
                <a:cs typeface="+mn-lt"/>
              </a:rPr>
              <a:t>изменения к Q3 2025</a:t>
            </a:r>
            <a:endParaRPr lang="ru-RU" sz="1000" dirty="0">
              <a:solidFill>
                <a:srgbClr val="6B7690"/>
              </a:solidFill>
              <a:latin typeface="+mn-lt"/>
              <a:cs typeface="+mn-lt"/>
            </a:endParaRPr>
          </a:p>
        </p:txBody>
      </p:sp>
      <p:grpSp>
        <p:nvGrpSpPr>
          <p:cNvPr id="8" name="strip"/>
          <p:cNvGrpSpPr/>
          <p:nvPr/>
        </p:nvGrpSpPr>
        <p:grpSpPr>
          <a:xfrm>
            <a:off x="304800" y="965200"/>
            <a:ext cx="11582400" cy="787400"/>
            <a:chOff x="304800" y="965200"/>
            <a:chExt cx="11582400" cy="787400"/>
          </a:xfrm>
        </p:grpSpPr>
        <p:sp>
          <p:nvSpPr>
            <p:cNvPr id="9" name="shape 9"/>
            <p:cNvSpPr/>
            <p:nvPr/>
          </p:nvSpPr>
          <p:spPr>
            <a:xfrm>
              <a:off x="304800" y="965200"/>
              <a:ext cx="11582400" cy="78740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0" name="shape 10"/>
            <p:cNvSpPr/>
            <p:nvPr/>
          </p:nvSpPr>
          <p:spPr>
            <a:xfrm>
              <a:off x="508000" y="1104900"/>
              <a:ext cx="508000" cy="508000"/>
            </a:xfrm>
            <a:prstGeom prst="roundRect">
              <a:avLst>
                <a:gd name="adj" fmla="val 225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" name="icon 11"/>
            <p:cNvSpPr/>
            <p:nvPr/>
          </p:nvSpPr>
          <p:spPr>
            <a:xfrm>
              <a:off x="635000" y="12319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6000" y="3128"/>
                  </a:moveTo>
                  <a:cubicBezTo>
                    <a:pt x="17764" y="3585"/>
                    <a:pt x="18996" y="5177"/>
                    <a:pt x="18996" y="7000"/>
                  </a:cubicBezTo>
                  <a:cubicBezTo>
                    <a:pt x="18996" y="8823"/>
                    <a:pt x="17764" y="10415"/>
                    <a:pt x="16000" y="10872"/>
                  </a:cubicBezTo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</a:pathLst>
            </a:custGeom>
            <a:noFill/>
            <a:ln w="2116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1143000" y="1054100"/>
              <a:ext cx="1270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Покупатели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1143000" y="1219200"/>
              <a:ext cx="127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2,31 млн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1143000" y="1524000"/>
              <a:ext cx="1270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b="1" dirty="0">
                  <a:solidFill>
                    <a:schemeClr val="accent4"/>
                  </a:solidFill>
                  <a:latin typeface="Segoe UI"/>
                  <a:cs typeface="Segoe UI"/>
                </a:rPr>
                <a:t>▲</a:t>
              </a:r>
              <a:r>
                <a:rPr lang="ru-RU" sz="850" b="1" dirty="0">
                  <a:solidFill>
                    <a:schemeClr val="accent4"/>
                  </a:solidFill>
                  <a:latin typeface="+mn-lt"/>
                  <a:cs typeface="+mn-lt"/>
                </a:rPr>
                <a:t> +14%</a:t>
              </a:r>
              <a:endParaRPr lang="ru-RU" sz="850" b="1" dirty="0">
                <a:solidFill>
                  <a:schemeClr val="accent4"/>
                </a:solidFill>
                <a:latin typeface="+mn-lt"/>
                <a:cs typeface="+mn-lt"/>
              </a:endParaRPr>
            </a:p>
          </p:txBody>
        </p:sp>
        <p:sp>
          <p:nvSpPr>
            <p:cNvPr id="15" name="shape 15"/>
            <p:cNvSpPr/>
            <p:nvPr/>
          </p:nvSpPr>
          <p:spPr>
            <a:xfrm>
              <a:off x="2590800" y="1016000"/>
              <a:ext cx="2209800" cy="685800"/>
            </a:xfrm>
            <a:prstGeom prst="roundRect">
              <a:avLst>
                <a:gd name="adj" fmla="val 18519"/>
              </a:avLst>
            </a:prstGeom>
            <a:gradFill rotWithShape="1"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  <a:effectLst>
              <a:glow rad="101600">
                <a:schemeClr val="accent4">
                  <a:alpha val="25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6" name="shape 16"/>
            <p:cNvSpPr/>
            <p:nvPr/>
          </p:nvSpPr>
          <p:spPr>
            <a:xfrm>
              <a:off x="2717800" y="1104900"/>
              <a:ext cx="508000" cy="508000"/>
            </a:xfrm>
            <a:prstGeom prst="roundRect">
              <a:avLst>
                <a:gd name="adj" fmla="val 22500"/>
              </a:avLst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7" name="icon 17"/>
            <p:cNvSpPr/>
            <p:nvPr/>
          </p:nvSpPr>
          <p:spPr>
            <a:xfrm>
              <a:off x="2844800" y="12319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9000" y="8000"/>
                  </a:moveTo>
                  <a:lnTo>
                    <a:pt x="19000" y="14000"/>
                  </a:lnTo>
                </a:path>
                <a:path w="24000" h="24000" fill="none">
                  <a:moveTo>
                    <a:pt x="22000" y="11000"/>
                  </a:moveTo>
                  <a:lnTo>
                    <a:pt x="16000" y="11000"/>
                  </a:lnTo>
                </a:path>
              </a:pathLst>
            </a:custGeom>
            <a:noFill/>
            <a:ln w="2116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3352800" y="1054100"/>
              <a:ext cx="139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Новые покупатели</a:t>
              </a:r>
              <a:endParaRPr lang="ru-RU" sz="9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3352800" y="1219200"/>
              <a:ext cx="127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FFFFFF"/>
                  </a:solidFill>
                  <a:latin typeface="+mj-lt"/>
                  <a:cs typeface="+mj-lt"/>
                </a:rPr>
                <a:t>612 тыс.</a:t>
              </a:r>
              <a:endParaRPr lang="ru-RU" sz="1900" dirty="0">
                <a:solidFill>
                  <a:srgbClr val="FFFFFF"/>
                </a:solidFill>
                <a:latin typeface="+mj-lt"/>
                <a:cs typeface="+mj-lt"/>
              </a:endParaRPr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3352800" y="1524000"/>
              <a:ext cx="1270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b="1" dirty="0">
                  <a:solidFill>
                    <a:srgbClr val="FFFFFF"/>
                  </a:solidFill>
                  <a:latin typeface="Segoe UI"/>
                  <a:cs typeface="Segoe UI"/>
                </a:rPr>
                <a:t>▲</a:t>
              </a:r>
              <a:r>
                <a:rPr lang="ru-RU" sz="850" b="1" dirty="0">
                  <a:solidFill>
                    <a:srgbClr val="FFFFFF"/>
                  </a:solidFill>
                  <a:latin typeface="+mn-lt"/>
                  <a:cs typeface="+mn-lt"/>
                </a:rPr>
                <a:t> +22%</a:t>
              </a:r>
              <a:endParaRPr lang="ru-RU" sz="8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5054600" y="1104900"/>
              <a:ext cx="508000" cy="508000"/>
            </a:xfrm>
            <a:prstGeom prst="roundRect">
              <a:avLst>
                <a:gd name="adj" fmla="val 225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2" name="icon 22"/>
            <p:cNvSpPr/>
            <p:nvPr/>
          </p:nvSpPr>
          <p:spPr>
            <a:xfrm>
              <a:off x="5181600" y="12319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6500" y="14500"/>
                  </a:moveTo>
                  <a:lnTo>
                    <a:pt x="21500" y="19500"/>
                  </a:lnTo>
                </a:path>
                <a:path w="24000" h="24000" fill="none">
                  <a:moveTo>
                    <a:pt x="16500" y="19500"/>
                  </a:moveTo>
                  <a:lnTo>
                    <a:pt x="21500" y="14500"/>
                  </a:lnTo>
                </a:path>
                <a:path w="24000" h="24000" fill="none">
                  <a:moveTo>
                    <a:pt x="21000" y="10500"/>
                  </a:moveTo>
                  <a:lnTo>
                    <a:pt x="21000" y="8000"/>
                  </a:lnTo>
                  <a:cubicBezTo>
                    <a:pt x="20999" y="7286"/>
                    <a:pt x="20618" y="6627"/>
                    <a:pt x="20000" y="6270"/>
                  </a:cubicBezTo>
                  <a:lnTo>
                    <a:pt x="13000" y="2270"/>
                  </a:lnTo>
                  <a:cubicBezTo>
                    <a:pt x="12381" y="1913"/>
                    <a:pt x="11619" y="1913"/>
                    <a:pt x="11000" y="2270"/>
                  </a:cubicBezTo>
                  <a:lnTo>
                    <a:pt x="4000" y="6270"/>
                  </a:lnTo>
                  <a:cubicBezTo>
                    <a:pt x="3382" y="6627"/>
                    <a:pt x="3001" y="7286"/>
                    <a:pt x="3000" y="8000"/>
                  </a:cubicBezTo>
                  <a:lnTo>
                    <a:pt x="3000" y="16000"/>
                  </a:lnTo>
                  <a:cubicBezTo>
                    <a:pt x="3001" y="16713"/>
                    <a:pt x="3382" y="17372"/>
                    <a:pt x="4000" y="17729"/>
                  </a:cubicBezTo>
                  <a:lnTo>
                    <a:pt x="11000" y="21729"/>
                  </a:lnTo>
                  <a:cubicBezTo>
                    <a:pt x="11619" y="22087"/>
                    <a:pt x="12381" y="22087"/>
                    <a:pt x="13000" y="21730"/>
                  </a:cubicBezTo>
                  <a:lnTo>
                    <a:pt x="13130" y="21656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497" y="9418"/>
                  </a:lnTo>
                </a:path>
              </a:pathLst>
            </a:custGeom>
            <a:noFill/>
            <a:ln w="2116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5689600" y="1054100"/>
              <a:ext cx="139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Доля возвратов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5689600" y="1219200"/>
              <a:ext cx="127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4,8%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5689600" y="1524000"/>
              <a:ext cx="1397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b="1" dirty="0">
                  <a:solidFill>
                    <a:schemeClr val="accent4"/>
                  </a:solidFill>
                  <a:latin typeface="Segoe UI"/>
                  <a:cs typeface="Segoe UI"/>
                </a:rPr>
                <a:t>▼</a:t>
              </a:r>
              <a:r>
                <a:rPr lang="ru-RU" sz="850" b="1" dirty="0">
                  <a:solidFill>
                    <a:schemeClr val="accent4"/>
                  </a:solidFill>
                  <a:latin typeface="+mn-lt"/>
                  <a:cs typeface="+mn-lt"/>
                </a:rPr>
                <a:t> −0,6 п.п.</a:t>
              </a:r>
              <a:endParaRPr lang="ru-RU" sz="850" b="1" dirty="0">
                <a:solidFill>
                  <a:schemeClr val="accent4"/>
                </a:solidFill>
                <a:latin typeface="+mn-lt"/>
                <a:cs typeface="+mn-lt"/>
              </a:endParaRPr>
            </a:p>
          </p:txBody>
        </p:sp>
        <p:cxnSp>
          <p:nvCxnSpPr>
            <p:cNvPr id="26" name="line 26"/>
            <p:cNvCxnSpPr/>
            <p:nvPr/>
          </p:nvCxnSpPr>
          <p:spPr>
            <a:xfrm>
              <a:off x="7162800" y="1104900"/>
              <a:ext cx="0" cy="508000"/>
            </a:xfrm>
            <a:prstGeom prst="line">
              <a:avLst/>
            </a:prstGeom>
            <a:ln w="9525" cap="rnd">
              <a:solidFill>
                <a:srgbClr val="1B2236">
                  <a:alpha val="10000"/>
                </a:srgbClr>
              </a:solidFill>
              <a:round/>
            </a:ln>
          </p:spPr>
        </p:cxnSp>
        <p:sp>
          <p:nvSpPr>
            <p:cNvPr id="27" name="shape 27"/>
            <p:cNvSpPr/>
            <p:nvPr/>
          </p:nvSpPr>
          <p:spPr>
            <a:xfrm>
              <a:off x="7366000" y="1104900"/>
              <a:ext cx="508000" cy="508000"/>
            </a:xfrm>
            <a:prstGeom prst="roundRect">
              <a:avLst>
                <a:gd name="adj" fmla="val 225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icon 28"/>
            <p:cNvSpPr/>
            <p:nvPr/>
          </p:nvSpPr>
          <p:spPr>
            <a:xfrm>
              <a:off x="7493000" y="12319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3000" y="19000"/>
                  </a:moveTo>
                  <a:cubicBezTo>
                    <a:pt x="13000" y="16791"/>
                    <a:pt x="11209" y="15000"/>
                    <a:pt x="9000" y="15000"/>
                  </a:cubicBezTo>
                  <a:cubicBezTo>
                    <a:pt x="6791" y="15000"/>
                    <a:pt x="5000" y="16791"/>
                    <a:pt x="5000" y="19000"/>
                  </a:cubicBezTo>
                </a:path>
                <a:path w="24000" h="24000" fill="none">
                  <a:moveTo>
                    <a:pt x="16000" y="10000"/>
                  </a:moveTo>
                  <a:lnTo>
                    <a:pt x="1800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8000" y="14000"/>
                  </a:lnTo>
                </a:path>
                <a:path w="24000" h="24000" fill="none">
                  <a:moveTo>
                    <a:pt x="12000" y="12000"/>
                  </a:moveTo>
                  <a:cubicBezTo>
                    <a:pt x="12000" y="13657"/>
                    <a:pt x="10657" y="15000"/>
                    <a:pt x="9000" y="15000"/>
                  </a:cubicBezTo>
                  <a:cubicBezTo>
                    <a:pt x="7343" y="15000"/>
                    <a:pt x="6000" y="13657"/>
                    <a:pt x="6000" y="12000"/>
                  </a:cubicBezTo>
                  <a:cubicBezTo>
                    <a:pt x="6000" y="10343"/>
                    <a:pt x="7343" y="9000"/>
                    <a:pt x="9000" y="9000"/>
                  </a:cubicBezTo>
                  <a:cubicBezTo>
                    <a:pt x="10657" y="9000"/>
                    <a:pt x="12000" y="10343"/>
                    <a:pt x="12000" y="12000"/>
                  </a:cubicBezTo>
                  <a:close/>
                </a:path>
                <a:path w="24000" h="24000" fill="none">
                  <a:moveTo>
                    <a:pt x="4000" y="5000"/>
                  </a:moveTo>
                  <a:lnTo>
                    <a:pt x="20000" y="5000"/>
                  </a:lnTo>
                  <a:cubicBezTo>
                    <a:pt x="21105" y="5000"/>
                    <a:pt x="22000" y="5895"/>
                    <a:pt x="22000" y="7000"/>
                  </a:cubicBezTo>
                  <a:lnTo>
                    <a:pt x="22000" y="17000"/>
                  </a:lnTo>
                  <a:cubicBezTo>
                    <a:pt x="22000" y="18105"/>
                    <a:pt x="21105" y="19000"/>
                    <a:pt x="20000" y="19000"/>
                  </a:cubicBezTo>
                  <a:lnTo>
                    <a:pt x="4000" y="19000"/>
                  </a:lnTo>
                  <a:cubicBezTo>
                    <a:pt x="2895" y="19000"/>
                    <a:pt x="2000" y="18105"/>
                    <a:pt x="2000" y="17000"/>
                  </a:cubicBezTo>
                  <a:lnTo>
                    <a:pt x="2000" y="7000"/>
                  </a:lnTo>
                  <a:cubicBezTo>
                    <a:pt x="2000" y="5895"/>
                    <a:pt x="2895" y="5000"/>
                    <a:pt x="4000" y="5000"/>
                  </a:cubicBezTo>
                  <a:close/>
                </a:path>
              </a:pathLst>
            </a:custGeom>
            <a:noFill/>
            <a:ln w="2116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8001000" y="1054100"/>
              <a:ext cx="1397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Сотрудники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30" name="text 30"/>
            <p:cNvSpPr txBox="1"/>
            <p:nvPr/>
          </p:nvSpPr>
          <p:spPr>
            <a:xfrm>
              <a:off x="8001000" y="1219200"/>
              <a:ext cx="127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1 940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8001000" y="1524000"/>
              <a:ext cx="1397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b="1" dirty="0">
                  <a:solidFill>
                    <a:schemeClr val="accent4"/>
                  </a:solidFill>
                  <a:latin typeface="Segoe UI"/>
                  <a:cs typeface="Segoe UI"/>
                </a:rPr>
                <a:t>▲</a:t>
              </a:r>
              <a:r>
                <a:rPr lang="ru-RU" sz="850" b="1" dirty="0">
                  <a:solidFill>
                    <a:schemeClr val="accent4"/>
                  </a:solidFill>
                  <a:latin typeface="+mn-lt"/>
                  <a:cs typeface="+mn-lt"/>
                </a:rPr>
                <a:t> +120 чел.</a:t>
              </a:r>
              <a:endParaRPr lang="ru-RU" sz="850" b="1" dirty="0">
                <a:solidFill>
                  <a:schemeClr val="accent4"/>
                </a:solidFill>
                <a:latin typeface="+mn-lt"/>
                <a:cs typeface="+mn-lt"/>
              </a:endParaRPr>
            </a:p>
          </p:txBody>
        </p:sp>
        <p:cxnSp>
          <p:nvCxnSpPr>
            <p:cNvPr id="32" name="line 32"/>
            <p:cNvCxnSpPr/>
            <p:nvPr/>
          </p:nvCxnSpPr>
          <p:spPr>
            <a:xfrm>
              <a:off x="9474200" y="1104900"/>
              <a:ext cx="0" cy="508000"/>
            </a:xfrm>
            <a:prstGeom prst="line">
              <a:avLst/>
            </a:prstGeom>
            <a:ln w="9525" cap="rnd">
              <a:solidFill>
                <a:srgbClr val="1B2236">
                  <a:alpha val="10000"/>
                </a:srgbClr>
              </a:solidFill>
              <a:round/>
            </a:ln>
          </p:spPr>
        </p:cxnSp>
        <p:sp>
          <p:nvSpPr>
            <p:cNvPr id="33" name="shape 33"/>
            <p:cNvSpPr/>
            <p:nvPr/>
          </p:nvSpPr>
          <p:spPr>
            <a:xfrm>
              <a:off x="9677400" y="1104900"/>
              <a:ext cx="508000" cy="508000"/>
            </a:xfrm>
            <a:prstGeom prst="roundRect">
              <a:avLst>
                <a:gd name="adj" fmla="val 225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4" name="icon 34"/>
            <p:cNvSpPr/>
            <p:nvPr/>
          </p:nvSpPr>
          <p:spPr>
            <a:xfrm>
              <a:off x="9804400" y="12319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4000" y="18000"/>
                  </a:moveTo>
                  <a:lnTo>
                    <a:pt x="14000" y="6000"/>
                  </a:lnTo>
                  <a:cubicBezTo>
                    <a:pt x="14000" y="4895"/>
                    <a:pt x="13105" y="4000"/>
                    <a:pt x="12000" y="4000"/>
                  </a:cubicBezTo>
                  <a:lnTo>
                    <a:pt x="4000" y="4000"/>
                  </a:lnTo>
                  <a:cubicBezTo>
                    <a:pt x="2895" y="4000"/>
                    <a:pt x="2000" y="4895"/>
                    <a:pt x="2000" y="6000"/>
                  </a:cubicBezTo>
                  <a:lnTo>
                    <a:pt x="2000" y="17000"/>
                  </a:lnTo>
                  <a:cubicBezTo>
                    <a:pt x="2000" y="17552"/>
                    <a:pt x="2448" y="18000"/>
                    <a:pt x="3000" y="18000"/>
                  </a:cubicBezTo>
                  <a:lnTo>
                    <a:pt x="5000" y="18000"/>
                  </a:lnTo>
                </a:path>
                <a:path w="24000" h="24000" fill="none">
                  <a:moveTo>
                    <a:pt x="15000" y="18000"/>
                  </a:moveTo>
                  <a:lnTo>
                    <a:pt x="9000" y="18000"/>
                  </a:lnTo>
                </a:path>
                <a:path w="24000" h="24000" fill="none">
                  <a:moveTo>
                    <a:pt x="19000" y="18000"/>
                  </a:moveTo>
                  <a:lnTo>
                    <a:pt x="21000" y="18000"/>
                  </a:lnTo>
                  <a:cubicBezTo>
                    <a:pt x="21552" y="18000"/>
                    <a:pt x="22000" y="17552"/>
                    <a:pt x="22000" y="17000"/>
                  </a:cubicBezTo>
                  <a:lnTo>
                    <a:pt x="22000" y="13350"/>
                  </a:lnTo>
                  <a:cubicBezTo>
                    <a:pt x="22000" y="13123"/>
                    <a:pt x="21922" y="12903"/>
                    <a:pt x="21780" y="12726"/>
                  </a:cubicBezTo>
                  <a:lnTo>
                    <a:pt x="18300" y="8376"/>
                  </a:lnTo>
                  <a:cubicBezTo>
                    <a:pt x="18111" y="8139"/>
                    <a:pt x="17824" y="8000"/>
                    <a:pt x="17520" y="8000"/>
                  </a:cubicBezTo>
                  <a:lnTo>
                    <a:pt x="14000" y="8000"/>
                  </a:lnTo>
                </a:path>
                <a:path w="24000" h="24000" fill="none">
                  <a:moveTo>
                    <a:pt x="19000" y="18000"/>
                  </a:moveTo>
                  <a:cubicBezTo>
                    <a:pt x="19000" y="19105"/>
                    <a:pt x="18105" y="20000"/>
                    <a:pt x="17000" y="20000"/>
                  </a:cubicBezTo>
                  <a:cubicBezTo>
                    <a:pt x="15895" y="20000"/>
                    <a:pt x="15000" y="19105"/>
                    <a:pt x="15000" y="18000"/>
                  </a:cubicBezTo>
                  <a:cubicBezTo>
                    <a:pt x="15000" y="16895"/>
                    <a:pt x="15895" y="16000"/>
                    <a:pt x="17000" y="16000"/>
                  </a:cubicBezTo>
                  <a:cubicBezTo>
                    <a:pt x="18105" y="16000"/>
                    <a:pt x="19000" y="16895"/>
                    <a:pt x="19000" y="18000"/>
                  </a:cubicBezTo>
                  <a:close/>
                </a:path>
                <a:path w="24000" h="24000" fill="none">
                  <a:moveTo>
                    <a:pt x="9000" y="18000"/>
                  </a:moveTo>
                  <a:cubicBezTo>
                    <a:pt x="9000" y="19105"/>
                    <a:pt x="8105" y="20000"/>
                    <a:pt x="7000" y="20000"/>
                  </a:cubicBezTo>
                  <a:cubicBezTo>
                    <a:pt x="5895" y="20000"/>
                    <a:pt x="5000" y="19105"/>
                    <a:pt x="5000" y="18000"/>
                  </a:cubicBezTo>
                  <a:cubicBezTo>
                    <a:pt x="5000" y="16895"/>
                    <a:pt x="5895" y="16000"/>
                    <a:pt x="7000" y="16000"/>
                  </a:cubicBezTo>
                  <a:cubicBezTo>
                    <a:pt x="8105" y="16000"/>
                    <a:pt x="9000" y="16895"/>
                    <a:pt x="9000" y="18000"/>
                  </a:cubicBezTo>
                  <a:close/>
                </a:path>
              </a:pathLst>
            </a:custGeom>
            <a:noFill/>
            <a:ln w="2116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10312400" y="1054100"/>
              <a:ext cx="152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Доставка в срок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10312400" y="1219200"/>
              <a:ext cx="1270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96,2%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10312400" y="1524000"/>
              <a:ext cx="1397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b="1" dirty="0">
                  <a:solidFill>
                    <a:schemeClr val="accent4"/>
                  </a:solidFill>
                  <a:latin typeface="Segoe UI"/>
                  <a:cs typeface="Segoe UI"/>
                </a:rPr>
                <a:t>▲</a:t>
              </a:r>
              <a:r>
                <a:rPr lang="ru-RU" sz="850" b="1" dirty="0">
                  <a:solidFill>
                    <a:schemeClr val="accent4"/>
                  </a:solidFill>
                  <a:latin typeface="+mn-lt"/>
                  <a:cs typeface="+mn-lt"/>
                </a:rPr>
                <a:t> +1,8 п.п.</a:t>
              </a:r>
              <a:endParaRPr lang="ru-RU" sz="850" b="1" dirty="0">
                <a:solidFill>
                  <a:schemeClr val="accent4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8" name="d1"/>
          <p:cNvGrpSpPr/>
          <p:nvPr/>
        </p:nvGrpSpPr>
        <p:grpSpPr>
          <a:xfrm>
            <a:off x="304800" y="1905000"/>
            <a:ext cx="3810000" cy="2235200"/>
            <a:chOff x="304800" y="1905000"/>
            <a:chExt cx="3810000" cy="2235200"/>
          </a:xfrm>
        </p:grpSpPr>
        <p:sp>
          <p:nvSpPr>
            <p:cNvPr id="39" name="shape 39"/>
            <p:cNvSpPr/>
            <p:nvPr/>
          </p:nvSpPr>
          <p:spPr>
            <a:xfrm>
              <a:off x="304800" y="1905000"/>
              <a:ext cx="3810000" cy="2235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0" name="text 40"/>
            <p:cNvSpPr txBox="1"/>
            <p:nvPr/>
          </p:nvSpPr>
          <p:spPr>
            <a:xfrm>
              <a:off x="508000" y="2057400"/>
              <a:ext cx="3429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Выручка по регионам, млн </a:t>
              </a:r>
              <a:r>
                <a:rPr lang="ru-RU" sz="1000" b="1" spc="40" cap="all" dirty="0">
                  <a:solidFill>
                    <a:srgbClr val="1B2236"/>
                  </a:solidFill>
                  <a:latin typeface="Segoe UI"/>
                  <a:cs typeface="Segoe UI"/>
                </a:rPr>
                <a:t>₽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41" name="chart 41"/>
            <p:cNvGraphicFramePr>
              <a:graphicFrameLocks noGrp="1"/>
            </p:cNvGraphicFramePr>
            <p:nvPr/>
          </p:nvGraphicFramePr>
          <p:xfrm>
            <a:off x="406400" y="2311400"/>
            <a:ext cx="3606800" cy="17526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42" name="d2"/>
          <p:cNvGrpSpPr/>
          <p:nvPr/>
        </p:nvGrpSpPr>
        <p:grpSpPr>
          <a:xfrm>
            <a:off x="4267200" y="1905000"/>
            <a:ext cx="3657600" cy="2235200"/>
            <a:chOff x="4267200" y="1905000"/>
            <a:chExt cx="3657600" cy="2235200"/>
          </a:xfrm>
        </p:grpSpPr>
        <p:sp>
          <p:nvSpPr>
            <p:cNvPr id="43" name="shape 43"/>
            <p:cNvSpPr/>
            <p:nvPr/>
          </p:nvSpPr>
          <p:spPr>
            <a:xfrm>
              <a:off x="4267200" y="1905000"/>
              <a:ext cx="3657600" cy="2235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4" name="text 44"/>
            <p:cNvSpPr txBox="1"/>
            <p:nvPr/>
          </p:nvSpPr>
          <p:spPr>
            <a:xfrm>
              <a:off x="4470400" y="2057400"/>
              <a:ext cx="330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Новые и повторные заказы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45" name="chart 45"/>
            <p:cNvGraphicFramePr>
              <a:graphicFrameLocks noGrp="1"/>
            </p:cNvGraphicFramePr>
            <p:nvPr/>
          </p:nvGraphicFramePr>
          <p:xfrm>
            <a:off x="5283200" y="2286000"/>
            <a:ext cx="1625600" cy="162560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sp>
          <p:nvSpPr>
            <p:cNvPr id="46" name="text 46"/>
            <p:cNvSpPr txBox="1"/>
            <p:nvPr/>
          </p:nvSpPr>
          <p:spPr>
            <a:xfrm>
              <a:off x="5588000" y="2921000"/>
              <a:ext cx="101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1250" dirty="0">
                  <a:solidFill>
                    <a:srgbClr val="1B2236"/>
                  </a:solidFill>
                  <a:latin typeface="+mj-lt"/>
                  <a:cs typeface="+mj-lt"/>
                </a:rPr>
                <a:t>1,26 млн</a:t>
              </a:r>
              <a:endParaRPr lang="ru-RU" sz="125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47" name="text 47"/>
            <p:cNvSpPr txBox="1"/>
            <p:nvPr/>
          </p:nvSpPr>
          <p:spPr>
            <a:xfrm>
              <a:off x="5588000" y="3149600"/>
              <a:ext cx="1016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850" dirty="0">
                  <a:solidFill>
                    <a:srgbClr val="6B7690"/>
                  </a:solidFill>
                  <a:latin typeface="+mn-lt"/>
                  <a:cs typeface="+mn-lt"/>
                </a:rPr>
                <a:t>заказов</a:t>
              </a:r>
              <a:endParaRPr lang="ru-RU" sz="85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48" name="text 48"/>
            <p:cNvSpPr txBox="1"/>
            <p:nvPr/>
          </p:nvSpPr>
          <p:spPr>
            <a:xfrm>
              <a:off x="4470400" y="2387600"/>
              <a:ext cx="889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2100" dirty="0">
                  <a:solidFill>
                    <a:schemeClr val="accent3"/>
                  </a:solidFill>
                  <a:latin typeface="+mj-lt"/>
                  <a:cs typeface="+mj-lt"/>
                </a:rPr>
                <a:t>38%</a:t>
              </a:r>
              <a:endParaRPr lang="ru-RU" sz="2100" dirty="0">
                <a:solidFill>
                  <a:schemeClr val="accent3"/>
                </a:solidFill>
                <a:latin typeface="+mj-lt"/>
                <a:cs typeface="+mj-lt"/>
              </a:endParaRPr>
            </a:p>
          </p:txBody>
        </p:sp>
        <p:sp>
          <p:nvSpPr>
            <p:cNvPr id="49" name="text 49"/>
            <p:cNvSpPr txBox="1"/>
            <p:nvPr/>
          </p:nvSpPr>
          <p:spPr>
            <a:xfrm>
              <a:off x="6832600" y="2387600"/>
              <a:ext cx="9144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2100" dirty="0">
                  <a:solidFill>
                    <a:schemeClr val="accent5"/>
                  </a:solidFill>
                  <a:latin typeface="+mj-lt"/>
                  <a:cs typeface="+mj-lt"/>
                </a:rPr>
                <a:t>62%</a:t>
              </a:r>
              <a:endParaRPr lang="ru-RU" sz="2100" dirty="0">
                <a:solidFill>
                  <a:schemeClr val="accent5"/>
                </a:solidFill>
                <a:latin typeface="+mj-lt"/>
                <a:cs typeface="+mj-lt"/>
              </a:endParaRPr>
            </a:p>
          </p:txBody>
        </p:sp>
        <p:sp>
          <p:nvSpPr>
            <p:cNvPr id="50" name="icon 50"/>
            <p:cNvSpPr/>
            <p:nvPr/>
          </p:nvSpPr>
          <p:spPr>
            <a:xfrm>
              <a:off x="4546600" y="2921000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9000" y="8000"/>
                  </a:moveTo>
                  <a:lnTo>
                    <a:pt x="19000" y="14000"/>
                  </a:lnTo>
                </a:path>
                <a:path w="24000" h="24000" fill="none">
                  <a:moveTo>
                    <a:pt x="22000" y="11000"/>
                  </a:moveTo>
                  <a:lnTo>
                    <a:pt x="16000" y="11000"/>
                  </a:lnTo>
                </a:path>
              </a:pathLst>
            </a:custGeom>
            <a:noFill/>
            <a:ln w="31750" cap="rnd">
              <a:solidFill>
                <a:schemeClr val="accent3">
                  <a:alpha val="80000"/>
                </a:schemeClr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1" name="icon 51"/>
            <p:cNvSpPr/>
            <p:nvPr/>
          </p:nvSpPr>
          <p:spPr>
            <a:xfrm>
              <a:off x="7289800" y="2921000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7000" y="2000"/>
                  </a:moveTo>
                  <a:lnTo>
                    <a:pt x="21000" y="6000"/>
                  </a:lnTo>
                  <a:lnTo>
                    <a:pt x="17000" y="10000"/>
                  </a:lnTo>
                </a:path>
                <a:path w="24000" h="24000" fill="none">
                  <a:moveTo>
                    <a:pt x="3000" y="11000"/>
                  </a:moveTo>
                  <a:lnTo>
                    <a:pt x="3000" y="10000"/>
                  </a:lnTo>
                  <a:cubicBezTo>
                    <a:pt x="3000" y="7791"/>
                    <a:pt x="4791" y="6000"/>
                    <a:pt x="7000" y="6000"/>
                  </a:cubicBezTo>
                  <a:lnTo>
                    <a:pt x="21000" y="6000"/>
                  </a:lnTo>
                </a:path>
                <a:path w="24000" h="24000" fill="none">
                  <a:moveTo>
                    <a:pt x="7000" y="22000"/>
                  </a:moveTo>
                  <a:lnTo>
                    <a:pt x="3000" y="18000"/>
                  </a:lnTo>
                  <a:lnTo>
                    <a:pt x="7000" y="14000"/>
                  </a:lnTo>
                </a:path>
                <a:path w="24000" h="24000" fill="none">
                  <a:moveTo>
                    <a:pt x="21000" y="13000"/>
                  </a:moveTo>
                  <a:lnTo>
                    <a:pt x="21000" y="14000"/>
                  </a:lnTo>
                  <a:cubicBezTo>
                    <a:pt x="21000" y="16209"/>
                    <a:pt x="19209" y="18000"/>
                    <a:pt x="17000" y="18000"/>
                  </a:cubicBezTo>
                  <a:lnTo>
                    <a:pt x="3000" y="18000"/>
                  </a:lnTo>
                </a:path>
              </a:pathLst>
            </a:custGeom>
            <a:noFill/>
            <a:ln w="31750" cap="rnd">
              <a:solidFill>
                <a:schemeClr val="accent5">
                  <a:alpha val="80000"/>
                </a:schemeClr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2" name="shape 52"/>
            <p:cNvSpPr/>
            <p:nvPr/>
          </p:nvSpPr>
          <p:spPr>
            <a:xfrm>
              <a:off x="4470400" y="3854450"/>
              <a:ext cx="88900" cy="8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3" name="text 53"/>
            <p:cNvSpPr txBox="1"/>
            <p:nvPr/>
          </p:nvSpPr>
          <p:spPr>
            <a:xfrm>
              <a:off x="4610100" y="3810000"/>
              <a:ext cx="889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4A5470"/>
                  </a:solidFill>
                  <a:latin typeface="+mn-lt"/>
                  <a:cs typeface="+mn-lt"/>
                </a:rPr>
                <a:t>Новые</a:t>
              </a:r>
              <a:endParaRPr lang="ru-RU" sz="900" dirty="0">
                <a:solidFill>
                  <a:srgbClr val="4A5470"/>
                </a:solidFill>
                <a:latin typeface="+mn-lt"/>
                <a:cs typeface="+mn-lt"/>
              </a:endParaRPr>
            </a:p>
          </p:txBody>
        </p:sp>
        <p:sp>
          <p:nvSpPr>
            <p:cNvPr id="54" name="shape 54"/>
            <p:cNvSpPr/>
            <p:nvPr/>
          </p:nvSpPr>
          <p:spPr>
            <a:xfrm>
              <a:off x="7658100" y="3854450"/>
              <a:ext cx="88900" cy="8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5" name="text 55"/>
            <p:cNvSpPr txBox="1"/>
            <p:nvPr/>
          </p:nvSpPr>
          <p:spPr>
            <a:xfrm>
              <a:off x="6604000" y="3810000"/>
              <a:ext cx="101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00" dirty="0">
                  <a:solidFill>
                    <a:srgbClr val="4A5470"/>
                  </a:solidFill>
                  <a:latin typeface="+mn-lt"/>
                  <a:cs typeface="+mn-lt"/>
                </a:rPr>
                <a:t>Повторные</a:t>
              </a:r>
              <a:endParaRPr lang="ru-RU" sz="900" dirty="0">
                <a:solidFill>
                  <a:srgbClr val="4A5470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56" name="d3"/>
          <p:cNvGrpSpPr/>
          <p:nvPr/>
        </p:nvGrpSpPr>
        <p:grpSpPr>
          <a:xfrm>
            <a:off x="8077200" y="1905000"/>
            <a:ext cx="3810000" cy="2235200"/>
            <a:chOff x="8077200" y="1905000"/>
            <a:chExt cx="3810000" cy="2235200"/>
          </a:xfrm>
        </p:grpSpPr>
        <p:sp>
          <p:nvSpPr>
            <p:cNvPr id="57" name="shape 57"/>
            <p:cNvSpPr/>
            <p:nvPr/>
          </p:nvSpPr>
          <p:spPr>
            <a:xfrm>
              <a:off x="8077200" y="1905000"/>
              <a:ext cx="3810000" cy="2235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8" name="text 58"/>
            <p:cNvSpPr txBox="1"/>
            <p:nvPr/>
          </p:nvSpPr>
          <p:spPr>
            <a:xfrm>
              <a:off x="8280400" y="2057400"/>
              <a:ext cx="3429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Средний чек по возрасту, </a:t>
              </a:r>
              <a:r>
                <a:rPr lang="ru-RU" sz="1000" b="1" spc="40" cap="all" dirty="0">
                  <a:solidFill>
                    <a:srgbClr val="1B2236"/>
                  </a:solidFill>
                  <a:latin typeface="Segoe UI"/>
                  <a:cs typeface="Segoe UI"/>
                </a:rPr>
                <a:t>₽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59" name="chart 59"/>
            <p:cNvGraphicFramePr>
              <a:graphicFrameLocks noGrp="1"/>
            </p:cNvGraphicFramePr>
            <p:nvPr/>
          </p:nvGraphicFramePr>
          <p:xfrm>
            <a:off x="8178800" y="2311400"/>
            <a:ext cx="3606800" cy="1752600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</p:grpSp>
      <p:sp>
        <p:nvSpPr>
          <p:cNvPr id="60" name="focus-card"/>
          <p:cNvSpPr/>
          <p:nvPr/>
        </p:nvSpPr>
        <p:spPr>
          <a:xfrm>
            <a:off x="304800" y="4292600"/>
            <a:ext cx="3810000" cy="22606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l" rotWithShape="0">
              <a:srgbClr val="1B2236">
                <a:alpha val="10000"/>
              </a:srgbClr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61" name="d4"/>
          <p:cNvGrpSpPr/>
          <p:nvPr/>
        </p:nvGrpSpPr>
        <p:grpSpPr>
          <a:xfrm>
            <a:off x="406400" y="4445000"/>
            <a:ext cx="3606800" cy="2032000"/>
            <a:chOff x="406400" y="4445000"/>
            <a:chExt cx="3606800" cy="2032000"/>
          </a:xfrm>
        </p:grpSpPr>
        <p:sp>
          <p:nvSpPr>
            <p:cNvPr id="62" name="text 62"/>
            <p:cNvSpPr txBox="1"/>
            <p:nvPr/>
          </p:nvSpPr>
          <p:spPr>
            <a:xfrm>
              <a:off x="508000" y="4445000"/>
              <a:ext cx="228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Заказы по неделям, тыс.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sp>
          <p:nvSpPr>
            <p:cNvPr id="63" name="shape 63"/>
            <p:cNvSpPr/>
            <p:nvPr/>
          </p:nvSpPr>
          <p:spPr>
            <a:xfrm>
              <a:off x="2844800" y="4514850"/>
              <a:ext cx="152400" cy="38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4" name="text 64"/>
            <p:cNvSpPr txBox="1"/>
            <p:nvPr/>
          </p:nvSpPr>
          <p:spPr>
            <a:xfrm>
              <a:off x="3048000" y="4445000"/>
              <a:ext cx="330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4A5470"/>
                  </a:solidFill>
                  <a:latin typeface="+mn-lt"/>
                  <a:cs typeface="+mn-lt"/>
                </a:rPr>
                <a:t>2026</a:t>
              </a:r>
              <a:endParaRPr lang="ru-RU" sz="900" dirty="0">
                <a:solidFill>
                  <a:srgbClr val="4A5470"/>
                </a:solidFill>
                <a:latin typeface="+mn-lt"/>
                <a:cs typeface="+mn-lt"/>
              </a:endParaRPr>
            </a:p>
          </p:txBody>
        </p:sp>
        <p:sp>
          <p:nvSpPr>
            <p:cNvPr id="65" name="shape 65"/>
            <p:cNvSpPr/>
            <p:nvPr/>
          </p:nvSpPr>
          <p:spPr>
            <a:xfrm>
              <a:off x="3429000" y="4514850"/>
              <a:ext cx="152400" cy="38100"/>
            </a:xfrm>
            <a:prstGeom prst="roundRect">
              <a:avLst>
                <a:gd name="adj" fmla="val 50000"/>
              </a:avLst>
            </a:prstGeom>
            <a:solidFill>
              <a:srgbClr val="B6BECF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6" name="text 66"/>
            <p:cNvSpPr txBox="1"/>
            <p:nvPr/>
          </p:nvSpPr>
          <p:spPr>
            <a:xfrm>
              <a:off x="3632200" y="4445000"/>
              <a:ext cx="3302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2025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67" name="chart 67"/>
            <p:cNvGraphicFramePr>
              <a:graphicFrameLocks noGrp="1"/>
            </p:cNvGraphicFramePr>
            <p:nvPr/>
          </p:nvGraphicFramePr>
          <p:xfrm>
            <a:off x="406400" y="4699000"/>
            <a:ext cx="3606800" cy="1778000"/>
          </p:xfrm>
          <a:graphic>
            <a:graphicData uri="http://schemas.openxmlformats.org/drawingml/2006/chart">
              <c:chart xmlns:c="http://schemas.openxmlformats.org/drawingml/2006/chart" r:id="rId5"/>
            </a:graphicData>
          </a:graphic>
        </p:graphicFrame>
      </p:grpSp>
      <p:grpSp>
        <p:nvGrpSpPr>
          <p:cNvPr id="68" name="d5"/>
          <p:cNvGrpSpPr/>
          <p:nvPr/>
        </p:nvGrpSpPr>
        <p:grpSpPr>
          <a:xfrm>
            <a:off x="4267200" y="4292600"/>
            <a:ext cx="3657600" cy="2260600"/>
            <a:chOff x="4267200" y="4292600"/>
            <a:chExt cx="3657600" cy="2260600"/>
          </a:xfrm>
        </p:grpSpPr>
        <p:sp>
          <p:nvSpPr>
            <p:cNvPr id="69" name="shape 69"/>
            <p:cNvSpPr/>
            <p:nvPr/>
          </p:nvSpPr>
          <p:spPr>
            <a:xfrm>
              <a:off x="4267200" y="4292600"/>
              <a:ext cx="3657600" cy="2260600"/>
            </a:xfrm>
            <a:prstGeom prst="roundRect">
              <a:avLst>
                <a:gd name="adj" fmla="val 6742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0" name="text 70"/>
            <p:cNvSpPr txBox="1"/>
            <p:nvPr/>
          </p:nvSpPr>
          <p:spPr>
            <a:xfrm>
              <a:off x="4470400" y="4445000"/>
              <a:ext cx="330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Способы оплаты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71" name="chart 71"/>
            <p:cNvGraphicFramePr>
              <a:graphicFrameLocks noGrp="1"/>
            </p:cNvGraphicFramePr>
            <p:nvPr/>
          </p:nvGraphicFramePr>
          <p:xfrm>
            <a:off x="4419600" y="4699000"/>
            <a:ext cx="1752600" cy="1752600"/>
          </p:xfrm>
          <a:graphic>
            <a:graphicData uri="http://schemas.openxmlformats.org/drawingml/2006/chart">
              <c:chart xmlns:c="http://schemas.openxmlformats.org/drawingml/2006/chart" r:id="rId6"/>
            </a:graphicData>
          </a:graphic>
        </p:graphicFrame>
        <p:sp>
          <p:nvSpPr>
            <p:cNvPr id="72" name="shape 72"/>
            <p:cNvSpPr/>
            <p:nvPr/>
          </p:nvSpPr>
          <p:spPr>
            <a:xfrm>
              <a:off x="6350000" y="4902200"/>
              <a:ext cx="50800" cy="355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3" name="text 73"/>
            <p:cNvSpPr txBox="1"/>
            <p:nvPr/>
          </p:nvSpPr>
          <p:spPr>
            <a:xfrm>
              <a:off x="6502400" y="4876800"/>
              <a:ext cx="1270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Банковская карта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74" name="text 74"/>
            <p:cNvSpPr txBox="1"/>
            <p:nvPr/>
          </p:nvSpPr>
          <p:spPr>
            <a:xfrm>
              <a:off x="6502400" y="50419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B2236"/>
                  </a:solidFill>
                  <a:latin typeface="+mj-lt"/>
                  <a:cs typeface="+mj-lt"/>
                </a:rPr>
                <a:t>46%</a:t>
              </a:r>
              <a:endParaRPr lang="ru-RU" sz="14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75" name="shape 75"/>
            <p:cNvSpPr/>
            <p:nvPr/>
          </p:nvSpPr>
          <p:spPr>
            <a:xfrm>
              <a:off x="6350000" y="5410200"/>
              <a:ext cx="50800" cy="355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6" name="text 76"/>
            <p:cNvSpPr txBox="1"/>
            <p:nvPr/>
          </p:nvSpPr>
          <p:spPr>
            <a:xfrm>
              <a:off x="6502400" y="5384800"/>
              <a:ext cx="1270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СБП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77" name="text 77"/>
            <p:cNvSpPr txBox="1"/>
            <p:nvPr/>
          </p:nvSpPr>
          <p:spPr>
            <a:xfrm>
              <a:off x="6502400" y="55499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B2236"/>
                  </a:solidFill>
                  <a:latin typeface="+mj-lt"/>
                  <a:cs typeface="+mj-lt"/>
                </a:rPr>
                <a:t>31% </a:t>
              </a:r>
              <a:r>
                <a:rPr lang="ru-RU" sz="900" dirty="0">
                  <a:solidFill>
                    <a:schemeClr val="accent4"/>
                  </a:solidFill>
                  <a:latin typeface="Segoe UI"/>
                  <a:cs typeface="Segoe UI"/>
                </a:rPr>
                <a:t>▲</a:t>
              </a:r>
              <a:r>
                <a:rPr lang="ru-RU" sz="900" dirty="0">
                  <a:solidFill>
                    <a:schemeClr val="accent4"/>
                  </a:solidFill>
                  <a:latin typeface="Manrope SemiBold"/>
                  <a:cs typeface="Manrope SemiBold"/>
                </a:rPr>
                <a:t> +9 п.п.</a:t>
              </a:r>
              <a:endParaRPr lang="ru-RU" sz="14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78" name="shape 78"/>
            <p:cNvSpPr/>
            <p:nvPr/>
          </p:nvSpPr>
          <p:spPr>
            <a:xfrm>
              <a:off x="6350000" y="5918200"/>
              <a:ext cx="50800" cy="355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79" name="text 79"/>
            <p:cNvSpPr txBox="1"/>
            <p:nvPr/>
          </p:nvSpPr>
          <p:spPr>
            <a:xfrm>
              <a:off x="6502400" y="5892800"/>
              <a:ext cx="1270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Рассрочка / BNPL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80" name="text 80"/>
            <p:cNvSpPr txBox="1"/>
            <p:nvPr/>
          </p:nvSpPr>
          <p:spPr>
            <a:xfrm>
              <a:off x="6502400" y="6057900"/>
              <a:ext cx="127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400" dirty="0">
                  <a:solidFill>
                    <a:srgbClr val="1B2236"/>
                  </a:solidFill>
                  <a:latin typeface="+mj-lt"/>
                  <a:cs typeface="+mj-lt"/>
                </a:rPr>
                <a:t>15%</a:t>
              </a:r>
              <a:endParaRPr lang="ru-RU" sz="14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81" name="icon 81"/>
            <p:cNvSpPr/>
            <p:nvPr/>
          </p:nvSpPr>
          <p:spPr>
            <a:xfrm>
              <a:off x="5156200" y="5435600"/>
              <a:ext cx="279400" cy="2794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4000" y="5000"/>
                  </a:moveTo>
                  <a:lnTo>
                    <a:pt x="20000" y="5000"/>
                  </a:lnTo>
                  <a:cubicBezTo>
                    <a:pt x="21105" y="5000"/>
                    <a:pt x="22000" y="5895"/>
                    <a:pt x="22000" y="7000"/>
                  </a:cubicBezTo>
                  <a:lnTo>
                    <a:pt x="22000" y="17000"/>
                  </a:lnTo>
                  <a:cubicBezTo>
                    <a:pt x="22000" y="18105"/>
                    <a:pt x="21105" y="19000"/>
                    <a:pt x="20000" y="19000"/>
                  </a:cubicBezTo>
                  <a:lnTo>
                    <a:pt x="4000" y="19000"/>
                  </a:lnTo>
                  <a:cubicBezTo>
                    <a:pt x="2895" y="19000"/>
                    <a:pt x="2000" y="18105"/>
                    <a:pt x="2000" y="17000"/>
                  </a:cubicBezTo>
                  <a:lnTo>
                    <a:pt x="2000" y="7000"/>
                  </a:lnTo>
                  <a:cubicBezTo>
                    <a:pt x="2000" y="5895"/>
                    <a:pt x="2895" y="5000"/>
                    <a:pt x="4000" y="5000"/>
                  </a:cubicBezTo>
                  <a:close/>
                </a:path>
                <a:path w="24000" h="24000" fill="none">
                  <a:moveTo>
                    <a:pt x="2000" y="10000"/>
                  </a:moveTo>
                  <a:lnTo>
                    <a:pt x="22000" y="10000"/>
                  </a:lnTo>
                </a:path>
                <a:path w="24000" h="24000" fill="none">
                  <a:moveTo>
                    <a:pt x="6000" y="14000"/>
                  </a:moveTo>
                  <a:lnTo>
                    <a:pt x="8000" y="14000"/>
                  </a:lnTo>
                </a:path>
              </a:pathLst>
            </a:custGeom>
            <a:noFill/>
            <a:ln w="23283" cap="rnd">
              <a:solidFill>
                <a:srgbClr val="1B2236">
                  <a:alpha val="55000"/>
                </a:srgbClr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82" name="d6"/>
          <p:cNvGrpSpPr/>
          <p:nvPr/>
        </p:nvGrpSpPr>
        <p:grpSpPr>
          <a:xfrm>
            <a:off x="8077200" y="4292600"/>
            <a:ext cx="3810000" cy="2260600"/>
            <a:chOff x="8077200" y="4292600"/>
            <a:chExt cx="3810000" cy="2260600"/>
          </a:xfrm>
        </p:grpSpPr>
        <p:sp>
          <p:nvSpPr>
            <p:cNvPr id="83" name="shape 83"/>
            <p:cNvSpPr/>
            <p:nvPr/>
          </p:nvSpPr>
          <p:spPr>
            <a:xfrm>
              <a:off x="8077200" y="4292600"/>
              <a:ext cx="3810000" cy="2260600"/>
            </a:xfrm>
            <a:prstGeom prst="roundRect">
              <a:avLst>
                <a:gd name="adj" fmla="val 6742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84" name="text 84"/>
            <p:cNvSpPr txBox="1"/>
            <p:nvPr/>
          </p:nvSpPr>
          <p:spPr>
            <a:xfrm>
              <a:off x="8280400" y="4445000"/>
              <a:ext cx="3429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00" b="1" spc="40" cap="all" dirty="0">
                  <a:solidFill>
                    <a:srgbClr val="1B2236"/>
                  </a:solidFill>
                  <a:latin typeface="+mn-lt"/>
                  <a:cs typeface="+mn-lt"/>
                </a:rPr>
                <a:t>Штат по складам, чел.</a:t>
              </a:r>
              <a:endParaRPr lang="ru-RU" sz="1000" b="1" spc="40" cap="all" dirty="0">
                <a:solidFill>
                  <a:srgbClr val="1B2236"/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85" name="chart 85"/>
            <p:cNvGraphicFramePr>
              <a:graphicFrameLocks noGrp="1"/>
            </p:cNvGraphicFramePr>
            <p:nvPr/>
          </p:nvGraphicFramePr>
          <p:xfrm>
            <a:off x="8178800" y="4699000"/>
            <a:ext cx="3606800" cy="1778000"/>
          </p:xfrm>
          <a:graphic>
            <a:graphicData uri="http://schemas.openxmlformats.org/drawingml/2006/chart">
              <c:chart xmlns:c="http://schemas.openxmlformats.org/drawingml/2006/chart" r:id="rId7"/>
            </a:graphicData>
          </a:graphic>
        </p:graphicFrame>
      </p:grpSp>
      <p:sp>
        <p:nvSpPr>
          <p:cNvPr id="86" name="text 86"/>
          <p:cNvSpPr txBox="1"/>
          <p:nvPr/>
        </p:nvSpPr>
        <p:spPr>
          <a:xfrm>
            <a:off x="304800" y="66294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750" dirty="0">
                <a:solidFill>
                  <a:srgbClr val="8A93A8"/>
                </a:solidFill>
                <a:latin typeface="+mn-lt"/>
                <a:cs typeface="+mn-lt"/>
              </a:rPr>
              <a:t>Цифры иллюстративные: демо-отчёт вымышленной компании «Корзина+».</a:t>
            </a:r>
            <a:endParaRPr lang="ru-RU" sz="750" dirty="0">
              <a:solidFill>
                <a:srgbClr val="8A93A8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logo"/>
          <p:cNvGrpSpPr/>
          <p:nvPr/>
        </p:nvGrpSpPr>
        <p:grpSpPr>
          <a:xfrm>
            <a:off x="304800" y="254000"/>
            <a:ext cx="381000" cy="381000"/>
            <a:chOff x="304800" y="254000"/>
            <a:chExt cx="381000" cy="381000"/>
          </a:xfrm>
        </p:grpSpPr>
        <p:sp>
          <p:nvSpPr>
            <p:cNvPr id="3" name="shape 3"/>
            <p:cNvSpPr/>
            <p:nvPr/>
          </p:nvSpPr>
          <p:spPr>
            <a:xfrm>
              <a:off x="304800" y="254000"/>
              <a:ext cx="381000" cy="381000"/>
            </a:xfrm>
            <a:prstGeom prst="roundRect">
              <a:avLst>
                <a:gd name="adj" fmla="val 26667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" name="icon 4"/>
            <p:cNvSpPr/>
            <p:nvPr/>
          </p:nvSpPr>
          <p:spPr>
            <a:xfrm>
              <a:off x="393700" y="3429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10000"/>
                  </a:moveTo>
                  <a:cubicBezTo>
                    <a:pt x="16000" y="12209"/>
                    <a:pt x="14209" y="14000"/>
                    <a:pt x="12000" y="14000"/>
                  </a:cubicBezTo>
                  <a:cubicBezTo>
                    <a:pt x="9791" y="14000"/>
                    <a:pt x="8000" y="12209"/>
                    <a:pt x="8000" y="10000"/>
                  </a:cubicBezTo>
                </a:path>
                <a:path w="24000" h="24000" fill="none">
                  <a:moveTo>
                    <a:pt x="3103" y="6034"/>
                  </a:moveTo>
                  <a:lnTo>
                    <a:pt x="20897" y="6034"/>
                  </a:lnTo>
                </a:path>
                <a:path w="24000" h="24000" fill="none">
                  <a:moveTo>
                    <a:pt x="3400" y="5467"/>
                  </a:moveTo>
                  <a:cubicBezTo>
                    <a:pt x="3140" y="5813"/>
                    <a:pt x="3000" y="6234"/>
                    <a:pt x="3000" y="6667"/>
                  </a:cubicBezTo>
                  <a:lnTo>
                    <a:pt x="3000" y="20000"/>
                  </a:lnTo>
                  <a:cubicBezTo>
                    <a:pt x="3000" y="21105"/>
                    <a:pt x="3895" y="22000"/>
                    <a:pt x="5000" y="22000"/>
                  </a:cubicBezTo>
                  <a:lnTo>
                    <a:pt x="19000" y="22000"/>
                  </a:lnTo>
                  <a:cubicBezTo>
                    <a:pt x="20105" y="22000"/>
                    <a:pt x="21000" y="21105"/>
                    <a:pt x="21000" y="20000"/>
                  </a:cubicBezTo>
                  <a:lnTo>
                    <a:pt x="21000" y="6667"/>
                  </a:lnTo>
                  <a:cubicBezTo>
                    <a:pt x="21000" y="6234"/>
                    <a:pt x="20860" y="5813"/>
                    <a:pt x="20600" y="5467"/>
                  </a:cubicBezTo>
                  <a:lnTo>
                    <a:pt x="18600" y="2800"/>
                  </a:lnTo>
                  <a:cubicBezTo>
                    <a:pt x="18222" y="2296"/>
                    <a:pt x="17630" y="2000"/>
                    <a:pt x="17000" y="2000"/>
                  </a:cubicBezTo>
                  <a:lnTo>
                    <a:pt x="7000" y="2000"/>
                  </a:lnTo>
                  <a:cubicBezTo>
                    <a:pt x="6370" y="2000"/>
                    <a:pt x="5778" y="2296"/>
                    <a:pt x="5400" y="2800"/>
                  </a:cubicBezTo>
                  <a:close/>
                </a:path>
              </a:pathLst>
            </a:custGeom>
            <a:noFill/>
            <a:ln w="18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kick"/>
          <p:cNvSpPr txBox="1"/>
          <p:nvPr/>
        </p:nvSpPr>
        <p:spPr>
          <a:xfrm>
            <a:off x="812800" y="228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50" b="1" spc="150" cap="all" dirty="0">
                <a:solidFill>
                  <a:schemeClr val="accent1"/>
                </a:solidFill>
                <a:latin typeface="+mn-lt"/>
                <a:cs typeface="+mn-lt"/>
              </a:rPr>
              <a:t>Заказы по неделям · Q3 2026</a:t>
            </a:r>
            <a:endParaRPr lang="ru-RU" sz="950" b="1" spc="150" cap="all" dirty="0">
              <a:solidFill>
                <a:schemeClr val="accent1"/>
              </a:solidFill>
              <a:latin typeface="+mn-lt"/>
              <a:cs typeface="+mn-lt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812800" y="406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rgbClr val="1B2236"/>
                </a:solidFill>
                <a:latin typeface="+mj-lt"/>
                <a:cs typeface="+mj-lt"/>
              </a:rPr>
              <a:t>Акция «Снова в школу» дала рекорд квартала</a:t>
            </a:r>
            <a:endParaRPr lang="ru-RU" sz="2400" dirty="0">
              <a:solidFill>
                <a:srgbClr val="1B2236"/>
              </a:solidFill>
              <a:latin typeface="+mj-lt"/>
              <a:cs typeface="+mj-lt"/>
            </a:endParaRPr>
          </a:p>
        </p:txBody>
      </p:sp>
      <p:sp>
        <p:nvSpPr>
          <p:cNvPr id="7" name="focus-card"/>
          <p:cNvSpPr/>
          <p:nvPr/>
        </p:nvSpPr>
        <p:spPr>
          <a:xfrm>
            <a:off x="304800" y="1016000"/>
            <a:ext cx="8128000" cy="553720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l" rotWithShape="0">
              <a:srgbClr val="1B2236">
                <a:alpha val="10000"/>
              </a:srgbClr>
            </a:outerShdw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8" name="unit3"/>
          <p:cNvSpPr txBox="1"/>
          <p:nvPr/>
        </p:nvSpPr>
        <p:spPr>
          <a:xfrm>
            <a:off x="558800" y="1219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1000" dirty="0">
                <a:solidFill>
                  <a:srgbClr val="6B7690"/>
                </a:solidFill>
                <a:latin typeface="+mn-lt"/>
                <a:cs typeface="+mn-lt"/>
              </a:rPr>
              <a:t>Заказы, тыс. в неделю · 1 июля — 29 сентября</a:t>
            </a:r>
            <a:endParaRPr lang="ru-RU" sz="1000" dirty="0">
              <a:solidFill>
                <a:srgbClr val="6B7690"/>
              </a:solidFill>
              <a:latin typeface="+mn-lt"/>
              <a:cs typeface="+mn-lt"/>
            </a:endParaRPr>
          </a:p>
        </p:txBody>
      </p:sp>
      <p:cxnSp>
        <p:nvCxnSpPr>
          <p:cNvPr id="9" name="avg-line"/>
          <p:cNvCxnSpPr/>
          <p:nvPr/>
        </p:nvCxnSpPr>
        <p:spPr>
          <a:xfrm>
            <a:off x="838200" y="2980690"/>
            <a:ext cx="6756400" cy="0"/>
          </a:xfrm>
          <a:prstGeom prst="line">
            <a:avLst/>
          </a:prstGeom>
          <a:ln w="12700" cap="rnd">
            <a:solidFill>
              <a:srgbClr val="1B2236">
                <a:alpha val="40000"/>
              </a:srgbClr>
            </a:solidFill>
            <a:prstDash val="dash"/>
            <a:round/>
          </a:ln>
        </p:spPr>
      </p:cxnSp>
      <p:graphicFrame>
        <p:nvGraphicFramePr>
          <p:cNvPr id="10" name="big"/>
          <p:cNvGraphicFramePr>
            <a:graphicFrameLocks noGrp="1"/>
          </p:cNvGraphicFramePr>
          <p:nvPr/>
        </p:nvGraphicFramePr>
        <p:xfrm>
          <a:off x="457200" y="1473200"/>
          <a:ext cx="7188200" cy="4953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ann-avg"/>
          <p:cNvGrpSpPr/>
          <p:nvPr/>
        </p:nvGrpSpPr>
        <p:grpSpPr>
          <a:xfrm>
            <a:off x="7594600" y="2667000"/>
            <a:ext cx="736600" cy="431800"/>
            <a:chOff x="7594600" y="2667000"/>
            <a:chExt cx="736600" cy="431800"/>
          </a:xfrm>
        </p:grpSpPr>
        <p:sp>
          <p:nvSpPr>
            <p:cNvPr id="12" name="text 12"/>
            <p:cNvSpPr txBox="1"/>
            <p:nvPr/>
          </p:nvSpPr>
          <p:spPr>
            <a:xfrm>
              <a:off x="7594600" y="2667000"/>
              <a:ext cx="7366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buNone/>
              </a:pPr>
              <a:r>
                <a:rPr lang="ru-RU" sz="800" dirty="0">
                  <a:solidFill>
                    <a:srgbClr val="6B7690"/>
                  </a:solidFill>
                  <a:latin typeface="+mn-lt"/>
                  <a:cs typeface="+mn-lt"/>
                </a:rPr>
                <a:t>среднее</a:t>
              </a:r>
              <a:endParaRPr lang="ru-RU" sz="8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13" name="shape 13"/>
            <p:cNvSpPr/>
            <p:nvPr/>
          </p:nvSpPr>
          <p:spPr>
            <a:xfrm>
              <a:off x="7620000" y="2857500"/>
              <a:ext cx="685800" cy="241300"/>
            </a:xfrm>
            <a:prstGeom prst="roundRect">
              <a:avLst>
                <a:gd name="adj" fmla="val 47368"/>
              </a:avLst>
            </a:prstGeom>
            <a:solidFill>
              <a:srgbClr val="1B2236"/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850" b="1" dirty="0">
                  <a:solidFill>
                    <a:srgbClr val="FFFFFF"/>
                  </a:solidFill>
                  <a:latin typeface="+mn-lt"/>
                  <a:cs typeface="+mn-lt"/>
                </a:rPr>
                <a:t>97 тыс.</a:t>
              </a:r>
              <a:endParaRPr lang="ru-RU" sz="8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14" name="ann-peak"/>
          <p:cNvGrpSpPr/>
          <p:nvPr/>
        </p:nvGrpSpPr>
        <p:grpSpPr>
          <a:xfrm>
            <a:off x="1397000" y="1549400"/>
            <a:ext cx="2692400" cy="647700"/>
            <a:chOff x="1397000" y="1549400"/>
            <a:chExt cx="2692400" cy="647700"/>
          </a:xfrm>
        </p:grpSpPr>
        <p:sp>
          <p:nvSpPr>
            <p:cNvPr id="15" name="shape 15"/>
            <p:cNvSpPr/>
            <p:nvPr/>
          </p:nvSpPr>
          <p:spPr>
            <a:xfrm>
              <a:off x="1397000" y="1549400"/>
              <a:ext cx="2133600" cy="584200"/>
            </a:xfrm>
            <a:prstGeom prst="roundRect">
              <a:avLst>
                <a:gd name="adj" fmla="val 17391"/>
              </a:avLst>
            </a:prstGeom>
            <a:solidFill>
              <a:srgbClr val="1B2236"/>
            </a:solidFill>
            <a:ln>
              <a:noFill/>
            </a:ln>
            <a:effectLst>
              <a:outerShdw blurRad="355600" dist="101600" dir="5400000" algn="tl" rotWithShape="0">
                <a:srgbClr val="000000">
                  <a:alpha val="14000"/>
                </a:srgbClr>
              </a:outerShdw>
            </a:effectLst>
          </p:spPr>
          <p:txBody>
            <a:bodyPr wrap="square" lIns="127000" tIns="76200" rIns="127000" bIns="76200" anchor="ctr" rtlCol="0">
              <a:noAutofit/>
            </a:bodyPr>
            <a:lstStyle/>
            <a:p>
              <a:pPr>
                <a:buNone/>
              </a:pPr>
              <a:r>
                <a:rPr lang="ru-RU" sz="950" b="1" dirty="0">
                  <a:solidFill>
                    <a:srgbClr val="FFFFFF"/>
                  </a:solidFill>
                  <a:latin typeface="+mn-lt"/>
                  <a:cs typeface="+mn-lt"/>
                </a:rPr>
                <a:t>121 тыс. — пик квартала</a:t>
              </a:r>
              <a:endParaRPr lang="ru-RU" sz="950" b="1" dirty="0">
                <a:solidFill>
                  <a:srgbClr val="FFFFFF"/>
                </a:solidFill>
                <a:latin typeface="+mn-lt"/>
                <a:cs typeface="+mn-lt"/>
              </a:endParaRPr>
            </a:p>
            <a:p>
              <a:pPr>
                <a:buNone/>
              </a:pPr>
              <a:r>
                <a:rPr lang="ru-RU" sz="850" dirty="0">
                  <a:solidFill>
                    <a:srgbClr val="FFFFFF">
                      <a:alpha val="70000"/>
                    </a:srgbClr>
                  </a:solidFill>
                  <a:latin typeface="+mn-lt"/>
                  <a:cs typeface="+mn-lt"/>
                </a:rPr>
                <a:t>17–23 августа, «Снова в школу»</a:t>
              </a:r>
              <a:endParaRPr lang="ru-RU" sz="850" dirty="0">
                <a:solidFill>
                  <a:srgbClr val="FFFFFF">
                    <a:alpha val="70000"/>
                  </a:srgbClr>
                </a:solidFill>
                <a:latin typeface="+mn-lt"/>
                <a:cs typeface="+mn-lt"/>
              </a:endParaRPr>
            </a:p>
          </p:txBody>
        </p:sp>
        <p:cxnSp>
          <p:nvCxnSpPr>
            <p:cNvPr id="16" name="line 16"/>
            <p:cNvCxnSpPr/>
            <p:nvPr/>
          </p:nvCxnSpPr>
          <p:spPr>
            <a:xfrm>
              <a:off x="3530600" y="1841500"/>
              <a:ext cx="558800" cy="355600"/>
            </a:xfrm>
            <a:prstGeom prst="line">
              <a:avLst/>
            </a:prstGeom>
            <a:ln w="15875" cap="rnd">
              <a:solidFill>
                <a:schemeClr val="accent2"/>
              </a:solidFill>
              <a:round/>
              <a:tailEnd type="oval" w="med" len="med"/>
            </a:ln>
          </p:spPr>
        </p:cxnSp>
      </p:grpSp>
      <p:grpSp>
        <p:nvGrpSpPr>
          <p:cNvPr id="17" name="ann-dip"/>
          <p:cNvGrpSpPr/>
          <p:nvPr/>
        </p:nvGrpSpPr>
        <p:grpSpPr>
          <a:xfrm>
            <a:off x="4978400" y="1905000"/>
            <a:ext cx="2489200" cy="1447800"/>
            <a:chOff x="4978400" y="1905000"/>
            <a:chExt cx="2489200" cy="1447800"/>
          </a:xfrm>
        </p:grpSpPr>
        <p:sp>
          <p:nvSpPr>
            <p:cNvPr id="18" name="shape 18"/>
            <p:cNvSpPr/>
            <p:nvPr/>
          </p:nvSpPr>
          <p:spPr>
            <a:xfrm>
              <a:off x="4978400" y="1905000"/>
              <a:ext cx="2489200" cy="5842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5875" cap="rnd">
              <a:solidFill>
                <a:schemeClr val="accent3"/>
              </a:solidFill>
              <a:round/>
            </a:ln>
          </p:spPr>
          <p:txBody>
            <a:bodyPr wrap="square" lIns="127000" tIns="76200" rIns="127000" bIns="76200" anchor="ctr" rtlCol="0">
              <a:noAutofit/>
            </a:bodyPr>
            <a:lstStyle/>
            <a:p>
              <a:pPr>
                <a:buNone/>
              </a:pPr>
              <a:r>
                <a:rPr lang="ru-RU" sz="950" b="1" dirty="0">
                  <a:solidFill>
                    <a:srgbClr val="1B2236"/>
                  </a:solidFill>
                  <a:latin typeface="+mn-lt"/>
                  <a:cs typeface="+mn-lt"/>
                </a:rPr>
                <a:t>85 тыс. — сбой оплаты</a:t>
              </a:r>
              <a:endParaRPr lang="ru-RU" sz="950" b="1" dirty="0">
                <a:solidFill>
                  <a:srgbClr val="1B2236"/>
                </a:solidFill>
                <a:latin typeface="+mn-lt"/>
                <a:cs typeface="+mn-lt"/>
              </a:endParaRPr>
            </a:p>
            <a:p>
              <a:pPr>
                <a:buNone/>
              </a:pPr>
              <a:r>
                <a:rPr lang="ru-RU" sz="850" dirty="0">
                  <a:solidFill>
                    <a:srgbClr val="6B7690"/>
                  </a:solidFill>
                  <a:latin typeface="+mn-lt"/>
                  <a:cs typeface="+mn-lt"/>
                </a:rPr>
                <a:t>24 сентября шлюз не работал 4 часа</a:t>
              </a:r>
              <a:endParaRPr lang="ru-RU" sz="85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cxnSp>
          <p:nvCxnSpPr>
            <p:cNvPr id="19" name="line 19"/>
            <p:cNvCxnSpPr/>
            <p:nvPr/>
          </p:nvCxnSpPr>
          <p:spPr>
            <a:xfrm>
              <a:off x="7245350" y="2489200"/>
              <a:ext cx="0" cy="863600"/>
            </a:xfrm>
            <a:prstGeom prst="line">
              <a:avLst/>
            </a:prstGeom>
            <a:ln w="15875" cap="rnd">
              <a:solidFill>
                <a:schemeClr val="accent3"/>
              </a:solidFill>
              <a:round/>
              <a:tailEnd type="oval" w="med" len="med"/>
            </a:ln>
          </p:spPr>
        </p:cxnSp>
      </p:grpSp>
      <p:grpSp>
        <p:nvGrpSpPr>
          <p:cNvPr id="20" name="callout"/>
          <p:cNvGrpSpPr/>
          <p:nvPr/>
        </p:nvGrpSpPr>
        <p:grpSpPr>
          <a:xfrm>
            <a:off x="8636000" y="1016000"/>
            <a:ext cx="3251200" cy="2489200"/>
            <a:chOff x="8636000" y="1016000"/>
            <a:chExt cx="3251200" cy="2489200"/>
          </a:xfrm>
        </p:grpSpPr>
        <p:sp>
          <p:nvSpPr>
            <p:cNvPr id="21" name="shape 21"/>
            <p:cNvSpPr/>
            <p:nvPr/>
          </p:nvSpPr>
          <p:spPr>
            <a:xfrm>
              <a:off x="8636000" y="1016000"/>
              <a:ext cx="3251200" cy="2489200"/>
            </a:xfrm>
            <a:prstGeom prst="roundRect">
              <a:avLst>
                <a:gd name="adj" fmla="val 6122"/>
              </a:avLst>
            </a:prstGeom>
            <a:gradFill rotWithShape="1">
              <a:gsLst>
                <a:gs pos="0">
                  <a:srgbClr val="1B2236"/>
                </a:gs>
                <a:gs pos="100000">
                  <a:srgbClr val="33275E"/>
                </a:gs>
              </a:gsLst>
              <a:lin ang="2700000" scaled="0"/>
            </a:gradFill>
            <a:ln>
              <a:noFill/>
            </a:ln>
            <a:effectLst>
              <a:outerShdw blurRad="254000" dist="101600" dir="5400000" algn="tl" rotWithShape="0">
                <a:srgbClr val="1B2236">
                  <a:alpha val="3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2" name="shape 22"/>
            <p:cNvSpPr/>
            <p:nvPr/>
          </p:nvSpPr>
          <p:spPr>
            <a:xfrm>
              <a:off x="8890000" y="1270000"/>
              <a:ext cx="431800" cy="431800"/>
            </a:xfrm>
            <a:prstGeom prst="roundRect">
              <a:avLst>
                <a:gd name="adj" fmla="val 23529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2">
                  <a:alpha val="35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3" name="icon 23"/>
            <p:cNvSpPr/>
            <p:nvPr/>
          </p:nvSpPr>
          <p:spPr>
            <a:xfrm>
              <a:off x="8991600" y="13716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7000"/>
                  </a:moveTo>
                  <a:lnTo>
                    <a:pt x="22000" y="7000"/>
                  </a:lnTo>
                  <a:lnTo>
                    <a:pt x="22000" y="13000"/>
                  </a:lnTo>
                </a:path>
                <a:path w="24000" h="24000" fill="none">
                  <a:moveTo>
                    <a:pt x="22000" y="7000"/>
                  </a:moveTo>
                  <a:lnTo>
                    <a:pt x="13500" y="15500"/>
                  </a:lnTo>
                  <a:lnTo>
                    <a:pt x="8500" y="10500"/>
                  </a:lnTo>
                  <a:lnTo>
                    <a:pt x="2000" y="17000"/>
                  </a:lnTo>
                </a:path>
              </a:pathLst>
            </a:custGeom>
            <a:noFill/>
            <a:ln w="20955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8890000" y="1778000"/>
              <a:ext cx="27940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4600" dirty="0"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B3CF"/>
                      </a:gs>
                    </a:gsLst>
                    <a:lin ang="0" scaled="0"/>
                  </a:gradFill>
                  <a:latin typeface="+mj-lt"/>
                  <a:cs typeface="+mj-lt"/>
                </a:rPr>
                <a:t>+35%</a:t>
              </a:r>
              <a:endParaRPr lang="ru-RU" sz="4600" dirty="0">
                <a:gradFill rotWithShape="1">
                  <a:gsLst>
                    <a:gs pos="0">
                      <a:srgbClr val="FFFFFF"/>
                    </a:gs>
                    <a:gs pos="100000">
                      <a:srgbClr val="FFB3CF"/>
                    </a:gs>
                  </a:gsLst>
                  <a:lin ang="0" scaled="0"/>
                </a:gradFill>
                <a:latin typeface="+mj-lt"/>
                <a:cs typeface="+mj-lt"/>
              </a:endParaRP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8890000" y="2489200"/>
              <a:ext cx="2794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050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заказов в неделю акции к июлю</a:t>
              </a:r>
              <a:endParaRPr lang="ru-RU" sz="1050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6" name="text 26"/>
            <p:cNvSpPr txBox="1"/>
            <p:nvPr/>
          </p:nvSpPr>
          <p:spPr>
            <a:xfrm>
              <a:off x="8890000" y="2819400"/>
              <a:ext cx="88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Июль, ср.</a:t>
              </a:r>
              <a:endParaRPr lang="ru-RU" sz="85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7" name="shape 27"/>
            <p:cNvSpPr/>
            <p:nvPr/>
          </p:nvSpPr>
          <p:spPr>
            <a:xfrm>
              <a:off x="9652000" y="2857500"/>
              <a:ext cx="1041400" cy="76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8" name="text 28"/>
            <p:cNvSpPr txBox="1"/>
            <p:nvPr/>
          </p:nvSpPr>
          <p:spPr>
            <a:xfrm>
              <a:off x="11125200" y="2819400"/>
              <a:ext cx="55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850" b="1" dirty="0">
                  <a:solidFill>
                    <a:srgbClr val="FFFFFF">
                      <a:alpha val="80000"/>
                    </a:srgbClr>
                  </a:solidFill>
                  <a:latin typeface="+mn-lt"/>
                  <a:cs typeface="+mn-lt"/>
                </a:rPr>
                <a:t>89,8</a:t>
              </a:r>
              <a:endParaRPr lang="ru-RU" sz="850" b="1" dirty="0">
                <a:solidFill>
                  <a:srgbClr val="FFFFFF">
                    <a:alpha val="8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29" name="text 29"/>
            <p:cNvSpPr txBox="1"/>
            <p:nvPr/>
          </p:nvSpPr>
          <p:spPr>
            <a:xfrm>
              <a:off x="8890000" y="3073400"/>
              <a:ext cx="889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dirty="0">
                  <a:solidFill>
                    <a:srgbClr val="FFFFFF">
                      <a:alpha val="60000"/>
                    </a:srgbClr>
                  </a:solidFill>
                  <a:latin typeface="+mn-lt"/>
                  <a:cs typeface="+mn-lt"/>
                </a:rPr>
                <a:t>Неделя 7</a:t>
              </a:r>
              <a:endParaRPr lang="ru-RU" sz="850" dirty="0">
                <a:solidFill>
                  <a:srgbClr val="FFFFFF">
                    <a:alpha val="60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30" name="shape 30"/>
            <p:cNvSpPr/>
            <p:nvPr/>
          </p:nvSpPr>
          <p:spPr>
            <a:xfrm>
              <a:off x="9652000" y="3111500"/>
              <a:ext cx="1409700" cy="76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1" name="text 31"/>
            <p:cNvSpPr txBox="1"/>
            <p:nvPr/>
          </p:nvSpPr>
          <p:spPr>
            <a:xfrm>
              <a:off x="11125200" y="3073400"/>
              <a:ext cx="5588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850" b="1" dirty="0">
                  <a:solidFill>
                    <a:srgbClr val="FFFFFF"/>
                  </a:solidFill>
                  <a:latin typeface="+mn-lt"/>
                  <a:cs typeface="+mn-lt"/>
                </a:rPr>
                <a:t>121</a:t>
              </a:r>
              <a:endParaRPr lang="ru-RU" sz="85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2" name="ins1"/>
          <p:cNvGrpSpPr/>
          <p:nvPr/>
        </p:nvGrpSpPr>
        <p:grpSpPr>
          <a:xfrm>
            <a:off x="8636000" y="3657600"/>
            <a:ext cx="3251200" cy="1371600"/>
            <a:chOff x="8636000" y="3657600"/>
            <a:chExt cx="3251200" cy="1371600"/>
          </a:xfrm>
        </p:grpSpPr>
        <p:sp>
          <p:nvSpPr>
            <p:cNvPr id="33" name="shape 33"/>
            <p:cNvSpPr/>
            <p:nvPr/>
          </p:nvSpPr>
          <p:spPr>
            <a:xfrm>
              <a:off x="8636000" y="3657600"/>
              <a:ext cx="3251200" cy="13716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4" name="shape 34"/>
            <p:cNvSpPr/>
            <p:nvPr/>
          </p:nvSpPr>
          <p:spPr>
            <a:xfrm>
              <a:off x="8839200" y="38608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5" name="icon 35"/>
            <p:cNvSpPr/>
            <p:nvPr/>
          </p:nvSpPr>
          <p:spPr>
            <a:xfrm>
              <a:off x="8953500" y="39751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9000" y="8000"/>
                  </a:moveTo>
                  <a:lnTo>
                    <a:pt x="19000" y="14000"/>
                  </a:lnTo>
                </a:path>
                <a:path w="24000" h="24000" fill="none">
                  <a:moveTo>
                    <a:pt x="22000" y="11000"/>
                  </a:moveTo>
                  <a:lnTo>
                    <a:pt x="16000" y="1100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text 36"/>
            <p:cNvSpPr txBox="1"/>
            <p:nvPr/>
          </p:nvSpPr>
          <p:spPr>
            <a:xfrm>
              <a:off x="9448800" y="3835400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46%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37" name="text 37"/>
            <p:cNvSpPr txBox="1"/>
            <p:nvPr/>
          </p:nvSpPr>
          <p:spPr>
            <a:xfrm>
              <a:off x="9448800" y="4140200"/>
              <a:ext cx="228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новых покупателей в акции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38" name="text 38"/>
            <p:cNvSpPr txBox="1"/>
            <p:nvPr/>
          </p:nvSpPr>
          <p:spPr>
            <a:xfrm>
              <a:off x="8839200" y="4470400"/>
              <a:ext cx="28956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900" dirty="0">
                  <a:solidFill>
                    <a:srgbClr val="4A5470"/>
                  </a:solidFill>
                  <a:latin typeface="+mn-lt"/>
                  <a:cs typeface="+mn-lt"/>
                </a:rPr>
                <a:t>Акция привела 118 тыс. новых клиентов. 31% из них купили повторно в сентябре.</a:t>
              </a:r>
              <a:endParaRPr lang="ru-RU" sz="900" dirty="0">
                <a:solidFill>
                  <a:srgbClr val="4A5470"/>
                </a:solidFill>
                <a:latin typeface="+mn-lt"/>
                <a:cs typeface="+mn-lt"/>
              </a:endParaRPr>
            </a:p>
          </p:txBody>
        </p:sp>
      </p:grpSp>
      <p:grpSp>
        <p:nvGrpSpPr>
          <p:cNvPr id="39" name="ins2"/>
          <p:cNvGrpSpPr/>
          <p:nvPr/>
        </p:nvGrpSpPr>
        <p:grpSpPr>
          <a:xfrm>
            <a:off x="8636000" y="5181600"/>
            <a:ext cx="3251200" cy="1371600"/>
            <a:chOff x="8636000" y="5181600"/>
            <a:chExt cx="3251200" cy="1371600"/>
          </a:xfrm>
        </p:grpSpPr>
        <p:sp>
          <p:nvSpPr>
            <p:cNvPr id="40" name="shape 40"/>
            <p:cNvSpPr/>
            <p:nvPr/>
          </p:nvSpPr>
          <p:spPr>
            <a:xfrm>
              <a:off x="8636000" y="5181600"/>
              <a:ext cx="3251200" cy="13716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1B2236">
                  <a:alpha val="10000"/>
                </a:srgbClr>
              </a:outerShd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1" name="shape 41"/>
            <p:cNvSpPr/>
            <p:nvPr/>
          </p:nvSpPr>
          <p:spPr>
            <a:xfrm>
              <a:off x="8839200" y="53848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3">
                <a:alpha val="18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2" name="icon 42"/>
            <p:cNvSpPr/>
            <p:nvPr/>
          </p:nvSpPr>
          <p:spPr>
            <a:xfrm>
              <a:off x="8953500" y="5499100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8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2000" y="16000"/>
                  </a:moveTo>
                  <a:lnTo>
                    <a:pt x="12010" y="16000"/>
                  </a:lnTo>
                </a:path>
              </a:pathLst>
            </a:custGeom>
            <a:noFill/>
            <a:ln w="20955" cap="rnd">
              <a:solidFill>
                <a:schemeClr val="accent3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text 43"/>
            <p:cNvSpPr txBox="1"/>
            <p:nvPr/>
          </p:nvSpPr>
          <p:spPr>
            <a:xfrm>
              <a:off x="9448800" y="5359400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900" dirty="0">
                  <a:solidFill>
                    <a:srgbClr val="1B2236"/>
                  </a:solidFill>
                  <a:latin typeface="Segoe UI"/>
                  <a:cs typeface="Segoe UI"/>
                </a:rPr>
                <a:t>≈</a:t>
              </a:r>
              <a:r>
                <a:rPr lang="ru-RU" sz="1900" dirty="0">
                  <a:solidFill>
                    <a:srgbClr val="1B2236"/>
                  </a:solidFill>
                  <a:latin typeface="+mj-lt"/>
                  <a:cs typeface="+mj-lt"/>
                </a:rPr>
                <a:t>14 млн </a:t>
              </a:r>
              <a:r>
                <a:rPr lang="ru-RU" sz="1900" dirty="0">
                  <a:solidFill>
                    <a:srgbClr val="1B2236"/>
                  </a:solidFill>
                  <a:latin typeface="Segoe UI"/>
                  <a:cs typeface="Segoe UI"/>
                </a:rPr>
                <a:t>₽</a:t>
              </a:r>
              <a:endParaRPr lang="ru-RU" sz="1900" dirty="0">
                <a:solidFill>
                  <a:srgbClr val="1B2236"/>
                </a:solidFill>
                <a:latin typeface="+mj-lt"/>
                <a:cs typeface="+mj-lt"/>
              </a:endParaRPr>
            </a:p>
          </p:txBody>
        </p:sp>
        <p:sp>
          <p:nvSpPr>
            <p:cNvPr id="44" name="text 44"/>
            <p:cNvSpPr txBox="1"/>
            <p:nvPr/>
          </p:nvSpPr>
          <p:spPr>
            <a:xfrm>
              <a:off x="9448800" y="5664200"/>
              <a:ext cx="2286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6B7690"/>
                  </a:solidFill>
                  <a:latin typeface="+mn-lt"/>
                  <a:cs typeface="+mn-lt"/>
                </a:rPr>
                <a:t>потеряно из-за сбоя оплаты</a:t>
              </a:r>
              <a:endParaRPr lang="ru-RU" sz="900" dirty="0">
                <a:solidFill>
                  <a:srgbClr val="6B7690"/>
                </a:solidFill>
                <a:latin typeface="+mn-lt"/>
                <a:cs typeface="+mn-lt"/>
              </a:endParaRPr>
            </a:p>
          </p:txBody>
        </p:sp>
        <p:sp>
          <p:nvSpPr>
            <p:cNvPr id="45" name="text 45"/>
            <p:cNvSpPr txBox="1"/>
            <p:nvPr/>
          </p:nvSpPr>
          <p:spPr>
            <a:xfrm>
              <a:off x="8839200" y="5994400"/>
              <a:ext cx="28956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900" dirty="0">
                  <a:solidFill>
                    <a:srgbClr val="4A5470"/>
                  </a:solidFill>
                  <a:latin typeface="+mn-lt"/>
                  <a:cs typeface="+mn-lt"/>
                </a:rPr>
                <a:t>В Q4 подключаем резервный платёжный шлюз и авто-переключение.</a:t>
              </a:r>
              <a:endParaRPr lang="ru-RU" sz="900" dirty="0">
                <a:solidFill>
                  <a:srgbClr val="4A5470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46" name="text 46"/>
          <p:cNvSpPr txBox="1"/>
          <p:nvPr/>
        </p:nvSpPr>
        <p:spPr>
          <a:xfrm>
            <a:off x="304800" y="66294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750" dirty="0">
                <a:solidFill>
                  <a:srgbClr val="8A93A8"/>
                </a:solidFill>
                <a:latin typeface="+mn-lt"/>
                <a:cs typeface="+mn-lt"/>
              </a:rPr>
              <a:t>Цифры иллюстративные: демо-отчёт вымышленной компании «Корзина+».</a:t>
            </a:r>
            <a:endParaRPr lang="ru-RU" sz="750" dirty="0">
              <a:solidFill>
                <a:srgbClr val="8A93A8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11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12000" y="-2540000"/>
            <a:ext cx="7112000" cy="5588000"/>
          </a:xfrm>
          <a:prstGeom prst="ellipse">
            <a:avLst/>
          </a:prstGeom>
          <a:gradFill rotWithShape="1">
            <a:gsLst>
              <a:gs pos="0">
                <a:srgbClr val="7C5CFF">
                  <a:alpha val="35000"/>
                </a:srgbClr>
              </a:gs>
              <a:gs pos="100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62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-2286000" y="4064000"/>
            <a:ext cx="6604000" cy="5080000"/>
          </a:xfrm>
          <a:prstGeom prst="ellipse">
            <a:avLst/>
          </a:prstGeom>
          <a:gradFill rotWithShape="1">
            <a:gsLst>
              <a:gs pos="0">
                <a:srgbClr val="FF4D8D">
                  <a:alpha val="20000"/>
                </a:srgbClr>
              </a:gs>
              <a:gs pos="100000">
                <a:srgbClr val="FF4D8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62000"/>
          </a:effectLst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4" name="logo"/>
          <p:cNvGrpSpPr/>
          <p:nvPr/>
        </p:nvGrpSpPr>
        <p:grpSpPr>
          <a:xfrm>
            <a:off x="304800" y="254000"/>
            <a:ext cx="381000" cy="381000"/>
            <a:chOff x="304800" y="254000"/>
            <a:chExt cx="381000" cy="381000"/>
          </a:xfrm>
        </p:grpSpPr>
        <p:sp>
          <p:nvSpPr>
            <p:cNvPr id="5" name="shape 5"/>
            <p:cNvSpPr/>
            <p:nvPr/>
          </p:nvSpPr>
          <p:spPr>
            <a:xfrm>
              <a:off x="304800" y="254000"/>
              <a:ext cx="381000" cy="381000"/>
            </a:xfrm>
            <a:prstGeom prst="roundRect">
              <a:avLst>
                <a:gd name="adj" fmla="val 26667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6" name="icon 6"/>
            <p:cNvSpPr/>
            <p:nvPr/>
          </p:nvSpPr>
          <p:spPr>
            <a:xfrm>
              <a:off x="393700" y="3429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6000" y="10000"/>
                  </a:moveTo>
                  <a:cubicBezTo>
                    <a:pt x="16000" y="12209"/>
                    <a:pt x="14209" y="14000"/>
                    <a:pt x="12000" y="14000"/>
                  </a:cubicBezTo>
                  <a:cubicBezTo>
                    <a:pt x="9791" y="14000"/>
                    <a:pt x="8000" y="12209"/>
                    <a:pt x="8000" y="10000"/>
                  </a:cubicBezTo>
                </a:path>
                <a:path w="24000" h="24000" fill="none">
                  <a:moveTo>
                    <a:pt x="3103" y="6034"/>
                  </a:moveTo>
                  <a:lnTo>
                    <a:pt x="20897" y="6034"/>
                  </a:lnTo>
                </a:path>
                <a:path w="24000" h="24000" fill="none">
                  <a:moveTo>
                    <a:pt x="3400" y="5467"/>
                  </a:moveTo>
                  <a:cubicBezTo>
                    <a:pt x="3140" y="5813"/>
                    <a:pt x="3000" y="6234"/>
                    <a:pt x="3000" y="6667"/>
                  </a:cubicBezTo>
                  <a:lnTo>
                    <a:pt x="3000" y="20000"/>
                  </a:lnTo>
                  <a:cubicBezTo>
                    <a:pt x="3000" y="21105"/>
                    <a:pt x="3895" y="22000"/>
                    <a:pt x="5000" y="22000"/>
                  </a:cubicBezTo>
                  <a:lnTo>
                    <a:pt x="19000" y="22000"/>
                  </a:lnTo>
                  <a:cubicBezTo>
                    <a:pt x="20105" y="22000"/>
                    <a:pt x="21000" y="21105"/>
                    <a:pt x="21000" y="20000"/>
                  </a:cubicBezTo>
                  <a:lnTo>
                    <a:pt x="21000" y="6667"/>
                  </a:lnTo>
                  <a:cubicBezTo>
                    <a:pt x="21000" y="6234"/>
                    <a:pt x="20860" y="5813"/>
                    <a:pt x="20600" y="5467"/>
                  </a:cubicBezTo>
                  <a:lnTo>
                    <a:pt x="18600" y="2800"/>
                  </a:lnTo>
                  <a:cubicBezTo>
                    <a:pt x="18222" y="2296"/>
                    <a:pt x="17630" y="2000"/>
                    <a:pt x="17000" y="2000"/>
                  </a:cubicBezTo>
                  <a:lnTo>
                    <a:pt x="7000" y="2000"/>
                  </a:lnTo>
                  <a:cubicBezTo>
                    <a:pt x="6370" y="2000"/>
                    <a:pt x="5778" y="2296"/>
                    <a:pt x="5400" y="2800"/>
                  </a:cubicBezTo>
                  <a:close/>
                </a:path>
              </a:pathLst>
            </a:custGeom>
            <a:noFill/>
            <a:ln w="18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kick"/>
          <p:cNvSpPr txBox="1"/>
          <p:nvPr/>
        </p:nvSpPr>
        <p:spPr>
          <a:xfrm>
            <a:off x="812800" y="228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950" b="1" spc="150" cap="all" dirty="0">
                <a:solidFill>
                  <a:srgbClr val="A99BFF"/>
                </a:solidFill>
                <a:latin typeface="+mn-lt"/>
                <a:cs typeface="+mn-lt"/>
              </a:rPr>
              <a:t>Итоги квартала</a:t>
            </a:r>
            <a:endParaRPr lang="ru-RU" sz="950" b="1" spc="150" cap="all" dirty="0">
              <a:solidFill>
                <a:srgbClr val="A99BFF"/>
              </a:solidFill>
              <a:latin typeface="+mn-lt"/>
              <a:cs typeface="+mn-lt"/>
            </a:endParaRPr>
          </a:p>
        </p:txBody>
      </p:sp>
      <p:sp>
        <p:nvSpPr>
          <p:cNvPr id="8" name="title"/>
          <p:cNvSpPr txBox="1"/>
          <p:nvPr/>
        </p:nvSpPr>
        <p:spPr>
          <a:xfrm>
            <a:off x="812800" y="406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rgbClr val="FFFFFF"/>
                </a:solidFill>
                <a:latin typeface="+mj-lt"/>
                <a:cs typeface="+mj-lt"/>
              </a:rPr>
              <a:t>Q3 2026: рост выше рынка в три раза</a:t>
            </a:r>
            <a:endParaRPr lang="ru-RU" sz="2400" dirty="0">
              <a:solidFill>
                <a:srgbClr val="FFFFFF"/>
              </a:solidFill>
              <a:latin typeface="+mj-lt"/>
              <a:cs typeface="+mj-lt"/>
            </a:endParaRPr>
          </a:p>
        </p:txBody>
      </p:sp>
      <p:grpSp>
        <p:nvGrpSpPr>
          <p:cNvPr id="9" name="callout"/>
          <p:cNvGrpSpPr/>
          <p:nvPr/>
        </p:nvGrpSpPr>
        <p:grpSpPr>
          <a:xfrm>
            <a:off x="304800" y="1219200"/>
            <a:ext cx="3695700" cy="3606800"/>
            <a:chOff x="304800" y="1219200"/>
            <a:chExt cx="3695700" cy="3606800"/>
          </a:xfrm>
        </p:grpSpPr>
        <p:sp>
          <p:nvSpPr>
            <p:cNvPr id="10" name="shape 10"/>
            <p:cNvSpPr/>
            <p:nvPr/>
          </p:nvSpPr>
          <p:spPr>
            <a:xfrm>
              <a:off x="304800" y="1219200"/>
              <a:ext cx="3695700" cy="3606800"/>
            </a:xfrm>
            <a:prstGeom prst="roundRect">
              <a:avLst>
                <a:gd name="adj" fmla="val 4930"/>
              </a:avLst>
            </a:prstGeom>
            <a:gradFill rotWithShape="1">
              <a:gsLst>
                <a:gs pos="0">
                  <a:srgbClr val="1B2236"/>
                </a:gs>
                <a:gs pos="100000">
                  <a:srgbClr val="33275E"/>
                </a:gs>
              </a:gsLst>
              <a:lin ang="2700000" scaled="0"/>
            </a:gradFill>
            <a:ln w="9525" cap="rnd">
              <a:solidFill>
                <a:srgbClr val="FFFFFF">
                  <a:alpha val="8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1" name="shape 11"/>
            <p:cNvSpPr/>
            <p:nvPr/>
          </p:nvSpPr>
          <p:spPr>
            <a:xfrm>
              <a:off x="558800" y="1473200"/>
              <a:ext cx="482600" cy="482600"/>
            </a:xfrm>
            <a:prstGeom prst="roundRect">
              <a:avLst>
                <a:gd name="adj" fmla="val 23684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2">
                  <a:alpha val="35000"/>
                </a:schemeClr>
              </a:glow>
            </a:effectLst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12" name="icon 12"/>
            <p:cNvSpPr/>
            <p:nvPr/>
          </p:nvSpPr>
          <p:spPr>
            <a:xfrm>
              <a:off x="673100" y="15875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9000" y="7000"/>
                  </a:moveTo>
                  <a:lnTo>
                    <a:pt x="19000" y="4000"/>
                  </a:lnTo>
                  <a:cubicBezTo>
                    <a:pt x="19000" y="3448"/>
                    <a:pt x="18552" y="3000"/>
                    <a:pt x="18000" y="3000"/>
                  </a:cubicBezTo>
                  <a:lnTo>
                    <a:pt x="5000" y="3000"/>
                  </a:lnTo>
                  <a:cubicBezTo>
                    <a:pt x="3895" y="3000"/>
                    <a:pt x="3000" y="3895"/>
                    <a:pt x="3000" y="5000"/>
                  </a:cubicBezTo>
                  <a:cubicBezTo>
                    <a:pt x="3000" y="6105"/>
                    <a:pt x="3895" y="7000"/>
                    <a:pt x="5000" y="7000"/>
                  </a:cubicBezTo>
                  <a:lnTo>
                    <a:pt x="20000" y="7000"/>
                  </a:lnTo>
                  <a:cubicBezTo>
                    <a:pt x="20552" y="7000"/>
                    <a:pt x="21000" y="7448"/>
                    <a:pt x="21000" y="8000"/>
                  </a:cubicBezTo>
                  <a:lnTo>
                    <a:pt x="21000" y="12000"/>
                  </a:lnTo>
                  <a:lnTo>
                    <a:pt x="18000" y="12000"/>
                  </a:lnTo>
                  <a:cubicBezTo>
                    <a:pt x="16895" y="12000"/>
                    <a:pt x="16000" y="12895"/>
                    <a:pt x="16000" y="14000"/>
                  </a:cubicBezTo>
                  <a:cubicBezTo>
                    <a:pt x="16000" y="15105"/>
                    <a:pt x="16895" y="16000"/>
                    <a:pt x="18000" y="16000"/>
                  </a:cubicBezTo>
                  <a:lnTo>
                    <a:pt x="21000" y="16000"/>
                  </a:lnTo>
                  <a:cubicBezTo>
                    <a:pt x="21552" y="16000"/>
                    <a:pt x="22000" y="15552"/>
                    <a:pt x="22000" y="15000"/>
                  </a:cubicBezTo>
                  <a:lnTo>
                    <a:pt x="22000" y="13000"/>
                  </a:lnTo>
                  <a:cubicBezTo>
                    <a:pt x="22000" y="12448"/>
                    <a:pt x="21552" y="12000"/>
                    <a:pt x="21000" y="12000"/>
                  </a:cubicBezTo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0000" y="21000"/>
                  </a:lnTo>
                  <a:cubicBezTo>
                    <a:pt x="20552" y="21000"/>
                    <a:pt x="21000" y="20552"/>
                    <a:pt x="21000" y="20000"/>
                  </a:cubicBezTo>
                  <a:lnTo>
                    <a:pt x="21000" y="16000"/>
                  </a:lnTo>
                </a:path>
              </a:pathLst>
            </a:custGeom>
            <a:noFill/>
            <a:ln w="232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2832100" y="1574800"/>
              <a:ext cx="914400" cy="254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25000"/>
              </a:schemeClr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900" b="1" dirty="0">
                  <a:solidFill>
                    <a:srgbClr val="5EE3B5"/>
                  </a:solidFill>
                  <a:latin typeface="Segoe UI"/>
                  <a:cs typeface="Segoe UI"/>
                </a:rPr>
                <a:t>▲</a:t>
              </a:r>
              <a:r>
                <a:rPr lang="ru-RU" sz="900" b="1" dirty="0">
                  <a:solidFill>
                    <a:srgbClr val="5EE3B5"/>
                  </a:solidFill>
                  <a:latin typeface="+mn-lt"/>
                  <a:cs typeface="+mn-lt"/>
                </a:rPr>
                <a:t> +27% г/г</a:t>
              </a:r>
              <a:endParaRPr lang="ru-RU" sz="900" b="1" dirty="0">
                <a:solidFill>
                  <a:srgbClr val="5EE3B5"/>
                </a:solidFill>
                <a:latin typeface="+mn-lt"/>
                <a:cs typeface="+mn-lt"/>
              </a:endParaRP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558800" y="2844800"/>
              <a:ext cx="317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b="1" dirty="0">
                  <a:solidFill>
                    <a:srgbClr val="FFFFFF"/>
                  </a:solidFill>
                  <a:latin typeface="+mn-lt"/>
                  <a:cs typeface="+mn-lt"/>
                </a:rPr>
                <a:t>Выручка за квартал</a:t>
              </a:r>
              <a:endParaRPr lang="ru-RU" sz="11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558800" y="3073400"/>
              <a:ext cx="317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9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Рынок онлайн-ретейла вырос на 9%. Мы обогнали его в три раза.</a:t>
              </a:r>
              <a:endParaRPr lang="ru-RU" sz="9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16" name="chart 16"/>
            <p:cNvGraphicFramePr>
              <a:graphicFrameLocks noGrp="1"/>
            </p:cNvGraphicFramePr>
            <p:nvPr/>
          </p:nvGraphicFramePr>
          <p:xfrm>
            <a:off x="457200" y="3683000"/>
            <a:ext cx="3390900" cy="1016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sp>
        <p:nvSpPr>
          <p:cNvPr id="17" name="n1"/>
          <p:cNvSpPr txBox="1"/>
          <p:nvPr/>
        </p:nvSpPr>
        <p:spPr>
          <a:xfrm>
            <a:off x="558800" y="2159000"/>
            <a:ext cx="330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200" dirty="0">
                <a:gradFill rotWithShape="1">
                  <a:gsLst>
                    <a:gs pos="0">
                      <a:srgbClr val="FFFFFF"/>
                    </a:gs>
                    <a:gs pos="100000">
                      <a:srgbClr val="FFB3CF"/>
                    </a:gs>
                  </a:gsLst>
                  <a:lin ang="0" scaled="0"/>
                </a:gradFill>
                <a:latin typeface="+mj-lt"/>
                <a:cs typeface="+mj-lt"/>
              </a:rPr>
              <a:t>4,82</a:t>
            </a:r>
            <a:r>
              <a:rPr lang="ru-RU" sz="2000" dirty="0">
                <a:gradFill rotWithShape="1">
                  <a:gsLst>
                    <a:gs pos="0">
                      <a:srgbClr val="FFFFFF"/>
                    </a:gs>
                    <a:gs pos="100000">
                      <a:srgbClr val="FFB3CF"/>
                    </a:gs>
                  </a:gsLst>
                  <a:lin ang="0" scaled="0"/>
                </a:gradFill>
                <a:latin typeface="+mj-lt"/>
                <a:cs typeface="+mj-lt"/>
              </a:rPr>
              <a:t> млрд </a:t>
            </a:r>
            <a:r>
              <a:rPr lang="ru-RU" sz="2000" dirty="0">
                <a:gradFill rotWithShape="1">
                  <a:gsLst>
                    <a:gs pos="0">
                      <a:srgbClr val="FFFFFF"/>
                    </a:gs>
                    <a:gs pos="100000">
                      <a:srgbClr val="FFB3CF"/>
                    </a:gs>
                  </a:gsLst>
                  <a:lin ang="0" scaled="0"/>
                </a:gradFill>
                <a:latin typeface="Segoe UI"/>
                <a:cs typeface="Segoe UI"/>
              </a:rPr>
              <a:t>₽</a:t>
            </a:r>
            <a:endParaRPr lang="ru-RU" sz="4200" dirty="0">
              <a:gradFill rotWithShape="1">
                <a:gsLst>
                  <a:gs pos="0">
                    <a:srgbClr val="FFFFFF"/>
                  </a:gs>
                  <a:gs pos="100000">
                    <a:srgbClr val="FFB3CF"/>
                  </a:gs>
                </a:gsLst>
                <a:lin ang="0" scaled="0"/>
              </a:gradFill>
              <a:latin typeface="+mj-lt"/>
              <a:cs typeface="+mj-lt"/>
            </a:endParaRPr>
          </a:p>
        </p:txBody>
      </p:sp>
      <p:grpSp>
        <p:nvGrpSpPr>
          <p:cNvPr id="18" name="h2"/>
          <p:cNvGrpSpPr/>
          <p:nvPr/>
        </p:nvGrpSpPr>
        <p:grpSpPr>
          <a:xfrm>
            <a:off x="4241800" y="1219200"/>
            <a:ext cx="3695700" cy="3606800"/>
            <a:chOff x="4241800" y="1219200"/>
            <a:chExt cx="3695700" cy="3606800"/>
          </a:xfrm>
        </p:grpSpPr>
        <p:sp>
          <p:nvSpPr>
            <p:cNvPr id="19" name="shape 19"/>
            <p:cNvSpPr/>
            <p:nvPr/>
          </p:nvSpPr>
          <p:spPr>
            <a:xfrm>
              <a:off x="4241800" y="1219200"/>
              <a:ext cx="3695700" cy="3606800"/>
            </a:xfrm>
            <a:prstGeom prst="roundRect">
              <a:avLst>
                <a:gd name="adj" fmla="val 493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8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0" name="shape 20"/>
            <p:cNvSpPr/>
            <p:nvPr/>
          </p:nvSpPr>
          <p:spPr>
            <a:xfrm>
              <a:off x="4495800" y="1473200"/>
              <a:ext cx="482600" cy="482600"/>
            </a:xfrm>
            <a:prstGeom prst="roundRect">
              <a:avLst>
                <a:gd name="adj" fmla="val 23684"/>
              </a:avLst>
            </a:prstGeom>
            <a:gradFill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1" name="icon 21"/>
            <p:cNvSpPr/>
            <p:nvPr/>
          </p:nvSpPr>
          <p:spPr>
            <a:xfrm>
              <a:off x="4610100" y="15875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7000" y="2000"/>
                  </a:moveTo>
                  <a:lnTo>
                    <a:pt x="21000" y="6000"/>
                  </a:lnTo>
                  <a:lnTo>
                    <a:pt x="17000" y="10000"/>
                  </a:lnTo>
                </a:path>
                <a:path w="24000" h="24000" fill="none">
                  <a:moveTo>
                    <a:pt x="3000" y="11000"/>
                  </a:moveTo>
                  <a:lnTo>
                    <a:pt x="3000" y="10000"/>
                  </a:lnTo>
                  <a:cubicBezTo>
                    <a:pt x="3000" y="7791"/>
                    <a:pt x="4791" y="6000"/>
                    <a:pt x="7000" y="6000"/>
                  </a:cubicBezTo>
                  <a:lnTo>
                    <a:pt x="21000" y="6000"/>
                  </a:lnTo>
                </a:path>
                <a:path w="24000" h="24000" fill="none">
                  <a:moveTo>
                    <a:pt x="7000" y="22000"/>
                  </a:moveTo>
                  <a:lnTo>
                    <a:pt x="3000" y="18000"/>
                  </a:lnTo>
                  <a:lnTo>
                    <a:pt x="7000" y="14000"/>
                  </a:lnTo>
                </a:path>
                <a:path w="24000" h="24000" fill="none">
                  <a:moveTo>
                    <a:pt x="21000" y="13000"/>
                  </a:moveTo>
                  <a:lnTo>
                    <a:pt x="21000" y="14000"/>
                  </a:lnTo>
                  <a:cubicBezTo>
                    <a:pt x="21000" y="16209"/>
                    <a:pt x="19209" y="18000"/>
                    <a:pt x="17000" y="18000"/>
                  </a:cubicBezTo>
                  <a:lnTo>
                    <a:pt x="3000" y="18000"/>
                  </a:lnTo>
                </a:path>
              </a:pathLst>
            </a:custGeom>
            <a:noFill/>
            <a:ln w="232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shape 22"/>
            <p:cNvSpPr/>
            <p:nvPr/>
          </p:nvSpPr>
          <p:spPr>
            <a:xfrm>
              <a:off x="6769100" y="1574800"/>
              <a:ext cx="914400" cy="254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25000"/>
              </a:schemeClr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900" b="1" dirty="0">
                  <a:solidFill>
                    <a:srgbClr val="5EE3B5"/>
                  </a:solidFill>
                  <a:latin typeface="Segoe UI"/>
                  <a:cs typeface="Segoe UI"/>
                </a:rPr>
                <a:t>▲</a:t>
              </a:r>
              <a:r>
                <a:rPr lang="ru-RU" sz="900" b="1" dirty="0">
                  <a:solidFill>
                    <a:srgbClr val="5EE3B5"/>
                  </a:solidFill>
                  <a:latin typeface="+mn-lt"/>
                  <a:cs typeface="+mn-lt"/>
                </a:rPr>
                <a:t> +5 п.п.</a:t>
              </a:r>
              <a:endParaRPr lang="ru-RU" sz="900" b="1" dirty="0">
                <a:solidFill>
                  <a:srgbClr val="5EE3B5"/>
                </a:solidFill>
                <a:latin typeface="+mn-lt"/>
                <a:cs typeface="+mn-lt"/>
              </a:endParaRPr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4495800" y="2844800"/>
              <a:ext cx="317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b="1" dirty="0">
                  <a:solidFill>
                    <a:srgbClr val="FFFFFF"/>
                  </a:solidFill>
                  <a:latin typeface="+mn-lt"/>
                  <a:cs typeface="+mn-lt"/>
                </a:rPr>
                <a:t>Повторные заказы</a:t>
              </a:r>
              <a:endParaRPr lang="ru-RU" sz="11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4495800" y="3073400"/>
              <a:ext cx="317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9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Программа лояльности «Корзина+ Плюс» привлекла</a:t>
              </a:r>
              <a:br>
                <a:rPr lang="ru-RU" sz="9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</a:br>
              <a:r>
                <a:rPr lang="ru-RU" sz="9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410 тыс. новых участников.</a:t>
              </a:r>
              <a:endParaRPr lang="ru-RU" sz="9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  <p:graphicFrame>
          <p:nvGraphicFramePr>
            <p:cNvPr id="25" name="h2chart"/>
            <p:cNvGraphicFramePr>
              <a:graphicFrameLocks noGrp="1"/>
            </p:cNvGraphicFramePr>
            <p:nvPr/>
          </p:nvGraphicFramePr>
          <p:xfrm>
            <a:off x="4394200" y="3581400"/>
            <a:ext cx="3390900" cy="111760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</p:grpSp>
      <p:sp>
        <p:nvSpPr>
          <p:cNvPr id="26" name="n2"/>
          <p:cNvSpPr txBox="1"/>
          <p:nvPr/>
        </p:nvSpPr>
        <p:spPr>
          <a:xfrm>
            <a:off x="4495800" y="2159000"/>
            <a:ext cx="330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200" dirty="0">
                <a:gradFill rotWithShape="1">
                  <a:gsLst>
                    <a:gs pos="0">
                      <a:srgbClr val="FFFFFF"/>
                    </a:gs>
                    <a:gs pos="100000">
                      <a:srgbClr val="9CD8FF"/>
                    </a:gs>
                  </a:gsLst>
                  <a:lin ang="0" scaled="0"/>
                </a:gradFill>
                <a:latin typeface="+mj-lt"/>
                <a:cs typeface="+mj-lt"/>
              </a:rPr>
              <a:t>62%</a:t>
            </a:r>
            <a:endParaRPr lang="ru-RU" sz="4200" dirty="0">
              <a:gradFill rotWithShape="1">
                <a:gsLst>
                  <a:gs pos="0">
                    <a:srgbClr val="FFFFFF"/>
                  </a:gs>
                  <a:gs pos="100000">
                    <a:srgbClr val="9CD8FF"/>
                  </a:gs>
                </a:gsLst>
                <a:lin ang="0" scaled="0"/>
              </a:gradFill>
              <a:latin typeface="+mj-lt"/>
              <a:cs typeface="+mj-lt"/>
            </a:endParaRPr>
          </a:p>
        </p:txBody>
      </p:sp>
      <p:grpSp>
        <p:nvGrpSpPr>
          <p:cNvPr id="27" name="h3"/>
          <p:cNvGrpSpPr/>
          <p:nvPr/>
        </p:nvGrpSpPr>
        <p:grpSpPr>
          <a:xfrm>
            <a:off x="8178800" y="1219200"/>
            <a:ext cx="3708400" cy="3606800"/>
            <a:chOff x="8178800" y="1219200"/>
            <a:chExt cx="3708400" cy="3606800"/>
          </a:xfrm>
        </p:grpSpPr>
        <p:sp>
          <p:nvSpPr>
            <p:cNvPr id="28" name="shape 28"/>
            <p:cNvSpPr/>
            <p:nvPr/>
          </p:nvSpPr>
          <p:spPr>
            <a:xfrm>
              <a:off x="8178800" y="1219200"/>
              <a:ext cx="3708400" cy="3606800"/>
            </a:xfrm>
            <a:prstGeom prst="roundRect">
              <a:avLst>
                <a:gd name="adj" fmla="val 4930"/>
              </a:avLst>
            </a:prstGeom>
            <a:solidFill>
              <a:srgbClr val="1F2739"/>
            </a:solidFill>
            <a:ln w="9525" cap="rnd">
              <a:solidFill>
                <a:srgbClr val="FFFFFF">
                  <a:alpha val="8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29" name="shape 29"/>
            <p:cNvSpPr/>
            <p:nvPr/>
          </p:nvSpPr>
          <p:spPr>
            <a:xfrm>
              <a:off x="8432800" y="1473200"/>
              <a:ext cx="482600" cy="482600"/>
            </a:xfrm>
            <a:prstGeom prst="roundRect">
              <a:avLst>
                <a:gd name="adj" fmla="val 23684"/>
              </a:avLst>
            </a:prstGeom>
            <a:gradFill rotWithShape="1"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0" name="icon 30"/>
            <p:cNvSpPr/>
            <p:nvPr/>
          </p:nvSpPr>
          <p:spPr>
            <a:xfrm>
              <a:off x="8547100" y="1587500"/>
              <a:ext cx="254000" cy="2540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4000" y="18000"/>
                  </a:moveTo>
                  <a:lnTo>
                    <a:pt x="14000" y="6000"/>
                  </a:lnTo>
                  <a:cubicBezTo>
                    <a:pt x="14000" y="4895"/>
                    <a:pt x="13105" y="4000"/>
                    <a:pt x="12000" y="4000"/>
                  </a:cubicBezTo>
                  <a:lnTo>
                    <a:pt x="4000" y="4000"/>
                  </a:lnTo>
                  <a:cubicBezTo>
                    <a:pt x="2895" y="4000"/>
                    <a:pt x="2000" y="4895"/>
                    <a:pt x="2000" y="6000"/>
                  </a:cubicBezTo>
                  <a:lnTo>
                    <a:pt x="2000" y="17000"/>
                  </a:lnTo>
                  <a:cubicBezTo>
                    <a:pt x="2000" y="17552"/>
                    <a:pt x="2448" y="18000"/>
                    <a:pt x="3000" y="18000"/>
                  </a:cubicBezTo>
                  <a:lnTo>
                    <a:pt x="5000" y="18000"/>
                  </a:lnTo>
                </a:path>
                <a:path w="24000" h="24000" fill="none">
                  <a:moveTo>
                    <a:pt x="15000" y="18000"/>
                  </a:moveTo>
                  <a:lnTo>
                    <a:pt x="9000" y="18000"/>
                  </a:lnTo>
                </a:path>
                <a:path w="24000" h="24000" fill="none">
                  <a:moveTo>
                    <a:pt x="19000" y="18000"/>
                  </a:moveTo>
                  <a:lnTo>
                    <a:pt x="21000" y="18000"/>
                  </a:lnTo>
                  <a:cubicBezTo>
                    <a:pt x="21552" y="18000"/>
                    <a:pt x="22000" y="17552"/>
                    <a:pt x="22000" y="17000"/>
                  </a:cubicBezTo>
                  <a:lnTo>
                    <a:pt x="22000" y="13350"/>
                  </a:lnTo>
                  <a:cubicBezTo>
                    <a:pt x="22000" y="13123"/>
                    <a:pt x="21922" y="12903"/>
                    <a:pt x="21780" y="12726"/>
                  </a:cubicBezTo>
                  <a:lnTo>
                    <a:pt x="18300" y="8376"/>
                  </a:lnTo>
                  <a:cubicBezTo>
                    <a:pt x="18111" y="8139"/>
                    <a:pt x="17824" y="8000"/>
                    <a:pt x="17520" y="8000"/>
                  </a:cubicBezTo>
                  <a:lnTo>
                    <a:pt x="14000" y="8000"/>
                  </a:lnTo>
                </a:path>
                <a:path w="24000" h="24000" fill="none">
                  <a:moveTo>
                    <a:pt x="19000" y="18000"/>
                  </a:moveTo>
                  <a:cubicBezTo>
                    <a:pt x="19000" y="19105"/>
                    <a:pt x="18105" y="20000"/>
                    <a:pt x="17000" y="20000"/>
                  </a:cubicBezTo>
                  <a:cubicBezTo>
                    <a:pt x="15895" y="20000"/>
                    <a:pt x="15000" y="19105"/>
                    <a:pt x="15000" y="18000"/>
                  </a:cubicBezTo>
                  <a:cubicBezTo>
                    <a:pt x="15000" y="16895"/>
                    <a:pt x="15895" y="16000"/>
                    <a:pt x="17000" y="16000"/>
                  </a:cubicBezTo>
                  <a:cubicBezTo>
                    <a:pt x="18105" y="16000"/>
                    <a:pt x="19000" y="16895"/>
                    <a:pt x="19000" y="18000"/>
                  </a:cubicBezTo>
                  <a:close/>
                </a:path>
                <a:path w="24000" h="24000" fill="none">
                  <a:moveTo>
                    <a:pt x="9000" y="18000"/>
                  </a:moveTo>
                  <a:cubicBezTo>
                    <a:pt x="9000" y="19105"/>
                    <a:pt x="8105" y="20000"/>
                    <a:pt x="7000" y="20000"/>
                  </a:cubicBezTo>
                  <a:cubicBezTo>
                    <a:pt x="5895" y="20000"/>
                    <a:pt x="5000" y="19105"/>
                    <a:pt x="5000" y="18000"/>
                  </a:cubicBezTo>
                  <a:cubicBezTo>
                    <a:pt x="5000" y="16895"/>
                    <a:pt x="5895" y="16000"/>
                    <a:pt x="7000" y="16000"/>
                  </a:cubicBezTo>
                  <a:cubicBezTo>
                    <a:pt x="8105" y="16000"/>
                    <a:pt x="9000" y="16895"/>
                    <a:pt x="9000" y="18000"/>
                  </a:cubicBezTo>
                  <a:close/>
                </a:path>
              </a:pathLst>
            </a:custGeom>
            <a:noFill/>
            <a:ln w="232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shape 31"/>
            <p:cNvSpPr/>
            <p:nvPr/>
          </p:nvSpPr>
          <p:spPr>
            <a:xfrm>
              <a:off x="10718800" y="1574800"/>
              <a:ext cx="914400" cy="254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25000"/>
              </a:schemeClr>
            </a:solidFill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buNone/>
              </a:pPr>
              <a:r>
                <a:rPr lang="ru-RU" sz="900" b="1" dirty="0">
                  <a:solidFill>
                    <a:srgbClr val="5EE3B5"/>
                  </a:solidFill>
                  <a:latin typeface="Segoe UI"/>
                  <a:cs typeface="Segoe UI"/>
                </a:rPr>
                <a:t>▼</a:t>
              </a:r>
              <a:r>
                <a:rPr lang="ru-RU" sz="900" b="1" dirty="0">
                  <a:solidFill>
                    <a:srgbClr val="5EE3B5"/>
                  </a:solidFill>
                  <a:latin typeface="+mn-lt"/>
                  <a:cs typeface="+mn-lt"/>
                </a:rPr>
                <a:t> −0,4 дня</a:t>
              </a:r>
              <a:endParaRPr lang="ru-RU" sz="900" b="1" dirty="0">
                <a:solidFill>
                  <a:srgbClr val="5EE3B5"/>
                </a:solidFill>
                <a:latin typeface="+mn-lt"/>
                <a:cs typeface="+mn-lt"/>
              </a:endParaRPr>
            </a:p>
          </p:txBody>
        </p:sp>
        <p:sp>
          <p:nvSpPr>
            <p:cNvPr id="32" name="text 32"/>
            <p:cNvSpPr txBox="1"/>
            <p:nvPr/>
          </p:nvSpPr>
          <p:spPr>
            <a:xfrm>
              <a:off x="8432800" y="2844800"/>
              <a:ext cx="3175000" cy="203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1100" b="1" dirty="0">
                  <a:solidFill>
                    <a:srgbClr val="FFFFFF"/>
                  </a:solidFill>
                  <a:latin typeface="+mn-lt"/>
                  <a:cs typeface="+mn-lt"/>
                </a:rPr>
                <a:t>Средний срок доставки</a:t>
              </a:r>
              <a:endParaRPr lang="ru-RU" sz="11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3" name="text 33"/>
            <p:cNvSpPr txBox="1"/>
            <p:nvPr/>
          </p:nvSpPr>
          <p:spPr>
            <a:xfrm>
              <a:off x="8432800" y="3073400"/>
              <a:ext cx="317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0000"/>
                </a:lnSpc>
                <a:buNone/>
              </a:pPr>
              <a:r>
                <a:rPr lang="ru-RU" sz="95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Новый склад в Казани закрыл Поволжье доставкой на следующий день.</a:t>
              </a:r>
              <a:endParaRPr lang="ru-RU" sz="95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34" name="text 34"/>
            <p:cNvSpPr txBox="1"/>
            <p:nvPr/>
          </p:nvSpPr>
          <p:spPr>
            <a:xfrm>
              <a:off x="8432800" y="4013200"/>
              <a:ext cx="2540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00" dirty="0">
                  <a:solidFill>
                    <a:srgbClr val="FFFFFF">
                      <a:alpha val="65000"/>
                    </a:srgbClr>
                  </a:solidFill>
                  <a:latin typeface="+mn-lt"/>
                  <a:cs typeface="+mn-lt"/>
                </a:rPr>
                <a:t>Доставка на следующий день</a:t>
              </a:r>
              <a:endParaRPr lang="ru-RU" sz="900" dirty="0">
                <a:solidFill>
                  <a:srgbClr val="FFFFFF">
                    <a:alpha val="6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35" name="text 35"/>
            <p:cNvSpPr txBox="1"/>
            <p:nvPr/>
          </p:nvSpPr>
          <p:spPr>
            <a:xfrm>
              <a:off x="10871200" y="40132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buNone/>
              </a:pPr>
              <a:r>
                <a:rPr lang="ru-RU" sz="900" b="1" dirty="0">
                  <a:solidFill>
                    <a:srgbClr val="FFFFFF"/>
                  </a:solidFill>
                  <a:latin typeface="+mn-lt"/>
                  <a:cs typeface="+mn-lt"/>
                </a:rPr>
                <a:t>72%</a:t>
              </a:r>
              <a:endParaRPr lang="ru-RU" sz="900" b="1" dirty="0">
                <a:solidFill>
                  <a:srgbClr val="FFFFFF"/>
                </a:solidFill>
                <a:latin typeface="+mn-lt"/>
                <a:cs typeface="+mn-lt"/>
              </a:endParaRPr>
            </a:p>
          </p:txBody>
        </p:sp>
        <p:sp>
          <p:nvSpPr>
            <p:cNvPr id="36" name="shape 36"/>
            <p:cNvSpPr/>
            <p:nvPr/>
          </p:nvSpPr>
          <p:spPr>
            <a:xfrm>
              <a:off x="8432800" y="4267200"/>
              <a:ext cx="3200400" cy="127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7" name="shape 37"/>
            <p:cNvSpPr/>
            <p:nvPr/>
          </p:nvSpPr>
          <p:spPr>
            <a:xfrm>
              <a:off x="10993120" y="4216400"/>
              <a:ext cx="19050" cy="228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38" name="text 38"/>
            <p:cNvSpPr txBox="1"/>
            <p:nvPr/>
          </p:nvSpPr>
          <p:spPr>
            <a:xfrm>
              <a:off x="8432800" y="4495800"/>
              <a:ext cx="32004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850" dirty="0">
                  <a:solidFill>
                    <a:srgbClr val="FFFFFF">
                      <a:alpha val="45000"/>
                    </a:srgbClr>
                  </a:solidFill>
                  <a:latin typeface="+mn-lt"/>
                  <a:cs typeface="+mn-lt"/>
                </a:rPr>
                <a:t>Цель на Q4 — 80%</a:t>
              </a:r>
              <a:endParaRPr lang="ru-RU" sz="850" dirty="0">
                <a:solidFill>
                  <a:srgbClr val="FFFFFF">
                    <a:alpha val="45000"/>
                  </a:srgbClr>
                </a:solidFill>
                <a:latin typeface="+mn-lt"/>
                <a:cs typeface="+mn-lt"/>
              </a:endParaRPr>
            </a:p>
          </p:txBody>
        </p:sp>
      </p:grpSp>
      <p:sp>
        <p:nvSpPr>
          <p:cNvPr id="39" name="n3"/>
          <p:cNvSpPr txBox="1"/>
          <p:nvPr/>
        </p:nvSpPr>
        <p:spPr>
          <a:xfrm>
            <a:off x="8432800" y="2159000"/>
            <a:ext cx="330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4200" dirty="0">
                <a:gradFill rotWithShape="1">
                  <a:gsLst>
                    <a:gs pos="0">
                      <a:srgbClr val="FFFFFF"/>
                    </a:gs>
                    <a:gs pos="100000">
                      <a:srgbClr val="9BF0D2"/>
                    </a:gs>
                  </a:gsLst>
                  <a:lin ang="0" scaled="0"/>
                </a:gradFill>
                <a:latin typeface="+mj-lt"/>
                <a:cs typeface="+mj-lt"/>
              </a:rPr>
              <a:t>1,6</a:t>
            </a:r>
            <a:r>
              <a:rPr lang="ru-RU" sz="2000" dirty="0">
                <a:gradFill rotWithShape="1">
                  <a:gsLst>
                    <a:gs pos="0">
                      <a:srgbClr val="FFFFFF"/>
                    </a:gs>
                    <a:gs pos="100000">
                      <a:srgbClr val="9BF0D2"/>
                    </a:gs>
                  </a:gsLst>
                  <a:lin ang="0" scaled="0"/>
                </a:gradFill>
                <a:latin typeface="+mj-lt"/>
                <a:cs typeface="+mj-lt"/>
              </a:rPr>
              <a:t> дня</a:t>
            </a:r>
            <a:endParaRPr lang="ru-RU" sz="4200" dirty="0">
              <a:gradFill rotWithShape="1">
                <a:gsLst>
                  <a:gs pos="0">
                    <a:srgbClr val="FFFFFF"/>
                  </a:gs>
                  <a:gs pos="100000">
                    <a:srgbClr val="9BF0D2"/>
                  </a:gs>
                </a:gsLst>
                <a:lin ang="0" scaled="0"/>
              </a:gradFill>
              <a:latin typeface="+mj-lt"/>
              <a:cs typeface="+mj-lt"/>
            </a:endParaRPr>
          </a:p>
        </p:txBody>
      </p:sp>
      <p:sp>
        <p:nvSpPr>
          <p:cNvPr id="40" name="p3"/>
          <p:cNvSpPr/>
          <p:nvPr/>
        </p:nvSpPr>
        <p:spPr>
          <a:xfrm>
            <a:off x="8432800" y="4267200"/>
            <a:ext cx="2298700" cy="127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6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ru-RU" dirty="0"/>
          </a:p>
        </p:txBody>
      </p:sp>
      <p:grpSp>
        <p:nvGrpSpPr>
          <p:cNvPr id="41" name="next"/>
          <p:cNvGrpSpPr/>
          <p:nvPr/>
        </p:nvGrpSpPr>
        <p:grpSpPr>
          <a:xfrm>
            <a:off x="304800" y="5029200"/>
            <a:ext cx="11582400" cy="1270000"/>
            <a:chOff x="304800" y="5029200"/>
            <a:chExt cx="11582400" cy="1270000"/>
          </a:xfrm>
        </p:grpSpPr>
        <p:sp>
          <p:nvSpPr>
            <p:cNvPr id="42" name="shape 42"/>
            <p:cNvSpPr/>
            <p:nvPr/>
          </p:nvSpPr>
          <p:spPr>
            <a:xfrm>
              <a:off x="304800" y="5029200"/>
              <a:ext cx="11582400" cy="1270000"/>
            </a:xfrm>
            <a:prstGeom prst="roundRect">
              <a:avLst>
                <a:gd name="adj" fmla="val 14000"/>
              </a:avLst>
            </a:prstGeom>
            <a:gradFill rotWithShape="1">
              <a:gsLst>
                <a:gs pos="0">
                  <a:srgbClr val="1F2739"/>
                </a:gs>
                <a:gs pos="100000">
                  <a:srgbClr val="241F45"/>
                </a:gs>
              </a:gsLst>
              <a:lin ang="0" scaled="0"/>
            </a:gradFill>
            <a:ln w="9525" cap="rnd">
              <a:solidFill>
                <a:srgbClr val="FFFFFF">
                  <a:alpha val="8000"/>
                </a:srgbClr>
              </a:solidFill>
              <a:round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3" name="shape 43"/>
            <p:cNvSpPr/>
            <p:nvPr/>
          </p:nvSpPr>
          <p:spPr>
            <a:xfrm>
              <a:off x="304800" y="5207000"/>
              <a:ext cx="38100" cy="9144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4" name="text 44"/>
            <p:cNvSpPr txBox="1"/>
            <p:nvPr/>
          </p:nvSpPr>
          <p:spPr>
            <a:xfrm>
              <a:off x="558800" y="5257800"/>
              <a:ext cx="2540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buNone/>
              </a:pPr>
              <a:r>
                <a:rPr lang="ru-RU" sz="950" b="1" spc="120" cap="all" dirty="0">
                  <a:solidFill>
                    <a:srgbClr val="A99BFF"/>
                  </a:solidFill>
                  <a:latin typeface="+mn-lt"/>
                  <a:cs typeface="+mn-lt"/>
                </a:rPr>
                <a:t>Фокус на Q4 2026</a:t>
              </a:r>
              <a:endParaRPr lang="ru-RU" sz="950" b="1" spc="120" cap="all" dirty="0">
                <a:solidFill>
                  <a:srgbClr val="A99BFF"/>
                </a:solidFill>
                <a:latin typeface="+mn-lt"/>
                <a:cs typeface="+mn-lt"/>
              </a:endParaRPr>
            </a:p>
          </p:txBody>
        </p:sp>
        <p:sp>
          <p:nvSpPr>
            <p:cNvPr id="45" name="shape 45"/>
            <p:cNvSpPr/>
            <p:nvPr/>
          </p:nvSpPr>
          <p:spPr>
            <a:xfrm>
              <a:off x="558800" y="5638800"/>
              <a:ext cx="381000" cy="381000"/>
            </a:xfrm>
            <a:prstGeom prst="roundRect">
              <a:avLst>
                <a:gd name="adj" fmla="val 26667"/>
              </a:avLst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6" name="icon 46"/>
            <p:cNvSpPr/>
            <p:nvPr/>
          </p:nvSpPr>
          <p:spPr>
            <a:xfrm>
              <a:off x="647700" y="57277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6933" cap="rnd">
              <a:solidFill>
                <a:srgbClr val="B9A8FF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text 47"/>
            <p:cNvSpPr txBox="1"/>
            <p:nvPr/>
          </p:nvSpPr>
          <p:spPr>
            <a:xfrm>
              <a:off x="1066800" y="5613400"/>
              <a:ext cx="3048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000" b="1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Резервный платёжный шлюз.</a:t>
              </a:r>
              <a:r>
                <a:rPr lang="ru-RU" sz="10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 Защитить выручку пиков «Чёрной пятницы».</a:t>
              </a:r>
              <a:endParaRPr lang="ru-RU" sz="10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48" name="shape 48"/>
            <p:cNvSpPr/>
            <p:nvPr/>
          </p:nvSpPr>
          <p:spPr>
            <a:xfrm>
              <a:off x="4318000" y="5638800"/>
              <a:ext cx="381000" cy="381000"/>
            </a:xfrm>
            <a:prstGeom prst="roundRect">
              <a:avLst>
                <a:gd name="adj" fmla="val 26667"/>
              </a:avLst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49" name="icon 49"/>
            <p:cNvSpPr/>
            <p:nvPr/>
          </p:nvSpPr>
          <p:spPr>
            <a:xfrm>
              <a:off x="4406900" y="57277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1017" y="2814"/>
                  </a:moveTo>
                  <a:cubicBezTo>
                    <a:pt x="11105" y="2341"/>
                    <a:pt x="11519" y="1998"/>
                    <a:pt x="12000" y="1998"/>
                  </a:cubicBezTo>
                  <a:cubicBezTo>
                    <a:pt x="12481" y="1998"/>
                    <a:pt x="12895" y="2341"/>
                    <a:pt x="12983" y="2814"/>
                  </a:cubicBezTo>
                  <a:lnTo>
                    <a:pt x="14034" y="8372"/>
                  </a:lnTo>
                  <a:cubicBezTo>
                    <a:pt x="14187" y="9181"/>
                    <a:pt x="14819" y="9813"/>
                    <a:pt x="15628" y="9966"/>
                  </a:cubicBezTo>
                  <a:lnTo>
                    <a:pt x="21186" y="11017"/>
                  </a:lnTo>
                  <a:cubicBezTo>
                    <a:pt x="21659" y="11105"/>
                    <a:pt x="22002" y="11519"/>
                    <a:pt x="22002" y="12000"/>
                  </a:cubicBezTo>
                  <a:cubicBezTo>
                    <a:pt x="22002" y="12481"/>
                    <a:pt x="21659" y="12895"/>
                    <a:pt x="21186" y="12983"/>
                  </a:cubicBezTo>
                  <a:lnTo>
                    <a:pt x="15628" y="14034"/>
                  </a:lnTo>
                  <a:cubicBezTo>
                    <a:pt x="14819" y="14187"/>
                    <a:pt x="14187" y="14819"/>
                    <a:pt x="14034" y="15628"/>
                  </a:cubicBezTo>
                  <a:lnTo>
                    <a:pt x="12983" y="21186"/>
                  </a:lnTo>
                  <a:cubicBezTo>
                    <a:pt x="12895" y="21659"/>
                    <a:pt x="12481" y="22002"/>
                    <a:pt x="12000" y="22002"/>
                  </a:cubicBezTo>
                  <a:cubicBezTo>
                    <a:pt x="11519" y="22002"/>
                    <a:pt x="11105" y="21659"/>
                    <a:pt x="11017" y="21186"/>
                  </a:cubicBezTo>
                  <a:lnTo>
                    <a:pt x="9966" y="15628"/>
                  </a:lnTo>
                  <a:cubicBezTo>
                    <a:pt x="9813" y="14819"/>
                    <a:pt x="9181" y="14187"/>
                    <a:pt x="8372" y="14034"/>
                  </a:cubicBezTo>
                  <a:lnTo>
                    <a:pt x="2814" y="12983"/>
                  </a:lnTo>
                  <a:cubicBezTo>
                    <a:pt x="2341" y="12895"/>
                    <a:pt x="1998" y="12481"/>
                    <a:pt x="1998" y="12000"/>
                  </a:cubicBezTo>
                  <a:cubicBezTo>
                    <a:pt x="1998" y="11519"/>
                    <a:pt x="2341" y="11105"/>
                    <a:pt x="2814" y="11017"/>
                  </a:cubicBezTo>
                  <a:lnTo>
                    <a:pt x="8372" y="9966"/>
                  </a:lnTo>
                  <a:cubicBezTo>
                    <a:pt x="9181" y="9813"/>
                    <a:pt x="9813" y="9181"/>
                    <a:pt x="9966" y="8372"/>
                  </a:cubicBezTo>
                  <a:close/>
                </a:path>
                <a:path w="24000" h="24000" fill="none">
                  <a:moveTo>
                    <a:pt x="20000" y="2000"/>
                  </a:moveTo>
                  <a:lnTo>
                    <a:pt x="20000" y="6000"/>
                  </a:lnTo>
                </a:path>
                <a:path w="24000" h="24000" fill="none">
                  <a:moveTo>
                    <a:pt x="22000" y="4000"/>
                  </a:moveTo>
                  <a:lnTo>
                    <a:pt x="18000" y="4000"/>
                  </a:lnTo>
                </a:path>
                <a:path w="24000" h="24000" fill="none">
                  <a:moveTo>
                    <a:pt x="6000" y="20000"/>
                  </a:moveTo>
                  <a:cubicBezTo>
                    <a:pt x="6000" y="21105"/>
                    <a:pt x="5105" y="22000"/>
                    <a:pt x="4000" y="22000"/>
                  </a:cubicBezTo>
                  <a:cubicBezTo>
                    <a:pt x="2895" y="22000"/>
                    <a:pt x="2000" y="21105"/>
                    <a:pt x="2000" y="20000"/>
                  </a:cubicBezTo>
                  <a:cubicBezTo>
                    <a:pt x="2000" y="18895"/>
                    <a:pt x="2895" y="18000"/>
                    <a:pt x="4000" y="18000"/>
                  </a:cubicBezTo>
                  <a:cubicBezTo>
                    <a:pt x="5105" y="18000"/>
                    <a:pt x="6000" y="18895"/>
                    <a:pt x="6000" y="20000"/>
                  </a:cubicBezTo>
                  <a:close/>
                </a:path>
              </a:pathLst>
            </a:custGeom>
            <a:noFill/>
            <a:ln w="16933" cap="rnd">
              <a:solidFill>
                <a:srgbClr val="FF9CC0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text 50"/>
            <p:cNvSpPr txBox="1"/>
            <p:nvPr/>
          </p:nvSpPr>
          <p:spPr>
            <a:xfrm>
              <a:off x="4826000" y="5613400"/>
              <a:ext cx="3048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000" b="1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Персональные подборки.</a:t>
              </a:r>
              <a:r>
                <a:rPr lang="ru-RU" sz="10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 Поднять конверсию с 3,4% до 3,8%.</a:t>
              </a:r>
              <a:endParaRPr lang="ru-RU" sz="10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  <p:sp>
          <p:nvSpPr>
            <p:cNvPr id="51" name="shape 51"/>
            <p:cNvSpPr/>
            <p:nvPr/>
          </p:nvSpPr>
          <p:spPr>
            <a:xfrm>
              <a:off x="8077200" y="5638800"/>
              <a:ext cx="381000" cy="381000"/>
            </a:xfrm>
            <a:prstGeom prst="roundRect">
              <a:avLst>
                <a:gd name="adj" fmla="val 26667"/>
              </a:avLst>
            </a:prstGeom>
            <a:solidFill>
              <a:schemeClr val="accent4">
                <a:alpha val="25000"/>
              </a:schemeClr>
            </a:solidFill>
            <a:ln>
              <a:noFill/>
            </a:ln>
          </p:spPr>
          <p:txBody>
            <a:bodyPr wrap="square" lIns="91440" tIns="45720" rIns="91440" bIns="45720" anchor="ctr" rtlCol="0">
              <a:noAutofit/>
            </a:bodyPr>
            <a:lstStyle/>
            <a:p>
              <a:endParaRPr lang="ru-RU" dirty="0"/>
            </a:p>
          </p:txBody>
        </p:sp>
        <p:sp>
          <p:nvSpPr>
            <p:cNvPr id="52" name="icon 52"/>
            <p:cNvSpPr/>
            <p:nvPr/>
          </p:nvSpPr>
          <p:spPr>
            <a:xfrm>
              <a:off x="8166100" y="5727700"/>
              <a:ext cx="203200" cy="20320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>
                  <a:moveTo>
                    <a:pt x="18000" y="21000"/>
                  </a:moveTo>
                  <a:lnTo>
                    <a:pt x="18000" y="10000"/>
                  </a:lnTo>
                  <a:cubicBezTo>
                    <a:pt x="18000" y="9448"/>
                    <a:pt x="17552" y="9000"/>
                    <a:pt x="17000" y="9000"/>
                  </a:cubicBezTo>
                  <a:lnTo>
                    <a:pt x="7000" y="9000"/>
                  </a:lnTo>
                  <a:cubicBezTo>
                    <a:pt x="6448" y="9000"/>
                    <a:pt x="6000" y="9448"/>
                    <a:pt x="6000" y="10000"/>
                  </a:cubicBezTo>
                  <a:lnTo>
                    <a:pt x="6000" y="21000"/>
                  </a:lnTo>
                </a:path>
                <a:path w="24000" h="24000" fill="none">
                  <a:moveTo>
                    <a:pt x="22000" y="19000"/>
                  </a:moveTo>
                  <a:cubicBezTo>
                    <a:pt x="22000" y="20105"/>
                    <a:pt x="21105" y="21000"/>
                    <a:pt x="20000" y="21000"/>
                  </a:cubicBezTo>
                  <a:lnTo>
                    <a:pt x="4000" y="21000"/>
                  </a:lnTo>
                  <a:cubicBezTo>
                    <a:pt x="2895" y="21000"/>
                    <a:pt x="2000" y="20105"/>
                    <a:pt x="2000" y="19000"/>
                  </a:cubicBezTo>
                  <a:lnTo>
                    <a:pt x="2000" y="8000"/>
                  </a:lnTo>
                  <a:cubicBezTo>
                    <a:pt x="2000" y="7231"/>
                    <a:pt x="2440" y="6531"/>
                    <a:pt x="3132" y="6197"/>
                  </a:cubicBezTo>
                  <a:lnTo>
                    <a:pt x="11082" y="2223"/>
                  </a:lnTo>
                  <a:cubicBezTo>
                    <a:pt x="11658" y="1925"/>
                    <a:pt x="12343" y="1925"/>
                    <a:pt x="12919" y="2223"/>
                  </a:cubicBezTo>
                  <a:lnTo>
                    <a:pt x="20867" y="6197"/>
                  </a:lnTo>
                  <a:cubicBezTo>
                    <a:pt x="21560" y="6530"/>
                    <a:pt x="22000" y="7231"/>
                    <a:pt x="22000" y="8000"/>
                  </a:cubicBezTo>
                  <a:close/>
                </a:path>
                <a:path w="24000" h="24000" fill="none">
                  <a:moveTo>
                    <a:pt x="6000" y="13000"/>
                  </a:moveTo>
                  <a:lnTo>
                    <a:pt x="18000" y="13000"/>
                  </a:lnTo>
                </a:path>
                <a:path w="24000" h="24000" fill="none">
                  <a:moveTo>
                    <a:pt x="6000" y="17000"/>
                  </a:moveTo>
                  <a:lnTo>
                    <a:pt x="18000" y="17000"/>
                  </a:lnTo>
                </a:path>
              </a:pathLst>
            </a:custGeom>
            <a:noFill/>
            <a:ln w="16933" cap="rnd">
              <a:solidFill>
                <a:srgbClr val="8BEBC9"/>
              </a:solidFill>
              <a:round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3" name="text 53"/>
            <p:cNvSpPr txBox="1"/>
            <p:nvPr/>
          </p:nvSpPr>
          <p:spPr>
            <a:xfrm>
              <a:off x="8585200" y="5613400"/>
              <a:ext cx="30480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>
                <a:lnSpc>
                  <a:spcPct val="125000"/>
                </a:lnSpc>
                <a:buNone/>
              </a:pPr>
              <a:r>
                <a:rPr lang="ru-RU" sz="1000" b="1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Склад в Новосибирске.</a:t>
              </a:r>
              <a:r>
                <a:rPr lang="ru-RU" sz="1000" dirty="0">
                  <a:solidFill>
                    <a:srgbClr val="FFFFFF">
                      <a:alpha val="85000"/>
                    </a:srgbClr>
                  </a:solidFill>
                  <a:latin typeface="+mn-lt"/>
                  <a:cs typeface="+mn-lt"/>
                </a:rPr>
                <a:t> Доставка за 1 день для Сибири.</a:t>
              </a:r>
              <a:endParaRPr lang="ru-RU" sz="1000" dirty="0">
                <a:solidFill>
                  <a:srgbClr val="FFFFFF">
                    <a:alpha val="85000"/>
                  </a:srgbClr>
                </a:solidFill>
                <a:latin typeface="+mn-lt"/>
                <a:cs typeface="+mn-lt"/>
              </a:endParaRPr>
            </a:p>
          </p:txBody>
        </p:sp>
      </p:grpSp>
      <p:sp>
        <p:nvSpPr>
          <p:cNvPr id="54" name="text 54"/>
          <p:cNvSpPr txBox="1"/>
          <p:nvPr/>
        </p:nvSpPr>
        <p:spPr>
          <a:xfrm>
            <a:off x="304800" y="66294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buNone/>
            </a:pPr>
            <a:r>
              <a:rPr lang="ru-RU" sz="750" dirty="0">
                <a:solidFill>
                  <a:srgbClr val="5E6985"/>
                </a:solidFill>
                <a:latin typeface="+mn-lt"/>
                <a:cs typeface="+mn-lt"/>
              </a:rPr>
              <a:t>Цифры иллюстративные: демо-отчёт вымышленной компании «Корзина+».</a:t>
            </a:r>
            <a:endParaRPr lang="ru-RU" sz="750" dirty="0">
              <a:solidFill>
                <a:srgbClr val="5E6985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6" grpId="0" animBg="1"/>
      <p:bldP spid="39" grpId="0" animBg="1"/>
      <p:bldP spid="40" grpId="0" animBg="1"/>
    </p:bldLst>
  </p:timing>
</p:sld>
</file>

<file path=ppt/theme/theme1.xml><?xml version="1.0" encoding="utf-8"?>
<a:theme xmlns:a="http://schemas.openxmlformats.org/drawingml/2006/main" name="SlideML">
  <a:themeElements>
    <a:clrScheme name="SlideML">
      <a:dk1>
        <a:srgbClr val="141A2A"/>
      </a:dk1>
      <a:lt1>
        <a:srgbClr val="FFFFFF"/>
      </a:lt1>
      <a:dk2>
        <a:srgbClr val="1F2739"/>
      </a:dk2>
      <a:lt2>
        <a:srgbClr val="F3F5F9"/>
      </a:lt2>
      <a:accent1>
        <a:srgbClr val="7C5CFF"/>
      </a:accent1>
      <a:accent2>
        <a:srgbClr val="FF4D8D"/>
      </a:accent2>
      <a:accent3>
        <a:srgbClr val="FF9F43"/>
      </a:accent3>
      <a:accent4>
        <a:srgbClr val="20C997"/>
      </a:accent4>
      <a:accent5>
        <a:srgbClr val="3B82F6"/>
      </a:accent5>
      <a:accent6>
        <a:srgbClr val="22B8CF"/>
      </a:accent6>
      <a:hlink>
        <a:srgbClr val="2F6BFF"/>
      </a:hlink>
      <a:folHlink>
        <a:srgbClr val="8B5CF6"/>
      </a:folHlink>
    </a:clrScheme>
    <a:fontScheme name="SlideML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4</Slides>
</Properties>
</file>

<file path=docProps/core.xml><?xml version="1.0" encoding="utf-8"?>
<cp:coreProperties xmlns:cp="http://schemas.openxmlformats.org/package/2006/metadata/core-properties" xmlns:dc="http://purl.org/dc/elements/1.1/">
  <dc:title>deck</dc:title>
  <dc:creator>SlideML</dc:creator>
</cp:coreProperties>
</file>